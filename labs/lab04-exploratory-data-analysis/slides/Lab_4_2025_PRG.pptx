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765" r:id="rId2"/>
    <p:sldId id="996" r:id="rId3"/>
    <p:sldId id="1015" r:id="rId4"/>
    <p:sldId id="983" r:id="rId5"/>
    <p:sldId id="1010" r:id="rId6"/>
    <p:sldId id="997" r:id="rId7"/>
    <p:sldId id="1011" r:id="rId8"/>
    <p:sldId id="1013" r:id="rId9"/>
    <p:sldId id="998" r:id="rId10"/>
    <p:sldId id="999" r:id="rId11"/>
    <p:sldId id="1000" r:id="rId12"/>
    <p:sldId id="1002" r:id="rId13"/>
    <p:sldId id="1001" r:id="rId14"/>
    <p:sldId id="1003" r:id="rId15"/>
    <p:sldId id="1004" r:id="rId16"/>
    <p:sldId id="1012" r:id="rId17"/>
    <p:sldId id="1005" r:id="rId18"/>
    <p:sldId id="1006" r:id="rId19"/>
    <p:sldId id="1007" r:id="rId20"/>
    <p:sldId id="1009" r:id="rId21"/>
    <p:sldId id="932" r:id="rId22"/>
    <p:sldId id="1008" r:id="rId2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BF5700"/>
    <a:srgbClr val="1D4371"/>
    <a:srgbClr val="003399"/>
    <a:srgbClr val="385D8A"/>
    <a:srgbClr val="0070C0"/>
    <a:srgbClr val="990000"/>
    <a:srgbClr val="99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89252" autoAdjust="0"/>
  </p:normalViewPr>
  <p:slideViewPr>
    <p:cSldViewPr>
      <p:cViewPr varScale="1">
        <p:scale>
          <a:sx n="114" d="100"/>
          <a:sy n="114" d="100"/>
        </p:scale>
        <p:origin x="1216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AF32567-CE0A-411B-A193-274813F6AC7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8AE2663-530C-4834-9F93-457B71087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31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C2C7CE7-C9CA-47EF-8702-BBFECB6E22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447469E-A8B3-4EDF-ACC8-6B5423908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2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B478-B80C-65EA-A289-F29AE848A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F79DA-F655-0FD7-9496-904575417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1A5C2-C9EB-4E08-A42A-341D7EDFE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96536-FDE0-1024-A141-CE1817F6F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59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SciPy is an open-source scientific computing library for Python that builds on the capabilities of NumPy. It provides a wide range of functions and tools for various scientific and engineering tasks, including optimization, signal processing, linear algebra, statistics, integration, interpolation, and more.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Exploratory Data Analysis (EDA) is a critical step in the data analysis process that involves visually and statistically summarizing, exploring, and understanding the main characteristics and patterns in a dataset. EDA helps analysts and data scientists gain insights into the data, identify potential relationships, anomalies, trends, and patterns, and guide further analysis and modeling decisions.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67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34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49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4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46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9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8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2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17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28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13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9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36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27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Univariate data refers to a type of data analysis or dataset that involves only one variable. In other words, it focuses on examining and understanding the distribution, characteristics, and patterns of a single variable in isolation. Univariate analysis is often the starting point in data analysis and helps to uncover insights about a particular aspect of the data.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interquartile range (IQR) is a statistical measure that quantifies the spread or dispersion of a dataset by focusing on the middle 50% of the data. It is calculated as the difference between the third quartile (Q3) and the first quartile (Q1) of a dataset. Quartiles divide a dataset into four equal parts, and the interquartile range gives a measure of how much the values in the middle half of the dataset vary.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36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3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81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8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8049-186E-674B-BA77-493A18FF659E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0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4CD0-128F-894E-882D-06E79EDB5C63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5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CCEB-1664-1E4D-A513-96BF7DBEF9C7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D91-127F-0444-B899-2897113CA960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8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8BAF-84CA-1841-AC28-318943FE208A}" type="datetime1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4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8760-8B20-B84C-B7D4-260709C01089}" type="datetime1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6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60C7-7BC9-D448-9C25-B83D312C9239}" type="datetime1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3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87B1-6E7E-ED43-8342-102B5EE473E2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E5B7D-3F35-174D-8298-70670AA48B46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2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91686-1679-3D4F-92E3-912FCFAA88C7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FDB92-9C03-7447-9560-7700E913DB93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6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6900E-82BC-F94C-B47E-5635F32B1D25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EVE310 Fall 2022 Lab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 dirty="0"/>
              <a:t>EVE310 Lab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noFill/>
        </p:spPr>
        <p:txBody>
          <a:bodyPr/>
          <a:lstStyle/>
          <a:p>
            <a:r>
              <a:rPr lang="en-US" dirty="0"/>
              <a:t>September 25,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2025 Lab 4</a:t>
            </a:r>
          </a:p>
        </p:txBody>
      </p:sp>
    </p:spTree>
    <p:extLst>
      <p:ext uri="{BB962C8B-B14F-4D97-AF65-F5344CB8AC3E}">
        <p14:creationId xmlns:p14="http://schemas.microsoft.com/office/powerpoint/2010/main" val="97373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Announcements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19CA98-A56E-3743-BB59-0DCCE6F3C2EA}"/>
              </a:ext>
            </a:extLst>
          </p:cNvPr>
          <p:cNvSpPr/>
          <p:nvPr/>
        </p:nvSpPr>
        <p:spPr>
          <a:xfrm>
            <a:off x="914400" y="1676400"/>
            <a:ext cx="10210800" cy="2214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Lab 4 Quiz due Wednesday September 26 at 11:59 pm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Debugging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22665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AA57-1054-F2B8-F5F8-44EC9591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E22293-8146-412A-9545-0C7C543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0C61C-75C9-2FB8-8C1B-1FD6569C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A55441-DAA1-E091-B302-E42194BD471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In-class Quiz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F4BDA-EF87-DE54-F4A5-A34A2675F3EE}"/>
              </a:ext>
            </a:extLst>
          </p:cNvPr>
          <p:cNvSpPr/>
          <p:nvPr/>
        </p:nvSpPr>
        <p:spPr>
          <a:xfrm>
            <a:off x="914400" y="1676400"/>
            <a:ext cx="10210800" cy="2214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Self-Assessment for the in-person quiz is live.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useful functions will be provided in the notebook.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assist and autocomplete will have to be turned off.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4144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8345394" cy="4513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Scipy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package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Convert to datetime format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Creating graphics of data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Plot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Boxplot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Histogram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Save Plots to PDF or Image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Initial Exploratory Data Analysis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2110898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0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Remember back to Lecture 3</a:t>
            </a:r>
          </a:p>
        </p:txBody>
      </p:sp>
      <p:pic>
        <p:nvPicPr>
          <p:cNvPr id="12" name="Picture 11" descr="Chart, box and whisker chart&#10;&#10;Description automatically generated">
            <a:extLst>
              <a:ext uri="{FF2B5EF4-FFF2-40B4-BE49-F238E27FC236}">
                <a16:creationId xmlns:a16="http://schemas.microsoft.com/office/drawing/2014/main" id="{C82F8BFC-04AC-5442-AF41-9D3E1B836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850" y="3663953"/>
            <a:ext cx="4686300" cy="2679700"/>
          </a:xfrm>
          <a:prstGeom prst="rect">
            <a:avLst/>
          </a:prstGeom>
        </p:spPr>
      </p:pic>
      <p:pic>
        <p:nvPicPr>
          <p:cNvPr id="15" name="Picture 14" descr="Chart, histogram&#10;&#10;Description automatically generated">
            <a:extLst>
              <a:ext uri="{FF2B5EF4-FFF2-40B4-BE49-F238E27FC236}">
                <a16:creationId xmlns:a16="http://schemas.microsoft.com/office/drawing/2014/main" id="{64D1E424-F0D8-5B48-B545-9AFAFEC9C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856385"/>
            <a:ext cx="4673600" cy="2692400"/>
          </a:xfrm>
          <a:prstGeom prst="rect">
            <a:avLst/>
          </a:prstGeom>
        </p:spPr>
      </p:pic>
      <p:pic>
        <p:nvPicPr>
          <p:cNvPr id="17" name="Picture 16" descr="Chart&#10;&#10;Description automatically generated">
            <a:extLst>
              <a:ext uri="{FF2B5EF4-FFF2-40B4-BE49-F238E27FC236}">
                <a16:creationId xmlns:a16="http://schemas.microsoft.com/office/drawing/2014/main" id="{D538AB34-7B83-E044-8DBE-7C23793C6A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1" y="856385"/>
            <a:ext cx="46990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465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50C7F06E-165D-2C41-A14A-036D6DAE9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494866"/>
            <a:ext cx="10582372" cy="1802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Start by importing the packages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A027AE-B284-4886-A2D5-E967C3291DBE}"/>
              </a:ext>
            </a:extLst>
          </p:cNvPr>
          <p:cNvCxnSpPr>
            <a:cxnSpLocks/>
          </p:cNvCxnSpPr>
          <p:nvPr/>
        </p:nvCxnSpPr>
        <p:spPr>
          <a:xfrm flipH="1">
            <a:off x="4561258" y="3913592"/>
            <a:ext cx="1229942" cy="3348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21FDAA-5953-4B8A-B02F-781C68E660FF}"/>
              </a:ext>
            </a:extLst>
          </p:cNvPr>
          <p:cNvSpPr txBox="1"/>
          <p:nvPr/>
        </p:nvSpPr>
        <p:spPr>
          <a:xfrm>
            <a:off x="5922116" y="3590427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this line any time you are making a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865E1-B4C9-4477-AA1B-32BA94A65848}"/>
              </a:ext>
            </a:extLst>
          </p:cNvPr>
          <p:cNvSpPr txBox="1"/>
          <p:nvPr/>
        </p:nvSpPr>
        <p:spPr>
          <a:xfrm>
            <a:off x="990600" y="1106268"/>
            <a:ext cx="562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 New Packages: Matplotlib and SciPy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C4E06A-6BCE-4162-9C6F-2DF71FAA079F}"/>
              </a:ext>
            </a:extLst>
          </p:cNvPr>
          <p:cNvSpPr txBox="1"/>
          <p:nvPr/>
        </p:nvSpPr>
        <p:spPr>
          <a:xfrm>
            <a:off x="990600" y="1661384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Matplotlib is used to create graphics from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FE162-DD4F-498B-B4BE-6073EB5E43DE}"/>
              </a:ext>
            </a:extLst>
          </p:cNvPr>
          <p:cNvSpPr txBox="1"/>
          <p:nvPr/>
        </p:nvSpPr>
        <p:spPr>
          <a:xfrm>
            <a:off x="990600" y="2216501"/>
            <a:ext cx="708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Scipy is used for scientific calculations and statistics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79F1E94-2F1B-453C-8D0A-C7658F52B4A0}"/>
              </a:ext>
            </a:extLst>
          </p:cNvPr>
          <p:cNvCxnSpPr>
            <a:cxnSpLocks/>
          </p:cNvCxnSpPr>
          <p:nvPr/>
        </p:nvCxnSpPr>
        <p:spPr>
          <a:xfrm flipH="1" flipV="1">
            <a:off x="3124200" y="5183699"/>
            <a:ext cx="1437058" cy="4487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E5EF73E-0921-4677-A99A-3B7070401AC0}"/>
              </a:ext>
            </a:extLst>
          </p:cNvPr>
          <p:cNvSpPr txBox="1"/>
          <p:nvPr/>
        </p:nvSpPr>
        <p:spPr>
          <a:xfrm>
            <a:off x="4610337" y="5468182"/>
            <a:ext cx="683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this line only when using </a:t>
            </a:r>
            <a:r>
              <a:rPr lang="en-US" dirty="0" err="1"/>
              <a:t>Jupyter</a:t>
            </a:r>
            <a:r>
              <a:rPr lang="en-US" dirty="0"/>
              <a:t> Notebook, which tells the computer to show figures directly underneath code blocks</a:t>
            </a:r>
          </a:p>
        </p:txBody>
      </p:sp>
    </p:spTree>
    <p:extLst>
      <p:ext uri="{BB962C8B-B14F-4D97-AF65-F5344CB8AC3E}">
        <p14:creationId xmlns:p14="http://schemas.microsoft.com/office/powerpoint/2010/main" val="181102011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Quick Review of our Packages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D34F6784-7EF8-D748-B7C5-D3BFEBEF5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990713"/>
              </p:ext>
            </p:extLst>
          </p:nvPr>
        </p:nvGraphicFramePr>
        <p:xfrm>
          <a:off x="647701" y="1688725"/>
          <a:ext cx="6629400" cy="3886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2759370818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34957514"/>
                    </a:ext>
                  </a:extLst>
                </a:gridCol>
              </a:tblGrid>
              <a:tr h="706185">
                <a:tc>
                  <a:txBody>
                    <a:bodyPr/>
                    <a:lstStyle/>
                    <a:p>
                      <a:r>
                        <a:rPr lang="en-US" dirty="0"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012398"/>
                  </a:ext>
                </a:extLst>
              </a:tr>
              <a:tr h="706185">
                <a:tc>
                  <a:txBody>
                    <a:bodyPr/>
                    <a:lstStyle/>
                    <a:p>
                      <a:r>
                        <a:rPr lang="en-US" dirty="0"/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Algebraic Calculations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116241"/>
                  </a:ext>
                </a:extLst>
              </a:tr>
              <a:tr h="949830">
                <a:tc>
                  <a:txBody>
                    <a:bodyPr/>
                    <a:lstStyle/>
                    <a:p>
                      <a:r>
                        <a:rPr lang="en-US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Databases, real-world imported data (ex: sensor measurements)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71455"/>
                  </a:ext>
                </a:extLst>
              </a:tr>
              <a:tr h="706185">
                <a:tc>
                  <a:txBody>
                    <a:bodyPr/>
                    <a:lstStyle/>
                    <a:p>
                      <a:r>
                        <a:rPr lang="en-US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Creating plots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879701"/>
                  </a:ext>
                </a:extLst>
              </a:tr>
              <a:tr h="817815">
                <a:tc>
                  <a:txBody>
                    <a:bodyPr/>
                    <a:lstStyle/>
                    <a:p>
                      <a:r>
                        <a:rPr lang="en-US" dirty="0"/>
                        <a:t>SciPy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statistical calculations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18985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DE1F482-5818-874B-9039-646CEBDA6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047179"/>
            <a:ext cx="3657600" cy="2584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D765CC-B3FB-244B-ADA2-A09059FB26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3678452"/>
            <a:ext cx="3657600" cy="25846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646872-F60C-1145-BB2E-E15F7FE33998}"/>
              </a:ext>
            </a:extLst>
          </p:cNvPr>
          <p:cNvSpPr txBox="1"/>
          <p:nvPr/>
        </p:nvSpPr>
        <p:spPr>
          <a:xfrm>
            <a:off x="8534400" y="6309725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cheat sheets in Canvas!</a:t>
            </a:r>
          </a:p>
        </p:txBody>
      </p:sp>
    </p:spTree>
    <p:extLst>
      <p:ext uri="{BB962C8B-B14F-4D97-AF65-F5344CB8AC3E}">
        <p14:creationId xmlns:p14="http://schemas.microsoft.com/office/powerpoint/2010/main" val="31684898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Easy way to refer to an entire column of a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F720A9-CC97-8891-5996-1D3D7E822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96206"/>
            <a:ext cx="7467600" cy="17429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6AC0EF-8612-B39C-5A16-1816BFA4B57E}"/>
              </a:ext>
            </a:extLst>
          </p:cNvPr>
          <p:cNvSpPr txBox="1"/>
          <p:nvPr/>
        </p:nvSpPr>
        <p:spPr>
          <a:xfrm>
            <a:off x="609600" y="1219200"/>
            <a:ext cx="10591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loc and </a:t>
            </a:r>
            <a:r>
              <a:rPr lang="en-US" sz="2400" dirty="0" err="1"/>
              <a:t>iloc</a:t>
            </a:r>
            <a:r>
              <a:rPr lang="en-US" sz="2400" dirty="0"/>
              <a:t> allow you to index a </a:t>
            </a:r>
            <a:r>
              <a:rPr lang="en-US" sz="2400" dirty="0" err="1"/>
              <a:t>dataframe</a:t>
            </a:r>
            <a:r>
              <a:rPr lang="en-US" sz="2400" dirty="0"/>
              <a:t> similar to how you would index an 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can specify a specific row you are interested in, or use a : to extract all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Another, simpler way to extract all rows of a column is to put the column name in square brackets after the name of the </a:t>
            </a:r>
            <a:r>
              <a:rPr lang="en-US" sz="2400" dirty="0" err="1"/>
              <a:t>dataframe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46B77F-C8AC-066B-20B7-F1C3168998E2}"/>
              </a:ext>
            </a:extLst>
          </p:cNvPr>
          <p:cNvSpPr txBox="1"/>
          <p:nvPr/>
        </p:nvSpPr>
        <p:spPr>
          <a:xfrm>
            <a:off x="685800" y="351680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lines are all equivalent: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C43069-A3DC-71FE-27ED-F5ABCB069DB4}"/>
              </a:ext>
            </a:extLst>
          </p:cNvPr>
          <p:cNvCxnSpPr>
            <a:cxnSpLocks/>
          </p:cNvCxnSpPr>
          <p:nvPr/>
        </p:nvCxnSpPr>
        <p:spPr>
          <a:xfrm flipH="1" flipV="1">
            <a:off x="3657600" y="5486400"/>
            <a:ext cx="457200" cy="228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63ADEB9-FC83-60C6-B634-69C1A2CC301A}"/>
              </a:ext>
            </a:extLst>
          </p:cNvPr>
          <p:cNvSpPr txBox="1"/>
          <p:nvPr/>
        </p:nvSpPr>
        <p:spPr>
          <a:xfrm>
            <a:off x="4112511" y="5546867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slides will use this notation to refer to an entire column of a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27101819-540E-4505-BFBC-0A20B9F6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4</a:t>
            </a:r>
          </a:p>
        </p:txBody>
      </p:sp>
    </p:spTree>
    <p:extLst>
      <p:ext uri="{BB962C8B-B14F-4D97-AF65-F5344CB8AC3E}">
        <p14:creationId xmlns:p14="http://schemas.microsoft.com/office/powerpoint/2010/main" val="90739238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A568A5-4EC1-B219-1ADB-3430DBE87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86770"/>
            <a:ext cx="6436984" cy="25328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Begin by importing the data and checking the head and info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A096FC-D810-4D37-B94F-F4C16F87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447800"/>
            <a:ext cx="4225476" cy="4038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E287259-C522-4A6E-AB20-4A0EDC322B30}"/>
              </a:ext>
            </a:extLst>
          </p:cNvPr>
          <p:cNvSpPr/>
          <p:nvPr/>
        </p:nvSpPr>
        <p:spPr>
          <a:xfrm>
            <a:off x="485192" y="2971800"/>
            <a:ext cx="810208" cy="1447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4D721-E607-4CBB-A3F5-AE01D02157D9}"/>
              </a:ext>
            </a:extLst>
          </p:cNvPr>
          <p:cNvSpPr txBox="1"/>
          <p:nvPr/>
        </p:nvSpPr>
        <p:spPr>
          <a:xfrm>
            <a:off x="685800" y="5105400"/>
            <a:ext cx="556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see that the </a:t>
            </a:r>
            <a:r>
              <a:rPr lang="en-US" dirty="0" err="1"/>
              <a:t>allDate</a:t>
            </a:r>
            <a:r>
              <a:rPr lang="en-US" dirty="0"/>
              <a:t> column clearly indicates a date, but the computer sees it as just text, as indicated by the type of “object” shown in the info.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C6455A-77C3-8A8B-DA5E-C262C59CD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292" y="2111962"/>
            <a:ext cx="4267200" cy="34551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C7C0027-CB62-4812-8EE2-27F4B24737CA}"/>
              </a:ext>
            </a:extLst>
          </p:cNvPr>
          <p:cNvSpPr/>
          <p:nvPr/>
        </p:nvSpPr>
        <p:spPr>
          <a:xfrm>
            <a:off x="7391400" y="3200400"/>
            <a:ext cx="358140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F074D17-0D23-411D-B467-BB96030C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4</a:t>
            </a:r>
          </a:p>
        </p:txBody>
      </p:sp>
    </p:spTree>
    <p:extLst>
      <p:ext uri="{BB962C8B-B14F-4D97-AF65-F5344CB8AC3E}">
        <p14:creationId xmlns:p14="http://schemas.microsoft.com/office/powerpoint/2010/main" val="345004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Convert </a:t>
            </a:r>
            <a:r>
              <a:rPr lang="en-US" dirty="0" err="1"/>
              <a:t>allDate</a:t>
            </a:r>
            <a:r>
              <a:rPr lang="en-US" dirty="0"/>
              <a:t> column to Datetime Format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2DDCB-1FEE-43C1-BFC0-4399FD443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71600"/>
            <a:ext cx="5856624" cy="464670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AC8DCA-1CCA-4E97-8772-C69D67AECC63}"/>
              </a:ext>
            </a:extLst>
          </p:cNvPr>
          <p:cNvCxnSpPr>
            <a:cxnSpLocks/>
          </p:cNvCxnSpPr>
          <p:nvPr/>
        </p:nvCxnSpPr>
        <p:spPr>
          <a:xfrm flipH="1">
            <a:off x="6324600" y="3810001"/>
            <a:ext cx="22098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805BE6B-7F44-4854-941E-21C7F1523EC8}"/>
              </a:ext>
            </a:extLst>
          </p:cNvPr>
          <p:cNvSpPr/>
          <p:nvPr/>
        </p:nvSpPr>
        <p:spPr>
          <a:xfrm>
            <a:off x="3906526" y="1675651"/>
            <a:ext cx="3505200" cy="283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01277-5ED0-8C42-B240-924C1730BBB0}"/>
              </a:ext>
            </a:extLst>
          </p:cNvPr>
          <p:cNvSpPr txBox="1"/>
          <p:nvPr/>
        </p:nvSpPr>
        <p:spPr>
          <a:xfrm>
            <a:off x="8737600" y="3625335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Success!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D532DEC1-219C-4D6B-9333-B76F67E3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2024 Lab 4</a:t>
            </a:r>
          </a:p>
        </p:txBody>
      </p:sp>
    </p:spTree>
    <p:extLst>
      <p:ext uri="{BB962C8B-B14F-4D97-AF65-F5344CB8AC3E}">
        <p14:creationId xmlns:p14="http://schemas.microsoft.com/office/powerpoint/2010/main" val="2791459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Let’s Get Plotting!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293DB3-76BE-4DD0-A621-7BDEBC87745A}"/>
              </a:ext>
            </a:extLst>
          </p:cNvPr>
          <p:cNvGrpSpPr/>
          <p:nvPr/>
        </p:nvGrpSpPr>
        <p:grpSpPr>
          <a:xfrm>
            <a:off x="3276600" y="735903"/>
            <a:ext cx="5194825" cy="5410200"/>
            <a:chOff x="3352800" y="981920"/>
            <a:chExt cx="5194825" cy="54102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6A8C96-F447-46E5-BB14-77EDD5E6F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2800" y="981920"/>
              <a:ext cx="5194825" cy="54102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A696170-2E3B-44A0-9773-07DDABFB9EB5}"/>
                </a:ext>
              </a:extLst>
            </p:cNvPr>
            <p:cNvSpPr/>
            <p:nvPr/>
          </p:nvSpPr>
          <p:spPr>
            <a:xfrm>
              <a:off x="3505200" y="5181600"/>
              <a:ext cx="457200" cy="228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E00974-6F65-48E2-A12B-BC69AD29DB14}"/>
                </a:ext>
              </a:extLst>
            </p:cNvPr>
            <p:cNvSpPr/>
            <p:nvPr/>
          </p:nvSpPr>
          <p:spPr>
            <a:xfrm>
              <a:off x="5638800" y="6169740"/>
              <a:ext cx="762000" cy="2223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96A493-82D8-4E69-9532-F7C64FB3C289}"/>
                </a:ext>
              </a:extLst>
            </p:cNvPr>
            <p:cNvSpPr/>
            <p:nvPr/>
          </p:nvSpPr>
          <p:spPr>
            <a:xfrm>
              <a:off x="3403600" y="3971730"/>
              <a:ext cx="762000" cy="2223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9DA52A-ECD3-4D77-8E01-2CB5866A1BA9}"/>
                </a:ext>
              </a:extLst>
            </p:cNvPr>
            <p:cNvSpPr/>
            <p:nvPr/>
          </p:nvSpPr>
          <p:spPr>
            <a:xfrm>
              <a:off x="5638800" y="1371600"/>
              <a:ext cx="304800" cy="22238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A3B765F-58B9-4674-AB9A-8789B9C8A980}"/>
                </a:ext>
              </a:extLst>
            </p:cNvPr>
            <p:cNvSpPr/>
            <p:nvPr/>
          </p:nvSpPr>
          <p:spPr>
            <a:xfrm>
              <a:off x="5645412" y="2868710"/>
              <a:ext cx="679188" cy="3316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0EF27D5-0488-4DA5-B0B6-1E1536E4AE15}"/>
                </a:ext>
              </a:extLst>
            </p:cNvPr>
            <p:cNvSpPr/>
            <p:nvPr/>
          </p:nvSpPr>
          <p:spPr>
            <a:xfrm>
              <a:off x="7162800" y="3974839"/>
              <a:ext cx="838200" cy="3651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E17434A-09E8-4FB1-BA01-C7DACCBC99DD}"/>
              </a:ext>
            </a:extLst>
          </p:cNvPr>
          <p:cNvSpPr/>
          <p:nvPr/>
        </p:nvSpPr>
        <p:spPr>
          <a:xfrm>
            <a:off x="422406" y="6080775"/>
            <a:ext cx="685800" cy="2755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A243C3-CEC4-40FF-9C77-A8FDE3FBD2B1}"/>
              </a:ext>
            </a:extLst>
          </p:cNvPr>
          <p:cNvSpPr txBox="1"/>
          <p:nvPr/>
        </p:nvSpPr>
        <p:spPr>
          <a:xfrm>
            <a:off x="1206500" y="6009018"/>
            <a:ext cx="288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Items we will cover today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E03171-0B86-431B-BA43-FF1EE7C9C3AC}"/>
              </a:ext>
            </a:extLst>
          </p:cNvPr>
          <p:cNvSpPr txBox="1"/>
          <p:nvPr/>
        </p:nvSpPr>
        <p:spPr>
          <a:xfrm>
            <a:off x="7566892" y="5956954"/>
            <a:ext cx="4625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Graphic from: </a:t>
            </a:r>
          </a:p>
          <a:p>
            <a:r>
              <a:rPr lang="en-US" sz="1400" dirty="0"/>
              <a:t>https://matplotlib.org/3.3.1/gallery/showcase/anatomy.html</a:t>
            </a:r>
          </a:p>
        </p:txBody>
      </p:sp>
    </p:spTree>
    <p:extLst>
      <p:ext uri="{BB962C8B-B14F-4D97-AF65-F5344CB8AC3E}">
        <p14:creationId xmlns:p14="http://schemas.microsoft.com/office/powerpoint/2010/main" val="327735303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2960FBF6-5539-8841-A362-B0A6766F6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725" y="1141750"/>
            <a:ext cx="7527144" cy="245245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2035" y="1260142"/>
            <a:ext cx="4876800" cy="1937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AutoNum type="arabicPeriod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the figure handle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AutoNum type="arabicPeriod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Display the data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AutoNum type="arabicPeriod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Adjust display options 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AutoNum type="arabicPeriod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labels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Elements of a figure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122B0-6536-4576-B835-E993A24A530B}"/>
              </a:ext>
            </a:extLst>
          </p:cNvPr>
          <p:cNvSpPr/>
          <p:nvPr/>
        </p:nvSpPr>
        <p:spPr>
          <a:xfrm>
            <a:off x="4653704" y="1120656"/>
            <a:ext cx="1972656" cy="4972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4F3E64-6CB2-4D6A-9797-8B5A326C282A}"/>
              </a:ext>
            </a:extLst>
          </p:cNvPr>
          <p:cNvSpPr/>
          <p:nvPr/>
        </p:nvSpPr>
        <p:spPr>
          <a:xfrm>
            <a:off x="4651724" y="1688577"/>
            <a:ext cx="7159275" cy="398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AC318-A18F-495C-A3C6-B950B5C8524D}"/>
              </a:ext>
            </a:extLst>
          </p:cNvPr>
          <p:cNvSpPr/>
          <p:nvPr/>
        </p:nvSpPr>
        <p:spPr>
          <a:xfrm>
            <a:off x="4667086" y="2175939"/>
            <a:ext cx="7159275" cy="6251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A0C59B-2134-46DF-B8C8-F4FCA5ED1171}"/>
              </a:ext>
            </a:extLst>
          </p:cNvPr>
          <p:cNvSpPr/>
          <p:nvPr/>
        </p:nvSpPr>
        <p:spPr>
          <a:xfrm>
            <a:off x="4651724" y="2876460"/>
            <a:ext cx="7527143" cy="729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80ECD8-961A-4649-BF09-A17C191757E4}"/>
              </a:ext>
            </a:extLst>
          </p:cNvPr>
          <p:cNvCxnSpPr>
            <a:cxnSpLocks/>
          </p:cNvCxnSpPr>
          <p:nvPr/>
        </p:nvCxnSpPr>
        <p:spPr>
          <a:xfrm>
            <a:off x="2095736" y="3014193"/>
            <a:ext cx="2508036" cy="1834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209F1E-5327-4989-B3AC-F7D7F45977EA}"/>
              </a:ext>
            </a:extLst>
          </p:cNvPr>
          <p:cNvCxnSpPr>
            <a:cxnSpLocks/>
          </p:cNvCxnSpPr>
          <p:nvPr/>
        </p:nvCxnSpPr>
        <p:spPr>
          <a:xfrm flipV="1">
            <a:off x="3139561" y="2493570"/>
            <a:ext cx="1464455" cy="87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1C903EC-290D-4D50-A522-D066410C7A6F}"/>
              </a:ext>
            </a:extLst>
          </p:cNvPr>
          <p:cNvCxnSpPr>
            <a:cxnSpLocks/>
          </p:cNvCxnSpPr>
          <p:nvPr/>
        </p:nvCxnSpPr>
        <p:spPr>
          <a:xfrm flipV="1">
            <a:off x="2660435" y="1892790"/>
            <a:ext cx="1945932" cy="888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D9B177-6E85-4B2E-BB86-935FDE684194}"/>
              </a:ext>
            </a:extLst>
          </p:cNvPr>
          <p:cNvCxnSpPr>
            <a:cxnSpLocks/>
          </p:cNvCxnSpPr>
          <p:nvPr/>
        </p:nvCxnSpPr>
        <p:spPr>
          <a:xfrm flipV="1">
            <a:off x="3514194" y="1350321"/>
            <a:ext cx="1092173" cy="1225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D46D3E74-05DB-40BC-9D87-BBD7EFC39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447" y="3841326"/>
            <a:ext cx="3475105" cy="241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1839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8610600" cy="48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Inputs should be a column vector (one column) of the same size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Variations within the plot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4C9056-4222-4A50-BB38-BBE0DB72A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057400"/>
            <a:ext cx="6019800" cy="350162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C073C9FC-80BA-400E-93C4-359BFB9AD680}"/>
              </a:ext>
            </a:extLst>
          </p:cNvPr>
          <p:cNvSpPr/>
          <p:nvPr/>
        </p:nvSpPr>
        <p:spPr>
          <a:xfrm rot="5400000">
            <a:off x="5959018" y="1280550"/>
            <a:ext cx="350163" cy="25146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EF01AF-2AF1-4FF3-985C-141AC16A498B}"/>
              </a:ext>
            </a:extLst>
          </p:cNvPr>
          <p:cNvSpPr txBox="1"/>
          <p:nvPr/>
        </p:nvSpPr>
        <p:spPr>
          <a:xfrm>
            <a:off x="5029200" y="271293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Plotted on the x axis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E647943-C62B-4DB5-B372-7206ED091E45}"/>
              </a:ext>
            </a:extLst>
          </p:cNvPr>
          <p:cNvSpPr/>
          <p:nvPr/>
        </p:nvSpPr>
        <p:spPr>
          <a:xfrm rot="5400000">
            <a:off x="8245019" y="1695667"/>
            <a:ext cx="350163" cy="175259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4B796-245E-4204-AB3F-24EF7F06CA30}"/>
              </a:ext>
            </a:extLst>
          </p:cNvPr>
          <p:cNvSpPr txBox="1"/>
          <p:nvPr/>
        </p:nvSpPr>
        <p:spPr>
          <a:xfrm>
            <a:off x="7353300" y="274704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Plotted on the y axis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F9E523-B944-4902-AFD5-91EC8949749E}"/>
              </a:ext>
            </a:extLst>
          </p:cNvPr>
          <p:cNvSpPr/>
          <p:nvPr/>
        </p:nvSpPr>
        <p:spPr>
          <a:xfrm>
            <a:off x="990600" y="3162822"/>
            <a:ext cx="8345394" cy="91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additional specifications to show dots for each data point instead of connected by a line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239C94-2D51-4414-9FBD-275D93F04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296724"/>
            <a:ext cx="8162925" cy="293367"/>
          </a:xfrm>
          <a:prstGeom prst="rect">
            <a:avLst/>
          </a:prstGeom>
        </p:spPr>
      </p:pic>
      <p:sp>
        <p:nvSpPr>
          <p:cNvPr id="23" name="Right Brace 22">
            <a:extLst>
              <a:ext uri="{FF2B5EF4-FFF2-40B4-BE49-F238E27FC236}">
                <a16:creationId xmlns:a16="http://schemas.microsoft.com/office/drawing/2014/main" id="{346B11A1-B8A7-4D92-BF49-BDCD070B6621}"/>
              </a:ext>
            </a:extLst>
          </p:cNvPr>
          <p:cNvSpPr/>
          <p:nvPr/>
        </p:nvSpPr>
        <p:spPr>
          <a:xfrm rot="5400000">
            <a:off x="8242627" y="4064646"/>
            <a:ext cx="202546" cy="12954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88843F-ADAE-45E8-AABF-14965C1B2254}"/>
              </a:ext>
            </a:extLst>
          </p:cNvPr>
          <p:cNvSpPr txBox="1"/>
          <p:nvPr/>
        </p:nvSpPr>
        <p:spPr>
          <a:xfrm>
            <a:off x="7620000" y="4847107"/>
            <a:ext cx="1295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Specify markers as dots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7877CE86-2DBA-4706-8648-07B95959C183}"/>
              </a:ext>
            </a:extLst>
          </p:cNvPr>
          <p:cNvSpPr/>
          <p:nvPr/>
        </p:nvSpPr>
        <p:spPr>
          <a:xfrm rot="5400000">
            <a:off x="9429184" y="4307241"/>
            <a:ext cx="131975" cy="70234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830867-C6B5-496E-888F-F65D5400D659}"/>
              </a:ext>
            </a:extLst>
          </p:cNvPr>
          <p:cNvSpPr txBox="1"/>
          <p:nvPr/>
        </p:nvSpPr>
        <p:spPr>
          <a:xfrm>
            <a:off x="9067800" y="4828459"/>
            <a:ext cx="1295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 draw a line between points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F6D067E-05A6-4820-A83B-97C6FE1C6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209" y="1740459"/>
            <a:ext cx="2194779" cy="152764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68FB68-CC86-4658-8A55-E11DF7CD1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677416"/>
            <a:ext cx="2971801" cy="204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28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4800" y="1295400"/>
            <a:ext cx="10515600" cy="1064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Matplotlib requires input to be a NumPy array without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values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plt.boxplot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Boxplot</a:t>
            </a:r>
          </a:p>
        </p:txBody>
      </p:sp>
      <p:pic>
        <p:nvPicPr>
          <p:cNvPr id="7" name="Picture 6" descr="Chart, box and whisker chart&#10;&#10;Description automatically generated">
            <a:extLst>
              <a:ext uri="{FF2B5EF4-FFF2-40B4-BE49-F238E27FC236}">
                <a16:creationId xmlns:a16="http://schemas.microsoft.com/office/drawing/2014/main" id="{27EFB95E-8E97-E040-ADCC-CBC5E2CA4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72" y="2374510"/>
            <a:ext cx="5315998" cy="3671138"/>
          </a:xfrm>
          <a:prstGeom prst="rect">
            <a:avLst/>
          </a:prstGeom>
        </p:spPr>
      </p:pic>
      <p:pic>
        <p:nvPicPr>
          <p:cNvPr id="10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97430B4-F1D1-2146-8C42-58E85F5BF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90800"/>
            <a:ext cx="634833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1907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4800" y="807357"/>
            <a:ext cx="11734800" cy="206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Requires input to be 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numpy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array without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values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plt.hist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Default is for the number of bins to be automatically selected. We can specify the number of bins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Histogram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9F14A2-F745-4978-8B0B-65AA063B5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01" y="2900512"/>
            <a:ext cx="5319599" cy="25320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92D440-496B-466D-868B-6323A99F8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346" y="2382026"/>
            <a:ext cx="3326330" cy="2266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403865-C693-4D59-A996-A153D3939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01" y="5573775"/>
            <a:ext cx="4419600" cy="562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29B2B8-3C80-4340-99DC-110F1CC27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554" y="4574096"/>
            <a:ext cx="3152985" cy="214738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1E09DD-9899-5A4C-81C6-AC1771E3AED1}"/>
              </a:ext>
            </a:extLst>
          </p:cNvPr>
          <p:cNvCxnSpPr>
            <a:cxnSpLocks/>
          </p:cNvCxnSpPr>
          <p:nvPr/>
        </p:nvCxnSpPr>
        <p:spPr>
          <a:xfrm flipV="1">
            <a:off x="3048000" y="3536949"/>
            <a:ext cx="4320029" cy="10137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57C02D-611E-CD4D-99BA-599163B05E1B}"/>
              </a:ext>
            </a:extLst>
          </p:cNvPr>
          <p:cNvCxnSpPr>
            <a:cxnSpLocks/>
          </p:cNvCxnSpPr>
          <p:nvPr/>
        </p:nvCxnSpPr>
        <p:spPr>
          <a:xfrm flipV="1">
            <a:off x="3048000" y="5573775"/>
            <a:ext cx="4407707" cy="3698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23FEE2-977A-CC4A-BD2F-0AC3FC9E7972}"/>
              </a:ext>
            </a:extLst>
          </p:cNvPr>
          <p:cNvSpPr txBox="1"/>
          <p:nvPr/>
        </p:nvSpPr>
        <p:spPr>
          <a:xfrm>
            <a:off x="6355822" y="2611469"/>
            <a:ext cx="1840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 # automatically selected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AD6D7-AA9F-C44F-B610-DF0774730932}"/>
              </a:ext>
            </a:extLst>
          </p:cNvPr>
          <p:cNvSpPr txBox="1"/>
          <p:nvPr/>
        </p:nvSpPr>
        <p:spPr>
          <a:xfrm>
            <a:off x="6355822" y="4891044"/>
            <a:ext cx="132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 # of 20 specified</a:t>
            </a:r>
          </a:p>
        </p:txBody>
      </p:sp>
    </p:spTree>
    <p:extLst>
      <p:ext uri="{BB962C8B-B14F-4D97-AF65-F5344CB8AC3E}">
        <p14:creationId xmlns:p14="http://schemas.microsoft.com/office/powerpoint/2010/main" val="131281842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Controlling Font Size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E6D3B1-0BC4-AE4A-8D52-93784753B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763" y="685800"/>
            <a:ext cx="4176712" cy="27844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EE2B76-63E0-924E-A154-7ADF9B564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763" y="3567116"/>
            <a:ext cx="4176711" cy="2784474"/>
          </a:xfrm>
          <a:prstGeom prst="rect">
            <a:avLst/>
          </a:prstGeom>
        </p:spPr>
      </p:pic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AE56155E-D543-4946-B3B1-2586345C94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8" y="3808414"/>
            <a:ext cx="6511857" cy="22098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65CB23-AA5E-B049-8593-15C8845550A8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907145" y="4959353"/>
            <a:ext cx="717618" cy="6032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423C8-78A8-684C-8CEC-E4DEED3D9500}"/>
              </a:ext>
            </a:extLst>
          </p:cNvPr>
          <p:cNvCxnSpPr>
            <a:cxnSpLocks/>
          </p:cNvCxnSpPr>
          <p:nvPr/>
        </p:nvCxnSpPr>
        <p:spPr>
          <a:xfrm>
            <a:off x="7234238" y="1630358"/>
            <a:ext cx="265180" cy="4476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5DC138-2C54-7D42-8BBB-255D695A6D80}"/>
              </a:ext>
            </a:extLst>
          </p:cNvPr>
          <p:cNvSpPr txBox="1"/>
          <p:nvPr/>
        </p:nvSpPr>
        <p:spPr>
          <a:xfrm>
            <a:off x="5788190" y="1261026"/>
            <a:ext cx="170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Default font size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A0C798-BCE8-A347-A01D-54729A978406}"/>
              </a:ext>
            </a:extLst>
          </p:cNvPr>
          <p:cNvSpPr/>
          <p:nvPr/>
        </p:nvSpPr>
        <p:spPr>
          <a:xfrm>
            <a:off x="470535" y="1023939"/>
            <a:ext cx="5309650" cy="2748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not specified, default font sizes will be used which might not be big enough/appropriate for your specific project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Specify the font size when creating labels and title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09EE0F-5446-9F4E-ACBE-15014025E94C}"/>
              </a:ext>
            </a:extLst>
          </p:cNvPr>
          <p:cNvSpPr/>
          <p:nvPr/>
        </p:nvSpPr>
        <p:spPr>
          <a:xfrm>
            <a:off x="5361055" y="5261334"/>
            <a:ext cx="1496945" cy="3068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3903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61060" y="1021025"/>
            <a:ext cx="10340340" cy="1064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Save figures as a separate file to use for HW assignments, reports, etc.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NOT take screenshots of Python figures and put them in HW or reports!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Save figures to PDF or PNG file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3F71894-A752-4708-A8DE-3266429E5562}"/>
              </a:ext>
            </a:extLst>
          </p:cNvPr>
          <p:cNvSpPr/>
          <p:nvPr/>
        </p:nvSpPr>
        <p:spPr>
          <a:xfrm rot="5400000">
            <a:off x="6133860" y="3926913"/>
            <a:ext cx="221152" cy="45720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B97C3C1E-0785-428D-BD3D-A7DE6CE69EB9}"/>
              </a:ext>
            </a:extLst>
          </p:cNvPr>
          <p:cNvSpPr/>
          <p:nvPr/>
        </p:nvSpPr>
        <p:spPr>
          <a:xfrm rot="5400000">
            <a:off x="6921185" y="3669023"/>
            <a:ext cx="221152" cy="972979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D5AFFCD-8B6F-4B4C-B96A-38353F3A5976}"/>
              </a:ext>
            </a:extLst>
          </p:cNvPr>
          <p:cNvSpPr/>
          <p:nvPr/>
        </p:nvSpPr>
        <p:spPr>
          <a:xfrm rot="5400000">
            <a:off x="8876214" y="2923538"/>
            <a:ext cx="213532" cy="2463949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8EE1BE0F-BFDA-460E-8D67-BEEFDD54E9F9}"/>
              </a:ext>
            </a:extLst>
          </p:cNvPr>
          <p:cNvSpPr/>
          <p:nvPr/>
        </p:nvSpPr>
        <p:spPr>
          <a:xfrm rot="5400000">
            <a:off x="10873244" y="3584013"/>
            <a:ext cx="213532" cy="114300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1296B8-A07E-42DB-9432-9591C23F2099}"/>
              </a:ext>
            </a:extLst>
          </p:cNvPr>
          <p:cNvSpPr txBox="1"/>
          <p:nvPr/>
        </p:nvSpPr>
        <p:spPr>
          <a:xfrm>
            <a:off x="6080606" y="4205354"/>
            <a:ext cx="228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8CB6E4-B0E4-4BB3-82A3-627E542BEAE8}"/>
              </a:ext>
            </a:extLst>
          </p:cNvPr>
          <p:cNvSpPr txBox="1"/>
          <p:nvPr/>
        </p:nvSpPr>
        <p:spPr>
          <a:xfrm>
            <a:off x="6915806" y="4205354"/>
            <a:ext cx="228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B4DAD7-93A2-4AA4-A750-03D1CD78D23B}"/>
              </a:ext>
            </a:extLst>
          </p:cNvPr>
          <p:cNvSpPr txBox="1"/>
          <p:nvPr/>
        </p:nvSpPr>
        <p:spPr>
          <a:xfrm>
            <a:off x="8849080" y="4201544"/>
            <a:ext cx="228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A16261-701D-40A0-AFB7-9F73A6C18D21}"/>
              </a:ext>
            </a:extLst>
          </p:cNvPr>
          <p:cNvSpPr txBox="1"/>
          <p:nvPr/>
        </p:nvSpPr>
        <p:spPr>
          <a:xfrm>
            <a:off x="10836500" y="4201544"/>
            <a:ext cx="228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0837D2-48DF-43D5-8545-35160B196F39}"/>
              </a:ext>
            </a:extLst>
          </p:cNvPr>
          <p:cNvSpPr/>
          <p:nvPr/>
        </p:nvSpPr>
        <p:spPr>
          <a:xfrm>
            <a:off x="929005" y="2385513"/>
            <a:ext cx="4648200" cy="447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Handle of figure that is already created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savefig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function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String of the file name, ending with the file format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 (dpi means dot per inch). It’s fine to always use 600 (default if not specified is 100).</a:t>
            </a: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 descr="Diagram&#10;&#10;Description automatically generated with low confidence">
            <a:extLst>
              <a:ext uri="{FF2B5EF4-FFF2-40B4-BE49-F238E27FC236}">
                <a16:creationId xmlns:a16="http://schemas.microsoft.com/office/drawing/2014/main" id="{B44BB0B2-519F-4243-9A59-BF0A3B0D0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389609"/>
            <a:ext cx="5877665" cy="166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7135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Save figures to PDF or PNG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789CD-D0F1-4330-AB37-9BCF24A0B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71600"/>
            <a:ext cx="7496630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323D0D-EAAE-E147-B2FA-1528231DE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35" y="1828800"/>
            <a:ext cx="6562730" cy="437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8551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E1806995-2B0E-7447-9BC7-D6C712E125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6"/>
          <a:stretch/>
        </p:blipFill>
        <p:spPr>
          <a:xfrm>
            <a:off x="2998288" y="669566"/>
            <a:ext cx="6195424" cy="574694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Summaries of Univariate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34FBBC-611C-40BA-AAA9-08C87BFC696C}"/>
              </a:ext>
            </a:extLst>
          </p:cNvPr>
          <p:cNvSpPr txBox="1"/>
          <p:nvPr/>
        </p:nvSpPr>
        <p:spPr>
          <a:xfrm>
            <a:off x="317000" y="4865217"/>
            <a:ext cx="189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Uses the scipy package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12E2C0-22E7-4C8D-AB46-63BF24E7697D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848600" y="4262735"/>
            <a:ext cx="1345112" cy="11312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CF9FBD-1F8F-485F-88E4-270D39E73DD5}"/>
              </a:ext>
            </a:extLst>
          </p:cNvPr>
          <p:cNvSpPr txBox="1"/>
          <p:nvPr/>
        </p:nvSpPr>
        <p:spPr>
          <a:xfrm>
            <a:off x="9193712" y="3801070"/>
            <a:ext cx="3130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Proportion of data to be trimmed from top and bottom (here, .1 means 10%)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DC9AA-AEE3-1B4D-8ADE-72BFF66396B5}"/>
              </a:ext>
            </a:extLst>
          </p:cNvPr>
          <p:cNvSpPr txBox="1"/>
          <p:nvPr/>
        </p:nvSpPr>
        <p:spPr>
          <a:xfrm>
            <a:off x="317000" y="2449383"/>
            <a:ext cx="189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Uses the numpy package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F8DF91E-290F-C441-96CB-7683AF3CB22D}"/>
              </a:ext>
            </a:extLst>
          </p:cNvPr>
          <p:cNvSpPr/>
          <p:nvPr/>
        </p:nvSpPr>
        <p:spPr>
          <a:xfrm>
            <a:off x="2209800" y="762000"/>
            <a:ext cx="609600" cy="3962400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6B2AF0E7-E890-9040-8EAB-BCD2F117DCF2}"/>
              </a:ext>
            </a:extLst>
          </p:cNvPr>
          <p:cNvSpPr/>
          <p:nvPr/>
        </p:nvSpPr>
        <p:spPr>
          <a:xfrm>
            <a:off x="2209800" y="5029200"/>
            <a:ext cx="609600" cy="1415920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1307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Note about Plotting using Spyder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3C5E2-8552-4899-A8B0-795CBE7EA65E}"/>
              </a:ext>
            </a:extLst>
          </p:cNvPr>
          <p:cNvSpPr/>
          <p:nvPr/>
        </p:nvSpPr>
        <p:spPr>
          <a:xfrm>
            <a:off x="914400" y="1513570"/>
            <a:ext cx="4648200" cy="3744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figure can show up as its own separate window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sure close each figure between attempts at running the code so you don’t get a bunch of figures on your screen!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view all figures on the “Plots” tab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C21A25-92F7-BC49-9DC6-CBFBC5064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0600"/>
            <a:ext cx="5772032" cy="3258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906611-517E-ED45-986E-8C98B11BD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134" y="4702176"/>
            <a:ext cx="5473926" cy="5556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60AC03-475F-1D4F-B396-80946AFDAAF4}"/>
              </a:ext>
            </a:extLst>
          </p:cNvPr>
          <p:cNvSpPr/>
          <p:nvPr/>
        </p:nvSpPr>
        <p:spPr>
          <a:xfrm>
            <a:off x="9525000" y="1081647"/>
            <a:ext cx="2343032" cy="1356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358DFB-552F-AB47-ADCC-3675BC4DBF5A}"/>
              </a:ext>
            </a:extLst>
          </p:cNvPr>
          <p:cNvSpPr/>
          <p:nvPr/>
        </p:nvSpPr>
        <p:spPr>
          <a:xfrm>
            <a:off x="9448800" y="4834143"/>
            <a:ext cx="457200" cy="28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2100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814606" y="685800"/>
            <a:ext cx="8345394" cy="886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  <a:spcBef>
                <a:spcPts val="1800"/>
              </a:spcBef>
              <a:spcAft>
                <a:spcPts val="600"/>
              </a:spcAft>
              <a:buSzPct val="100000"/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In-class activity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1371FB-ABE6-4C3C-9833-FBC4DAB56872}"/>
              </a:ext>
            </a:extLst>
          </p:cNvPr>
          <p:cNvSpPr/>
          <p:nvPr/>
        </p:nvSpPr>
        <p:spPr>
          <a:xfrm>
            <a:off x="1371600" y="2209800"/>
            <a:ext cx="8345394" cy="331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Think about what steps you might need to take that are not explicitly asked of you in the assignment.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through Lab 4 Student Activity 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Make sure you can complete the activity before taking lab quiz 4. The quiz will ask you some questions about the activity.</a:t>
            </a:r>
          </a:p>
        </p:txBody>
      </p:sp>
    </p:spTree>
    <p:extLst>
      <p:ext uri="{BB962C8B-B14F-4D97-AF65-F5344CB8AC3E}">
        <p14:creationId xmlns:p14="http://schemas.microsoft.com/office/powerpoint/2010/main" val="129184014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2024 Lab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8345394" cy="4513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Scipy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Package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Convert to datetime format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Creating graphics of data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Plot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Boxplot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Histogram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Save Plots to PDF or Image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Initial Exploratory Data Analysis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86039500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49426</TotalTime>
  <Words>1191</Words>
  <Application>Microsoft Macintosh PowerPoint</Application>
  <PresentationFormat>Widescreen</PresentationFormat>
  <Paragraphs>180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EVE310 Lab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356 Elements of Hydraulic Engineering</dc:title>
  <dc:creator>lina</dc:creator>
  <cp:lastModifiedBy>Gupta, Priyanshu R</cp:lastModifiedBy>
  <cp:revision>951</cp:revision>
  <cp:lastPrinted>2021-09-16T01:17:57Z</cp:lastPrinted>
  <dcterms:created xsi:type="dcterms:W3CDTF">2016-07-06T18:20:35Z</dcterms:created>
  <dcterms:modified xsi:type="dcterms:W3CDTF">2025-09-25T17:23:07Z</dcterms:modified>
</cp:coreProperties>
</file>