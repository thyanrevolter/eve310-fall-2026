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765" r:id="rId2"/>
    <p:sldId id="1018" r:id="rId3"/>
    <p:sldId id="1015" r:id="rId4"/>
    <p:sldId id="1021" r:id="rId5"/>
    <p:sldId id="1022" r:id="rId6"/>
    <p:sldId id="1023" r:id="rId7"/>
    <p:sldId id="1024" r:id="rId8"/>
    <p:sldId id="1019" r:id="rId9"/>
    <p:sldId id="986" r:id="rId10"/>
    <p:sldId id="1020" r:id="rId11"/>
    <p:sldId id="1025" r:id="rId12"/>
    <p:sldId id="1026" r:id="rId13"/>
    <p:sldId id="1027" r:id="rId14"/>
    <p:sldId id="1028" r:id="rId15"/>
    <p:sldId id="1030" r:id="rId16"/>
    <p:sldId id="1029" r:id="rId17"/>
    <p:sldId id="1014" r:id="rId18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DADE94F-13E5-9CC9-0988-5D342E3BB338}" name="Helena Tiedmann" initials="HT" userId="RmX27P5Yl4ZtvKFqVcQjgA//SyRY7QDesoYeF/PT6ik=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FF99"/>
    <a:srgbClr val="BF5700"/>
    <a:srgbClr val="1D4371"/>
    <a:srgbClr val="003399"/>
    <a:srgbClr val="385D8A"/>
    <a:srgbClr val="0070C0"/>
    <a:srgbClr val="990000"/>
    <a:srgbClr val="993300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C5C2D0-4265-446F-971E-2851DAE5DCCD}" v="7" dt="2020-11-19T13:53:10.0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826" autoAdjust="0"/>
    <p:restoredTop sz="97039" autoAdjust="0"/>
  </p:normalViewPr>
  <p:slideViewPr>
    <p:cSldViewPr>
      <p:cViewPr varScale="1">
        <p:scale>
          <a:sx n="128" d="100"/>
          <a:sy n="128" d="100"/>
        </p:scale>
        <p:origin x="720" y="17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8/10/relationships/authors" Target="authors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2AF32567-CE0A-411B-A193-274813F6AC70}" type="datetimeFigureOut">
              <a:rPr lang="en-US" smtClean="0"/>
              <a:t>11/4/25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58AE2663-530C-4834-9F93-457B710879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53136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5C2C7CE7-C9CA-47EF-8702-BBFECB6E221C}" type="datetimeFigureOut">
              <a:rPr lang="en-US" smtClean="0"/>
              <a:t>11/4/25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F447469E-A8B3-4EDF-ACC8-6B5423908F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6274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47469E-A8B3-4EDF-ACC8-6B5423908F7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3243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2A8CFD-7D0E-984D-8B4C-26FF9E5765E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3897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2A8CFD-7D0E-984D-8B4C-26FF9E5765E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1448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2A8CFD-7D0E-984D-8B4C-26FF9E5765E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1096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2A8CFD-7D0E-984D-8B4C-26FF9E5765E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253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2A8CFD-7D0E-984D-8B4C-26FF9E5765E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9891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2A8CFD-7D0E-984D-8B4C-26FF9E5765E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192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2A8CFD-7D0E-984D-8B4C-26FF9E5765E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3533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2A8CFD-7D0E-984D-8B4C-26FF9E5765E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1822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2A8CFD-7D0E-984D-8B4C-26FF9E5765E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3604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2A8CFD-7D0E-984D-8B4C-26FF9E5765E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7483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2A8CFD-7D0E-984D-8B4C-26FF9E5765E5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2112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2A8CFD-7D0E-984D-8B4C-26FF9E5765E5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0578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2A8CFD-7D0E-984D-8B4C-26FF9E5765E5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7986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2A8CFD-7D0E-984D-8B4C-26FF9E5765E5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5549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2A8CFD-7D0E-984D-8B4C-26FF9E5765E5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20153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2A8CFD-7D0E-984D-8B4C-26FF9E5765E5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990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1CAD5-8AAA-4747-AF53-28DF4B1CA764}" type="datetime1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EVE310 Fall 2022 Lab 13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848B6-D328-4CC8-99C6-D5689AE94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800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C804F-7BB1-7641-883C-8DF00E8100D9}" type="datetime1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EVE310 Fall 2022 Lab 13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848B6-D328-4CC8-99C6-D5689AE94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250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7B0E5-851B-724D-BCD3-8C249226A847}" type="datetime1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EVE310 Fall 2022 Lab 13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848B6-D328-4CC8-99C6-D5689AE94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6913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843ED-86E6-884A-91D7-4331CF5AA1F4}" type="datetime1">
              <a:rPr lang="en-US" smtClean="0"/>
              <a:t>11/4/25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EVE310 Fall 2022 Lab 13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848B6-D328-4CC8-99C6-D5689AE94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983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279F0-A5B4-E343-A1D0-3B1F50D957D9}" type="datetime1">
              <a:rPr lang="en-US" smtClean="0"/>
              <a:t>11/4/25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EVE310 Fall 2022 Lab 13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848B6-D328-4CC8-99C6-D5689AE94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842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D1415-37A7-6F49-B247-A99A1F2D6483}" type="datetime1">
              <a:rPr lang="en-US" smtClean="0"/>
              <a:t>11/4/25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EVE310 Fall 2022 Lab 13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848B6-D328-4CC8-99C6-D5689AE94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462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E1D4E-CC27-7D40-AF0E-7021F089067A}" type="datetime1">
              <a:rPr lang="en-US" smtClean="0"/>
              <a:t>11/4/25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EVE310 Fall 2022 Lab 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848B6-D328-4CC8-99C6-D5689AE94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6357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A0264-F3FC-1E49-A1DA-0DB41FBEDB36}" type="datetime1">
              <a:rPr lang="en-US" smtClean="0"/>
              <a:t>11/4/25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EVE310 Fall 2022 Lab 13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848B6-D328-4CC8-99C6-D5689AE94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52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60368-19F0-8C4F-9CEE-095D635DDC68}" type="datetime1">
              <a:rPr lang="en-US" smtClean="0"/>
              <a:t>11/4/25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EVE310 Fall 2022 Lab 13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848B6-D328-4CC8-99C6-D5689AE94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225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01B06-46A6-1946-9136-F287CD146A01}" type="datetime1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EVE310 Fall 2022 Lab 13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848B6-D328-4CC8-99C6-D5689AE94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0511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D91EE-65BE-C745-B9AA-5D3BA05878EA}" type="datetime1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EVE310 Fall 2022 Lab 13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848B6-D328-4CC8-99C6-D5689AE94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264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C32F95-E121-8D41-BBAB-831479139C7F}" type="datetime1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EVE310 Fall 2022 Lab 13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8848B6-D328-4CC8-99C6-D5689AE94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034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noFill/>
        </p:spPr>
        <p:txBody>
          <a:bodyPr>
            <a:normAutofit/>
          </a:bodyPr>
          <a:lstStyle/>
          <a:p>
            <a:r>
              <a:rPr lang="en-US" dirty="0"/>
              <a:t>EVE310 Lab 9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noFill/>
        </p:spPr>
        <p:txBody>
          <a:bodyPr/>
          <a:lstStyle/>
          <a:p>
            <a:r>
              <a:rPr lang="en-US" dirty="0"/>
              <a:t>November 4, 2025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848B6-D328-4CC8-99C6-D5689AE94DF4}" type="slidenum">
              <a:rPr lang="en-US" smtClean="0"/>
              <a:t>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EVE310 Fall 2025 Lab 19</a:t>
            </a:r>
          </a:p>
        </p:txBody>
      </p:sp>
    </p:spTree>
    <p:extLst>
      <p:ext uri="{BB962C8B-B14F-4D97-AF65-F5344CB8AC3E}">
        <p14:creationId xmlns:p14="http://schemas.microsoft.com/office/powerpoint/2010/main" val="973730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848B6-D328-4CC8-99C6-D5689AE94DF4}" type="slidenum">
              <a:rPr lang="en-US" smtClean="0"/>
              <a:t>2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304800" y="1295400"/>
            <a:ext cx="10515600" cy="2902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So far in this class, we have performed an analysis (plot, create a linear regression model,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etc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 on one file at a time.</a:t>
            </a:r>
          </a:p>
          <a:p>
            <a:pPr marL="342900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Often times, there are multiple files that you would like to perform the same analysis on</a:t>
            </a:r>
          </a:p>
          <a:p>
            <a:pPr marL="342900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purpose of this lab is to show you how to repeat an analysis on multiple files just by clicking “run” once</a:t>
            </a:r>
          </a:p>
        </p:txBody>
      </p:sp>
      <p:sp>
        <p:nvSpPr>
          <p:cNvPr id="5" name="Rectangle 1"/>
          <p:cNvSpPr txBox="1">
            <a:spLocks noChangeArrowheads="1"/>
          </p:cNvSpPr>
          <p:nvPr/>
        </p:nvSpPr>
        <p:spPr>
          <a:xfrm>
            <a:off x="0" y="1"/>
            <a:ext cx="12192000" cy="685799"/>
          </a:xfrm>
          <a:prstGeom prst="rect">
            <a:avLst/>
          </a:prstGeom>
          <a:solidFill>
            <a:srgbClr val="BF5700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defPPr>
              <a:defRPr lang="en-US"/>
            </a:defPPr>
            <a:lvl1pPr marL="182880">
              <a:spcBef>
                <a:spcPct val="0"/>
              </a:spcBef>
              <a:buNone/>
              <a:defRPr sz="40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0C2C91-0193-4FCD-9F3D-84EC71775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</p:spPr>
        <p:txBody>
          <a:bodyPr/>
          <a:lstStyle/>
          <a:p>
            <a:r>
              <a:rPr lang="en-US" dirty="0"/>
              <a:t>EVE310 Fall 2025 Lab 19</a:t>
            </a:r>
          </a:p>
        </p:txBody>
      </p:sp>
    </p:spTree>
    <p:extLst>
      <p:ext uri="{BB962C8B-B14F-4D97-AF65-F5344CB8AC3E}">
        <p14:creationId xmlns:p14="http://schemas.microsoft.com/office/powerpoint/2010/main" val="3022085588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848B6-D328-4CC8-99C6-D5689AE94DF4}" type="slidenum">
              <a:rPr lang="en-US" smtClean="0"/>
              <a:t>3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990600" y="1371600"/>
            <a:ext cx="8345394" cy="16391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Create list of files in a directory (folder)</a:t>
            </a:r>
          </a:p>
          <a:p>
            <a:pPr marL="342900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Perform analysis on all csv files in a directory</a:t>
            </a:r>
          </a:p>
          <a:p>
            <a:pPr marL="342900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Rectangle 1"/>
          <p:cNvSpPr txBox="1">
            <a:spLocks noChangeArrowheads="1"/>
          </p:cNvSpPr>
          <p:nvPr/>
        </p:nvSpPr>
        <p:spPr>
          <a:xfrm>
            <a:off x="0" y="1"/>
            <a:ext cx="12192000" cy="685799"/>
          </a:xfrm>
          <a:prstGeom prst="rect">
            <a:avLst/>
          </a:prstGeom>
          <a:solidFill>
            <a:srgbClr val="BF5700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defPPr>
              <a:defRPr lang="en-US"/>
            </a:defPPr>
            <a:lvl1pPr marL="182880">
              <a:spcBef>
                <a:spcPct val="0"/>
              </a:spcBef>
              <a:buNone/>
              <a:defRPr sz="40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Learning objectives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8B5A8E-83AC-4CBA-B825-A6E298CB6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</p:spPr>
        <p:txBody>
          <a:bodyPr/>
          <a:lstStyle/>
          <a:p>
            <a:r>
              <a:rPr lang="en-US" dirty="0"/>
              <a:t>EVE310 Fall 2025 Lab 19</a:t>
            </a:r>
          </a:p>
        </p:txBody>
      </p:sp>
    </p:spTree>
    <p:extLst>
      <p:ext uri="{BB962C8B-B14F-4D97-AF65-F5344CB8AC3E}">
        <p14:creationId xmlns:p14="http://schemas.microsoft.com/office/powerpoint/2010/main" val="3000766762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848B6-D328-4CC8-99C6-D5689AE94DF4}" type="slidenum">
              <a:rPr lang="en-US" smtClean="0"/>
              <a:t>4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990600" y="1371600"/>
            <a:ext cx="9296400" cy="3056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Suppose you work for the UT Facilities Department and would like to analyze water consumption in each building by month</a:t>
            </a:r>
          </a:p>
          <a:p>
            <a:pPr marL="342900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Your boss sends you 24 data files with water consumption information</a:t>
            </a:r>
          </a:p>
          <a:p>
            <a:pPr marL="342900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You are asked to remove outliers and then create a boxplot by month of the water consumption in each building</a:t>
            </a:r>
          </a:p>
          <a:p>
            <a:pPr marL="342900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Rectangle 1"/>
          <p:cNvSpPr txBox="1">
            <a:spLocks noChangeArrowheads="1"/>
          </p:cNvSpPr>
          <p:nvPr/>
        </p:nvSpPr>
        <p:spPr>
          <a:xfrm>
            <a:off x="0" y="1"/>
            <a:ext cx="12192000" cy="685799"/>
          </a:xfrm>
          <a:prstGeom prst="rect">
            <a:avLst/>
          </a:prstGeom>
          <a:solidFill>
            <a:srgbClr val="BF5700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defPPr>
              <a:defRPr lang="en-US"/>
            </a:defPPr>
            <a:lvl1pPr marL="182880">
              <a:spcBef>
                <a:spcPct val="0"/>
              </a:spcBef>
              <a:buNone/>
              <a:defRPr sz="40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Problem Statement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E70E22-4899-4BDF-9954-02D677D22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</p:spPr>
        <p:txBody>
          <a:bodyPr/>
          <a:lstStyle/>
          <a:p>
            <a:r>
              <a:rPr lang="en-US" dirty="0"/>
              <a:t>EVE310 Fall 2025 Lab 19</a:t>
            </a:r>
          </a:p>
        </p:txBody>
      </p:sp>
    </p:spTree>
    <p:extLst>
      <p:ext uri="{BB962C8B-B14F-4D97-AF65-F5344CB8AC3E}">
        <p14:creationId xmlns:p14="http://schemas.microsoft.com/office/powerpoint/2010/main" val="1756182134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848B6-D328-4CC8-99C6-D5689AE94DF4}" type="slidenum">
              <a:rPr lang="en-US" smtClean="0"/>
              <a:t>5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990600" y="1371600"/>
            <a:ext cx="9296400" cy="3938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First, write the code to analyze one file at a time</a:t>
            </a:r>
          </a:p>
          <a:p>
            <a:pPr marL="800100" lvl="1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Create a boxplot by month (Lab 4)</a:t>
            </a:r>
          </a:p>
          <a:p>
            <a:pPr marL="800100" lvl="1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Remove Outliers (Lab 7)</a:t>
            </a:r>
          </a:p>
          <a:p>
            <a:pPr marL="342900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Then, modify analysis to iterate over multiple files</a:t>
            </a:r>
          </a:p>
          <a:p>
            <a:pPr marL="800100" lvl="1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Create list of files in a directory (folder)</a:t>
            </a:r>
          </a:p>
          <a:p>
            <a:pPr marL="800100" lvl="1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Modify list to include only the files that end in .csv</a:t>
            </a:r>
          </a:p>
          <a:p>
            <a:pPr marL="800100" lvl="1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Use list of .csv files to perform analysis</a:t>
            </a:r>
          </a:p>
        </p:txBody>
      </p:sp>
      <p:sp>
        <p:nvSpPr>
          <p:cNvPr id="5" name="Rectangle 1"/>
          <p:cNvSpPr txBox="1">
            <a:spLocks noChangeArrowheads="1"/>
          </p:cNvSpPr>
          <p:nvPr/>
        </p:nvSpPr>
        <p:spPr>
          <a:xfrm>
            <a:off x="0" y="1"/>
            <a:ext cx="12192000" cy="685799"/>
          </a:xfrm>
          <a:prstGeom prst="rect">
            <a:avLst/>
          </a:prstGeom>
          <a:solidFill>
            <a:srgbClr val="BF5700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defPPr>
              <a:defRPr lang="en-US"/>
            </a:defPPr>
            <a:lvl1pPr marL="182880">
              <a:spcBef>
                <a:spcPct val="0"/>
              </a:spcBef>
              <a:buNone/>
              <a:defRPr sz="40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Solution Approach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101410-CB60-4AAA-B55F-8C9EE921C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</p:spPr>
        <p:txBody>
          <a:bodyPr/>
          <a:lstStyle/>
          <a:p>
            <a:r>
              <a:rPr lang="en-US" dirty="0"/>
              <a:t>EVE310 Fall 2025 Lab 19</a:t>
            </a:r>
          </a:p>
        </p:txBody>
      </p:sp>
    </p:spTree>
    <p:extLst>
      <p:ext uri="{BB962C8B-B14F-4D97-AF65-F5344CB8AC3E}">
        <p14:creationId xmlns:p14="http://schemas.microsoft.com/office/powerpoint/2010/main" val="3754789663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848B6-D328-4CC8-99C6-D5689AE94DF4}" type="slidenum">
              <a:rPr lang="en-US" smtClean="0"/>
              <a:t>6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838200" y="762000"/>
            <a:ext cx="9296400" cy="4893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See Lab 9 Example Single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File.ipynb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Rectangle 1"/>
          <p:cNvSpPr txBox="1">
            <a:spLocks noChangeArrowheads="1"/>
          </p:cNvSpPr>
          <p:nvPr/>
        </p:nvSpPr>
        <p:spPr>
          <a:xfrm>
            <a:off x="0" y="1"/>
            <a:ext cx="12192000" cy="685799"/>
          </a:xfrm>
          <a:prstGeom prst="rect">
            <a:avLst/>
          </a:prstGeom>
          <a:solidFill>
            <a:srgbClr val="BF5700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defPPr>
              <a:defRPr lang="en-US"/>
            </a:defPPr>
            <a:lvl1pPr marL="182880">
              <a:spcBef>
                <a:spcPct val="0"/>
              </a:spcBef>
              <a:buNone/>
              <a:defRPr sz="40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One File Solution Approach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04C783F-9405-DE24-CDD6-B08C7EE032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143000"/>
            <a:ext cx="4523546" cy="25976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FB75FE0-79A5-E7F1-2075-C598A5DFCC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2175" y="1297508"/>
            <a:ext cx="5715000" cy="244310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0A963D0-202B-7AD6-CAE4-F575541BD0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0" y="4038600"/>
            <a:ext cx="4419600" cy="2301006"/>
          </a:xfrm>
          <a:prstGeom prst="rect">
            <a:avLst/>
          </a:prstGeom>
        </p:spPr>
      </p:pic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ED486A74-9395-41CB-BC8F-A75EF7CB6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</p:spPr>
        <p:txBody>
          <a:bodyPr/>
          <a:lstStyle/>
          <a:p>
            <a:r>
              <a:rPr lang="en-US" dirty="0"/>
              <a:t>EVE310 Fall 2025 Lab 19</a:t>
            </a:r>
          </a:p>
        </p:txBody>
      </p:sp>
    </p:spTree>
    <p:extLst>
      <p:ext uri="{BB962C8B-B14F-4D97-AF65-F5344CB8AC3E}">
        <p14:creationId xmlns:p14="http://schemas.microsoft.com/office/powerpoint/2010/main" val="2015090902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848B6-D328-4CC8-99C6-D5689AE94DF4}" type="slidenum">
              <a:rPr lang="en-US" smtClean="0"/>
              <a:t>7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838200" y="762000"/>
            <a:ext cx="9296400" cy="4893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See Lab 9 Example Single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File.ipynb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Rectangle 1"/>
          <p:cNvSpPr txBox="1">
            <a:spLocks noChangeArrowheads="1"/>
          </p:cNvSpPr>
          <p:nvPr/>
        </p:nvSpPr>
        <p:spPr>
          <a:xfrm>
            <a:off x="0" y="1"/>
            <a:ext cx="12192000" cy="685799"/>
          </a:xfrm>
          <a:prstGeom prst="rect">
            <a:avLst/>
          </a:prstGeom>
          <a:solidFill>
            <a:srgbClr val="BF5700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defPPr>
              <a:defRPr lang="en-US"/>
            </a:defPPr>
            <a:lvl1pPr marL="182880">
              <a:spcBef>
                <a:spcPct val="0"/>
              </a:spcBef>
              <a:buNone/>
              <a:defRPr sz="40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One File Solution Approach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04C783F-9405-DE24-CDD6-B08C7EE032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143000"/>
            <a:ext cx="4523546" cy="25976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FB75FE0-79A5-E7F1-2075-C598A5DFCC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2175" y="1297508"/>
            <a:ext cx="5715000" cy="244310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0A963D0-202B-7AD6-CAE4-F575541BD0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0" y="4038600"/>
            <a:ext cx="4419600" cy="23010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CE481EF-0669-F43F-1AB0-2E61237A211F}"/>
              </a:ext>
            </a:extLst>
          </p:cNvPr>
          <p:cNvSpPr txBox="1"/>
          <p:nvPr/>
        </p:nvSpPr>
        <p:spPr>
          <a:xfrm>
            <a:off x="3581400" y="1275998"/>
            <a:ext cx="2895600" cy="9233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Only this would change to perform analysis on a different file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DEB54F7-CD2A-F82E-75E0-570B6C75E2FD}"/>
              </a:ext>
            </a:extLst>
          </p:cNvPr>
          <p:cNvCxnSpPr/>
          <p:nvPr/>
        </p:nvCxnSpPr>
        <p:spPr>
          <a:xfrm flipH="1">
            <a:off x="2743200" y="1828800"/>
            <a:ext cx="762000" cy="205523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ooter Placeholder 5">
            <a:extLst>
              <a:ext uri="{FF2B5EF4-FFF2-40B4-BE49-F238E27FC236}">
                <a16:creationId xmlns:a16="http://schemas.microsoft.com/office/drawing/2014/main" id="{8CF60432-E8FE-4AD7-9AD8-7306D9840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</p:spPr>
        <p:txBody>
          <a:bodyPr/>
          <a:lstStyle/>
          <a:p>
            <a:r>
              <a:rPr lang="en-US" dirty="0"/>
              <a:t>EVE310 Fall 2025 Lab 19</a:t>
            </a:r>
          </a:p>
        </p:txBody>
      </p:sp>
    </p:spTree>
    <p:extLst>
      <p:ext uri="{BB962C8B-B14F-4D97-AF65-F5344CB8AC3E}">
        <p14:creationId xmlns:p14="http://schemas.microsoft.com/office/powerpoint/2010/main" val="3657646529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848B6-D328-4CC8-99C6-D5689AE94DF4}" type="slidenum">
              <a:rPr lang="en-US" smtClean="0"/>
              <a:t>8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34516" y="820752"/>
            <a:ext cx="9829800" cy="14852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Use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os.listdir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() to create a list of file names in the directory where they python script is located</a:t>
            </a:r>
          </a:p>
          <a:p>
            <a:pPr marL="342900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Rectangle 1"/>
          <p:cNvSpPr txBox="1">
            <a:spLocks noChangeArrowheads="1"/>
          </p:cNvSpPr>
          <p:nvPr/>
        </p:nvSpPr>
        <p:spPr>
          <a:xfrm>
            <a:off x="0" y="1"/>
            <a:ext cx="12192000" cy="685799"/>
          </a:xfrm>
          <a:prstGeom prst="rect">
            <a:avLst/>
          </a:prstGeom>
          <a:solidFill>
            <a:srgbClr val="BF5700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defPPr>
              <a:defRPr lang="en-US"/>
            </a:defPPr>
            <a:lvl1pPr marL="182880">
              <a:spcBef>
                <a:spcPct val="0"/>
              </a:spcBef>
              <a:buNone/>
              <a:defRPr sz="40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Create a list of files in a directory (folder)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CBBF6B3-5413-F969-F1A6-7A8589E224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93752"/>
            <a:ext cx="4710113" cy="69135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83073082-78E6-4A34-8578-8E5860358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</p:spPr>
        <p:txBody>
          <a:bodyPr/>
          <a:lstStyle/>
          <a:p>
            <a:r>
              <a:rPr lang="en-US" dirty="0"/>
              <a:t>EVE310 Fall 2025 Lab 19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2F157F-4EB7-2F50-03EF-7B278941A9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4689" y="1295400"/>
            <a:ext cx="3792304" cy="529875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F2833D7-084D-7CF9-3384-18116122E8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" y="2950348"/>
            <a:ext cx="6489322" cy="2632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01525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848B6-D328-4CC8-99C6-D5689AE94DF4}" type="slidenum">
              <a:rPr lang="en-US" smtClean="0"/>
              <a:t>9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990600" y="1371600"/>
            <a:ext cx="9829800" cy="3363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We do not want to try to import files that are not csv files</a:t>
            </a:r>
          </a:p>
          <a:p>
            <a:pPr marL="342900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Use a for loop to keep only the files that are csv files</a:t>
            </a:r>
          </a:p>
          <a:p>
            <a:pPr marL="342900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Rectangle 1"/>
          <p:cNvSpPr txBox="1">
            <a:spLocks noChangeArrowheads="1"/>
          </p:cNvSpPr>
          <p:nvPr/>
        </p:nvSpPr>
        <p:spPr>
          <a:xfrm>
            <a:off x="0" y="1"/>
            <a:ext cx="12192000" cy="685799"/>
          </a:xfrm>
          <a:prstGeom prst="rect">
            <a:avLst/>
          </a:prstGeom>
          <a:solidFill>
            <a:srgbClr val="BF5700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defPPr>
              <a:defRPr lang="en-US"/>
            </a:defPPr>
            <a:lvl1pPr marL="182880">
              <a:spcBef>
                <a:spcPct val="0"/>
              </a:spcBef>
              <a:buNone/>
              <a:defRPr sz="40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Keep only the files that are csv files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0298942-1A47-56FA-52DD-E106463F79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0878" y="1903733"/>
            <a:ext cx="5172075" cy="154191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F7E9F20-C2DD-780E-546F-2FD42FE85912}"/>
              </a:ext>
            </a:extLst>
          </p:cNvPr>
          <p:cNvSpPr/>
          <p:nvPr/>
        </p:nvSpPr>
        <p:spPr>
          <a:xfrm>
            <a:off x="5791200" y="2057400"/>
            <a:ext cx="381000" cy="2286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50530AC-2E8D-62E5-A933-BC6F9F755FC2}"/>
              </a:ext>
            </a:extLst>
          </p:cNvPr>
          <p:cNvSpPr/>
          <p:nvPr/>
        </p:nvSpPr>
        <p:spPr>
          <a:xfrm>
            <a:off x="3143250" y="2213610"/>
            <a:ext cx="381000" cy="2286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1792750-99FB-B177-84AC-0C0167DEB883}"/>
              </a:ext>
            </a:extLst>
          </p:cNvPr>
          <p:cNvSpPr/>
          <p:nvPr/>
        </p:nvSpPr>
        <p:spPr>
          <a:xfrm>
            <a:off x="4126230" y="2217420"/>
            <a:ext cx="381000" cy="2286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E53AEB1-6B57-5AF1-2440-9A68374D3E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4148252"/>
            <a:ext cx="5757863" cy="2174060"/>
          </a:xfrm>
          <a:prstGeom prst="rect">
            <a:avLst/>
          </a:prstGeom>
        </p:spPr>
      </p:pic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3F599305-0EE6-490C-BEBD-140EDAA83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</p:spPr>
        <p:txBody>
          <a:bodyPr/>
          <a:lstStyle/>
          <a:p>
            <a:r>
              <a:rPr lang="en-US" dirty="0"/>
              <a:t>EVE310 Fall 2025 Lab 19</a:t>
            </a:r>
          </a:p>
        </p:txBody>
      </p:sp>
    </p:spTree>
    <p:extLst>
      <p:ext uri="{BB962C8B-B14F-4D97-AF65-F5344CB8AC3E}">
        <p14:creationId xmlns:p14="http://schemas.microsoft.com/office/powerpoint/2010/main" val="1451555036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848B6-D328-4CC8-99C6-D5689AE94DF4}" type="slidenum">
              <a:rPr lang="en-US" smtClean="0"/>
              <a:t>10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990600" y="1371600"/>
            <a:ext cx="9829800" cy="14852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Now, the variable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csv_files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only contains the csv files that we want to analyze</a:t>
            </a:r>
          </a:p>
          <a:p>
            <a:pPr marL="342900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Rectangle 1"/>
          <p:cNvSpPr txBox="1">
            <a:spLocks noChangeArrowheads="1"/>
          </p:cNvSpPr>
          <p:nvPr/>
        </p:nvSpPr>
        <p:spPr>
          <a:xfrm>
            <a:off x="0" y="1"/>
            <a:ext cx="12192000" cy="685799"/>
          </a:xfrm>
          <a:prstGeom prst="rect">
            <a:avLst/>
          </a:prstGeom>
          <a:solidFill>
            <a:srgbClr val="BF5700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defPPr>
              <a:defRPr lang="en-US"/>
            </a:defPPr>
            <a:lvl1pPr marL="182880">
              <a:spcBef>
                <a:spcPct val="0"/>
              </a:spcBef>
              <a:buNone/>
              <a:defRPr sz="40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Keep only the files that are csv files (cont.)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4DD6BD-C707-BD6F-3E66-DF9B6A96C4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0" y="2514600"/>
            <a:ext cx="6823076" cy="1605744"/>
          </a:xfrm>
          <a:prstGeom prst="rect">
            <a:avLst/>
          </a:prstGeom>
        </p:spPr>
      </p:pic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B31D4C7B-8665-4536-B5F6-8585AB106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</p:spPr>
        <p:txBody>
          <a:bodyPr/>
          <a:lstStyle/>
          <a:p>
            <a:r>
              <a:rPr lang="en-US" dirty="0"/>
              <a:t>EVE310 Fall 2025 Lab 19</a:t>
            </a:r>
          </a:p>
        </p:txBody>
      </p:sp>
    </p:spTree>
    <p:extLst>
      <p:ext uri="{BB962C8B-B14F-4D97-AF65-F5344CB8AC3E}">
        <p14:creationId xmlns:p14="http://schemas.microsoft.com/office/powerpoint/2010/main" val="1137770562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557046E7-FDB9-0A51-0F89-EE07DA5652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0358" y="2385919"/>
            <a:ext cx="4812441" cy="3897650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848B6-D328-4CC8-99C6-D5689AE94DF4}" type="slidenum">
              <a:rPr lang="en-US" smtClean="0"/>
              <a:t>11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990600" y="895547"/>
            <a:ext cx="9829800" cy="20601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Now, the variable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csv_files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only contains the csv files that we want to analyze</a:t>
            </a:r>
          </a:p>
          <a:p>
            <a:pPr marL="342900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Loop through the file names in this list </a:t>
            </a:r>
          </a:p>
          <a:p>
            <a:pPr marL="342900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Rectangle 1"/>
          <p:cNvSpPr txBox="1">
            <a:spLocks noChangeArrowheads="1"/>
          </p:cNvSpPr>
          <p:nvPr/>
        </p:nvSpPr>
        <p:spPr>
          <a:xfrm>
            <a:off x="0" y="1"/>
            <a:ext cx="12192000" cy="685799"/>
          </a:xfrm>
          <a:prstGeom prst="rect">
            <a:avLst/>
          </a:prstGeom>
          <a:solidFill>
            <a:srgbClr val="BF5700"/>
          </a:solidFill>
        </p:spPr>
        <p:txBody>
          <a:bodyPr vert="horz" lIns="91440" tIns="45720" rIns="91440" bIns="45720" rtlCol="0" anchor="ctr">
            <a:normAutofit fontScale="92500"/>
          </a:bodyPr>
          <a:lstStyle>
            <a:defPPr>
              <a:defRPr lang="en-US"/>
            </a:defPPr>
            <a:lvl1pPr marL="182880">
              <a:spcBef>
                <a:spcPct val="0"/>
              </a:spcBef>
              <a:buNone/>
              <a:defRPr sz="40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Use for loop and </a:t>
            </a:r>
            <a:r>
              <a:rPr lang="en-US" dirty="0" err="1"/>
              <a:t>csv_files</a:t>
            </a:r>
            <a:r>
              <a:rPr lang="en-US" dirty="0"/>
              <a:t> list in place of </a:t>
            </a:r>
            <a:r>
              <a:rPr lang="en-US" dirty="0" err="1"/>
              <a:t>file_name</a:t>
            </a:r>
            <a:r>
              <a:rPr lang="en-US" dirty="0"/>
              <a:t> variable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E9729B2-2561-A6DB-55EC-563D5B762C35}"/>
              </a:ext>
            </a:extLst>
          </p:cNvPr>
          <p:cNvCxnSpPr>
            <a:cxnSpLocks/>
          </p:cNvCxnSpPr>
          <p:nvPr/>
        </p:nvCxnSpPr>
        <p:spPr>
          <a:xfrm flipH="1">
            <a:off x="5097462" y="3989541"/>
            <a:ext cx="2627312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DCA722F-95B0-2729-D82C-C8E248B39428}"/>
              </a:ext>
            </a:extLst>
          </p:cNvPr>
          <p:cNvCxnSpPr>
            <a:cxnSpLocks/>
          </p:cNvCxnSpPr>
          <p:nvPr/>
        </p:nvCxnSpPr>
        <p:spPr>
          <a:xfrm flipH="1">
            <a:off x="4648200" y="4267200"/>
            <a:ext cx="312420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Left Brace 19">
            <a:extLst>
              <a:ext uri="{FF2B5EF4-FFF2-40B4-BE49-F238E27FC236}">
                <a16:creationId xmlns:a16="http://schemas.microsoft.com/office/drawing/2014/main" id="{3BF35DF8-5789-52CD-2C14-798276BF7911}"/>
              </a:ext>
            </a:extLst>
          </p:cNvPr>
          <p:cNvSpPr/>
          <p:nvPr/>
        </p:nvSpPr>
        <p:spPr>
          <a:xfrm>
            <a:off x="2033589" y="4473824"/>
            <a:ext cx="1041400" cy="1828795"/>
          </a:xfrm>
          <a:prstGeom prst="leftBrac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4D876CC-788B-C88C-BDCD-08B10D950F87}"/>
              </a:ext>
            </a:extLst>
          </p:cNvPr>
          <p:cNvSpPr txBox="1"/>
          <p:nvPr/>
        </p:nvSpPr>
        <p:spPr>
          <a:xfrm>
            <a:off x="7791450" y="3562334"/>
            <a:ext cx="3998912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For loop, use the variable i as the index for each file name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70BBA12-9385-20C2-A7B3-9C671060B943}"/>
              </a:ext>
            </a:extLst>
          </p:cNvPr>
          <p:cNvSpPr txBox="1"/>
          <p:nvPr/>
        </p:nvSpPr>
        <p:spPr>
          <a:xfrm>
            <a:off x="7799387" y="4120238"/>
            <a:ext cx="3402013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Index </a:t>
            </a:r>
            <a:r>
              <a:rPr lang="en-US" sz="1600" dirty="0" err="1"/>
              <a:t>csv_files</a:t>
            </a:r>
            <a:r>
              <a:rPr lang="en-US" sz="1600" dirty="0"/>
              <a:t> to extract the file name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6A64C4E-8296-7763-3C58-85C9A00A6515}"/>
              </a:ext>
            </a:extLst>
          </p:cNvPr>
          <p:cNvSpPr txBox="1"/>
          <p:nvPr/>
        </p:nvSpPr>
        <p:spPr>
          <a:xfrm>
            <a:off x="228600" y="4372558"/>
            <a:ext cx="1995488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The rest of the analysis is the same as the single-file analysis, but inside the for loop</a:t>
            </a:r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8E88421D-A589-4395-9B63-8566F2174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</p:spPr>
        <p:txBody>
          <a:bodyPr/>
          <a:lstStyle/>
          <a:p>
            <a:r>
              <a:rPr lang="en-US" dirty="0"/>
              <a:t>EVE310 Fall 2025 Lab 19</a:t>
            </a:r>
          </a:p>
        </p:txBody>
      </p:sp>
    </p:spTree>
    <p:extLst>
      <p:ext uri="{BB962C8B-B14F-4D97-AF65-F5344CB8AC3E}">
        <p14:creationId xmlns:p14="http://schemas.microsoft.com/office/powerpoint/2010/main" val="2697670299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848B6-D328-4CC8-99C6-D5689AE94DF4}" type="slidenum">
              <a:rPr lang="en-US" smtClean="0"/>
              <a:t>12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914400" y="885996"/>
            <a:ext cx="6248400" cy="3056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Multiple printed boxplots</a:t>
            </a:r>
          </a:p>
          <a:p>
            <a:pPr marL="342900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Only had to hit “run” once</a:t>
            </a:r>
          </a:p>
          <a:p>
            <a:pPr marL="342900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If it takes a while, you can go eat lunch and have your plots made when you get back!</a:t>
            </a:r>
          </a:p>
          <a:p>
            <a:pPr marL="342900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This example was for 24 files, but would work with many more</a:t>
            </a:r>
          </a:p>
        </p:txBody>
      </p:sp>
      <p:sp>
        <p:nvSpPr>
          <p:cNvPr id="5" name="Rectangle 1"/>
          <p:cNvSpPr txBox="1">
            <a:spLocks noChangeArrowheads="1"/>
          </p:cNvSpPr>
          <p:nvPr/>
        </p:nvSpPr>
        <p:spPr>
          <a:xfrm>
            <a:off x="0" y="1"/>
            <a:ext cx="12192000" cy="685799"/>
          </a:xfrm>
          <a:prstGeom prst="rect">
            <a:avLst/>
          </a:prstGeom>
          <a:solidFill>
            <a:srgbClr val="BF5700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defPPr>
              <a:defRPr lang="en-US"/>
            </a:defPPr>
            <a:lvl1pPr marL="182880">
              <a:spcBef>
                <a:spcPct val="0"/>
              </a:spcBef>
              <a:buNone/>
              <a:defRPr sz="40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Results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F0BBDA4-5DD4-33DF-012C-04FB856867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0" y="1219200"/>
            <a:ext cx="4708511" cy="4876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8369754-6C3F-4CD3-1F4C-5B8063AA1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4038600"/>
            <a:ext cx="3702656" cy="2796039"/>
          </a:xfrm>
          <a:prstGeom prst="rect">
            <a:avLst/>
          </a:prstGeom>
        </p:spPr>
      </p:pic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E506587A-7C69-4AF3-8A5F-CA536E03C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</p:spPr>
        <p:txBody>
          <a:bodyPr/>
          <a:lstStyle/>
          <a:p>
            <a:r>
              <a:rPr lang="en-US" dirty="0"/>
              <a:t>EVE310 Fall 2025 Lab 19</a:t>
            </a:r>
          </a:p>
        </p:txBody>
      </p:sp>
    </p:spTree>
    <p:extLst>
      <p:ext uri="{BB962C8B-B14F-4D97-AF65-F5344CB8AC3E}">
        <p14:creationId xmlns:p14="http://schemas.microsoft.com/office/powerpoint/2010/main" val="1851755981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848B6-D328-4CC8-99C6-D5689AE94DF4}" type="slidenum">
              <a:rPr lang="en-US" smtClean="0"/>
              <a:t>13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990600" y="751151"/>
            <a:ext cx="9296400" cy="47807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For Loop Variable – do not use i as another variable</a:t>
            </a:r>
          </a:p>
          <a:p>
            <a:pPr marL="342900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</a:pP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</a:pP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800100" lvl="1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variable i is used as the index for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csv_files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 If there is another for loop as part of the analysis, use a different variable as an index (j, k etc.)</a:t>
            </a:r>
          </a:p>
        </p:txBody>
      </p:sp>
      <p:sp>
        <p:nvSpPr>
          <p:cNvPr id="5" name="Rectangle 1"/>
          <p:cNvSpPr txBox="1">
            <a:spLocks noChangeArrowheads="1"/>
          </p:cNvSpPr>
          <p:nvPr/>
        </p:nvSpPr>
        <p:spPr>
          <a:xfrm>
            <a:off x="0" y="1"/>
            <a:ext cx="12192000" cy="685799"/>
          </a:xfrm>
          <a:prstGeom prst="rect">
            <a:avLst/>
          </a:prstGeom>
          <a:solidFill>
            <a:srgbClr val="BF5700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defPPr>
              <a:defRPr lang="en-US"/>
            </a:defPPr>
            <a:lvl1pPr marL="182880">
              <a:spcBef>
                <a:spcPct val="0"/>
              </a:spcBef>
              <a:buNone/>
              <a:defRPr sz="40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Important Caveats/Things to Remember (1)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4D2D873-9DED-6DC1-0169-80FCB5B5CD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7350" y="1380938"/>
            <a:ext cx="5099050" cy="2352862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EC97C47-21BB-246A-7D70-411D74FDE41B}"/>
              </a:ext>
            </a:extLst>
          </p:cNvPr>
          <p:cNvCxnSpPr>
            <a:cxnSpLocks/>
          </p:cNvCxnSpPr>
          <p:nvPr/>
        </p:nvCxnSpPr>
        <p:spPr>
          <a:xfrm flipV="1">
            <a:off x="3352800" y="1676400"/>
            <a:ext cx="381000" cy="45720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E9183286-1633-4D3D-A4A7-8E936C4B4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</p:spPr>
        <p:txBody>
          <a:bodyPr/>
          <a:lstStyle/>
          <a:p>
            <a:r>
              <a:rPr lang="en-US" dirty="0"/>
              <a:t>EVE310 Fall 2025 Lab 19</a:t>
            </a:r>
          </a:p>
        </p:txBody>
      </p:sp>
    </p:spTree>
    <p:extLst>
      <p:ext uri="{BB962C8B-B14F-4D97-AF65-F5344CB8AC3E}">
        <p14:creationId xmlns:p14="http://schemas.microsoft.com/office/powerpoint/2010/main" val="1162056412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24321ADC-815F-4853-BC0F-E1373C292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</p:spPr>
        <p:txBody>
          <a:bodyPr/>
          <a:lstStyle/>
          <a:p>
            <a:r>
              <a:rPr lang="en-US" dirty="0"/>
              <a:t>EVE310 Fall 2025 Lab 19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848B6-D328-4CC8-99C6-D5689AE94DF4}" type="slidenum">
              <a:rPr lang="en-US" smtClean="0"/>
              <a:t>14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990600" y="1295400"/>
            <a:ext cx="9296400" cy="1906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Modify name of saved file/output based on each input file name</a:t>
            </a:r>
          </a:p>
          <a:p>
            <a:pPr marL="800100" lvl="1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Otherwise, all saved figures will have the same file name and overwrite each other. You would be left with just 1 figure at the end </a:t>
            </a:r>
          </a:p>
        </p:txBody>
      </p:sp>
      <p:sp>
        <p:nvSpPr>
          <p:cNvPr id="5" name="Rectangle 1"/>
          <p:cNvSpPr txBox="1">
            <a:spLocks noChangeArrowheads="1"/>
          </p:cNvSpPr>
          <p:nvPr/>
        </p:nvSpPr>
        <p:spPr>
          <a:xfrm>
            <a:off x="0" y="1"/>
            <a:ext cx="12192000" cy="685799"/>
          </a:xfrm>
          <a:prstGeom prst="rect">
            <a:avLst/>
          </a:prstGeom>
          <a:solidFill>
            <a:srgbClr val="BF5700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defPPr>
              <a:defRPr lang="en-US"/>
            </a:defPPr>
            <a:lvl1pPr marL="182880">
              <a:spcBef>
                <a:spcPct val="0"/>
              </a:spcBef>
              <a:buNone/>
              <a:defRPr sz="40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Important Caveats/Things to Remember (2)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939A057-F249-09AB-943E-BA0954041D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400" y="3531018"/>
            <a:ext cx="4724400" cy="175283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E50D0A3-0216-9E35-52C4-249D72F9C7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531018"/>
            <a:ext cx="4800600" cy="1527464"/>
          </a:xfrm>
          <a:prstGeom prst="rect">
            <a:avLst/>
          </a:prstGeom>
        </p:spPr>
      </p:pic>
      <p:sp>
        <p:nvSpPr>
          <p:cNvPr id="12" name="Arrow: Curved Down 11">
            <a:extLst>
              <a:ext uri="{FF2B5EF4-FFF2-40B4-BE49-F238E27FC236}">
                <a16:creationId xmlns:a16="http://schemas.microsoft.com/office/drawing/2014/main" id="{CE47107E-80BA-9804-4595-83AA3CDB6037}"/>
              </a:ext>
            </a:extLst>
          </p:cNvPr>
          <p:cNvSpPr/>
          <p:nvPr/>
        </p:nvSpPr>
        <p:spPr>
          <a:xfrm rot="16200000">
            <a:off x="571500" y="4178837"/>
            <a:ext cx="990600" cy="457200"/>
          </a:xfrm>
          <a:prstGeom prst="curved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1551C40-4FD2-561A-C3C0-73D73BF0D096}"/>
              </a:ext>
            </a:extLst>
          </p:cNvPr>
          <p:cNvCxnSpPr>
            <a:cxnSpLocks/>
          </p:cNvCxnSpPr>
          <p:nvPr/>
        </p:nvCxnSpPr>
        <p:spPr>
          <a:xfrm flipH="1" flipV="1">
            <a:off x="1600200" y="4908553"/>
            <a:ext cx="2209800" cy="806447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E88DC9F-5490-6734-3F04-79184B7ABACD}"/>
              </a:ext>
            </a:extLst>
          </p:cNvPr>
          <p:cNvCxnSpPr>
            <a:cxnSpLocks/>
          </p:cNvCxnSpPr>
          <p:nvPr/>
        </p:nvCxnSpPr>
        <p:spPr>
          <a:xfrm flipV="1">
            <a:off x="5791200" y="5159376"/>
            <a:ext cx="1600200" cy="55562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0202792-982A-A363-631C-49760268ED1B}"/>
              </a:ext>
            </a:extLst>
          </p:cNvPr>
          <p:cNvSpPr txBox="1"/>
          <p:nvPr/>
        </p:nvSpPr>
        <p:spPr>
          <a:xfrm>
            <a:off x="2235200" y="5680737"/>
            <a:ext cx="4572000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Building is a variable which changes based on the file being imported. Contains a 3-letter string of which building is being analyzed.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889BE0F-0C7A-F81F-3037-18859A39A05D}"/>
              </a:ext>
            </a:extLst>
          </p:cNvPr>
          <p:cNvSpPr txBox="1"/>
          <p:nvPr/>
        </p:nvSpPr>
        <p:spPr>
          <a:xfrm>
            <a:off x="8229600" y="5843378"/>
            <a:ext cx="3048000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The + symbol here concatenates the two strings together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098F67D-E250-CC1E-CD2E-22F80C1E60B3}"/>
              </a:ext>
            </a:extLst>
          </p:cNvPr>
          <p:cNvCxnSpPr>
            <a:cxnSpLocks/>
          </p:cNvCxnSpPr>
          <p:nvPr/>
        </p:nvCxnSpPr>
        <p:spPr>
          <a:xfrm flipH="1" flipV="1">
            <a:off x="7721600" y="5135502"/>
            <a:ext cx="762000" cy="693589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3262096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848B6-D328-4CC8-99C6-D5689AE94DF4}" type="slidenum">
              <a:rPr lang="en-US" smtClean="0"/>
              <a:t>15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990600" y="838200"/>
            <a:ext cx="9296400" cy="63516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Each csv file needs to be formatted the same way with the same type of information in each column</a:t>
            </a:r>
          </a:p>
          <a:p>
            <a:pPr marL="342900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</a:pP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 this example, each of the column headings are the same, and each column has the same type of data (first is datetime, second is a number)</a:t>
            </a:r>
          </a:p>
          <a:p>
            <a:pPr marL="342900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lvl="1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</a:pP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Rectangle 1"/>
          <p:cNvSpPr txBox="1">
            <a:spLocks noChangeArrowheads="1"/>
          </p:cNvSpPr>
          <p:nvPr/>
        </p:nvSpPr>
        <p:spPr>
          <a:xfrm>
            <a:off x="0" y="1"/>
            <a:ext cx="12192000" cy="685799"/>
          </a:xfrm>
          <a:prstGeom prst="rect">
            <a:avLst/>
          </a:prstGeom>
          <a:solidFill>
            <a:srgbClr val="BF5700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defPPr>
              <a:defRPr lang="en-US"/>
            </a:defPPr>
            <a:lvl1pPr marL="182880">
              <a:spcBef>
                <a:spcPct val="0"/>
              </a:spcBef>
              <a:buNone/>
              <a:defRPr sz="40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Important Caveats/Things to Remember (3)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81F4F94-E009-1519-1B5F-58DE375A92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5800" y="1752600"/>
            <a:ext cx="3459626" cy="2895600"/>
          </a:xfrm>
          <a:prstGeom prst="rect">
            <a:avLst/>
          </a:prstGeom>
        </p:spPr>
      </p:pic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2D887199-1C1A-4C03-895C-303641EB1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</p:spPr>
        <p:txBody>
          <a:bodyPr/>
          <a:lstStyle/>
          <a:p>
            <a:r>
              <a:rPr lang="en-US" dirty="0"/>
              <a:t>EVE310 Fall 2025 Lab 19</a:t>
            </a:r>
          </a:p>
        </p:txBody>
      </p:sp>
    </p:spTree>
    <p:extLst>
      <p:ext uri="{BB962C8B-B14F-4D97-AF65-F5344CB8AC3E}">
        <p14:creationId xmlns:p14="http://schemas.microsoft.com/office/powerpoint/2010/main" val="1250723241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848B6-D328-4CC8-99C6-D5689AE94DF4}" type="slidenum">
              <a:rPr lang="en-US" smtClean="0"/>
              <a:t>16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990600" y="1371600"/>
            <a:ext cx="8345394" cy="16391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 useful technique to analyze multiple datasets at once</a:t>
            </a:r>
          </a:p>
          <a:p>
            <a:pPr marL="342900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Could be very useful in a future work scenario</a:t>
            </a:r>
          </a:p>
          <a:p>
            <a:pPr marL="342900" indent="-3429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Rectangle 1"/>
          <p:cNvSpPr txBox="1">
            <a:spLocks noChangeArrowheads="1"/>
          </p:cNvSpPr>
          <p:nvPr/>
        </p:nvSpPr>
        <p:spPr>
          <a:xfrm>
            <a:off x="0" y="1"/>
            <a:ext cx="12192000" cy="685799"/>
          </a:xfrm>
          <a:prstGeom prst="rect">
            <a:avLst/>
          </a:prstGeom>
          <a:solidFill>
            <a:srgbClr val="BF5700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defPPr>
              <a:defRPr lang="en-US"/>
            </a:defPPr>
            <a:lvl1pPr marL="182880">
              <a:spcBef>
                <a:spcPct val="0"/>
              </a:spcBef>
              <a:buNone/>
              <a:defRPr sz="40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Summary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F87947-9705-4512-A1ED-A1B95412E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</p:spPr>
        <p:txBody>
          <a:bodyPr/>
          <a:lstStyle/>
          <a:p>
            <a:r>
              <a:rPr lang="en-US" dirty="0"/>
              <a:t>EVE310 Fall 2025 Lab 19</a:t>
            </a:r>
          </a:p>
        </p:txBody>
      </p:sp>
    </p:spTree>
    <p:extLst>
      <p:ext uri="{BB962C8B-B14F-4D97-AF65-F5344CB8AC3E}">
        <p14:creationId xmlns:p14="http://schemas.microsoft.com/office/powerpoint/2010/main" val="1130754677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848B6-D328-4CC8-99C6-D5689AE94DF4}" type="slidenum">
              <a:rPr lang="en-US" smtClean="0"/>
              <a:t>17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2152650" y="3018887"/>
            <a:ext cx="7886700" cy="8202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</a:pPr>
            <a:r>
              <a:rPr lang="en-US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Thanks for a great semester!</a:t>
            </a:r>
          </a:p>
        </p:txBody>
      </p:sp>
      <p:sp>
        <p:nvSpPr>
          <p:cNvPr id="5" name="Rectangle 1"/>
          <p:cNvSpPr txBox="1">
            <a:spLocks noChangeArrowheads="1"/>
          </p:cNvSpPr>
          <p:nvPr/>
        </p:nvSpPr>
        <p:spPr>
          <a:xfrm>
            <a:off x="0" y="1"/>
            <a:ext cx="12192000" cy="685799"/>
          </a:xfrm>
          <a:prstGeom prst="rect">
            <a:avLst/>
          </a:prstGeom>
          <a:solidFill>
            <a:srgbClr val="BF5700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defPPr>
              <a:defRPr lang="en-US"/>
            </a:defPPr>
            <a:lvl1pPr marL="182880">
              <a:spcBef>
                <a:spcPct val="0"/>
              </a:spcBef>
              <a:buNone/>
              <a:defRPr sz="40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213751-D2EC-4E74-976B-E57CB97DD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</p:spPr>
        <p:txBody>
          <a:bodyPr/>
          <a:lstStyle/>
          <a:p>
            <a:r>
              <a:rPr lang="en-US" dirty="0"/>
              <a:t>EVE310 Fall 2025 Lab 19</a:t>
            </a:r>
          </a:p>
        </p:txBody>
      </p:sp>
    </p:spTree>
    <p:extLst>
      <p:ext uri="{BB962C8B-B14F-4D97-AF65-F5344CB8AC3E}">
        <p14:creationId xmlns:p14="http://schemas.microsoft.com/office/powerpoint/2010/main" val="695223852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54391</TotalTime>
  <Words>823</Words>
  <Application>Microsoft Macintosh PowerPoint</Application>
  <PresentationFormat>Widescreen</PresentationFormat>
  <Paragraphs>123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EVE310 Lab 9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 356 Elements of Hydraulic Engineering</dc:title>
  <dc:creator>lina</dc:creator>
  <cp:lastModifiedBy>Gupta, Priyanshu R</cp:lastModifiedBy>
  <cp:revision>1057</cp:revision>
  <cp:lastPrinted>2021-11-18T19:25:38Z</cp:lastPrinted>
  <dcterms:created xsi:type="dcterms:W3CDTF">2016-07-06T18:20:35Z</dcterms:created>
  <dcterms:modified xsi:type="dcterms:W3CDTF">2025-11-04T17:02:06Z</dcterms:modified>
</cp:coreProperties>
</file>