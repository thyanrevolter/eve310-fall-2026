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765" r:id="rId2"/>
    <p:sldId id="1013" r:id="rId3"/>
    <p:sldId id="984" r:id="rId4"/>
    <p:sldId id="1008" r:id="rId5"/>
    <p:sldId id="992" r:id="rId6"/>
    <p:sldId id="985" r:id="rId7"/>
    <p:sldId id="986" r:id="rId8"/>
    <p:sldId id="987" r:id="rId9"/>
    <p:sldId id="988" r:id="rId10"/>
    <p:sldId id="1012" r:id="rId11"/>
    <p:sldId id="932" r:id="rId12"/>
    <p:sldId id="1010" r:id="rId13"/>
    <p:sldId id="1011" r:id="rId14"/>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5700"/>
    <a:srgbClr val="0000FF"/>
    <a:srgbClr val="FFFF99"/>
    <a:srgbClr val="1D4371"/>
    <a:srgbClr val="003399"/>
    <a:srgbClr val="385D8A"/>
    <a:srgbClr val="0070C0"/>
    <a:srgbClr val="990000"/>
    <a:srgbClr val="9933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58" autoAdjust="0"/>
    <p:restoredTop sz="88095" autoAdjust="0"/>
  </p:normalViewPr>
  <p:slideViewPr>
    <p:cSldViewPr>
      <p:cViewPr varScale="1">
        <p:scale>
          <a:sx n="112" d="100"/>
          <a:sy n="112" d="100"/>
        </p:scale>
        <p:origin x="1120" y="184"/>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2AF32567-CE0A-411B-A193-274813F6AC70}" type="datetimeFigureOut">
              <a:rPr lang="en-US" smtClean="0"/>
              <a:t>10/30/25</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58AE2663-530C-4834-9F93-457B710879FD}" type="slidenum">
              <a:rPr lang="en-US" smtClean="0"/>
              <a:t>‹#›</a:t>
            </a:fld>
            <a:endParaRPr lang="en-US"/>
          </a:p>
        </p:txBody>
      </p:sp>
    </p:spTree>
    <p:extLst>
      <p:ext uri="{BB962C8B-B14F-4D97-AF65-F5344CB8AC3E}">
        <p14:creationId xmlns:p14="http://schemas.microsoft.com/office/powerpoint/2010/main" val="33135313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5C2C7CE7-C9CA-47EF-8702-BBFECB6E221C}" type="datetimeFigureOut">
              <a:rPr lang="en-US" smtClean="0"/>
              <a:t>10/30/25</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F447469E-A8B3-4EDF-ACC8-6B5423908F78}" type="slidenum">
              <a:rPr lang="en-US" smtClean="0"/>
              <a:t>‹#›</a:t>
            </a:fld>
            <a:endParaRPr lang="en-US"/>
          </a:p>
        </p:txBody>
      </p:sp>
    </p:spTree>
    <p:extLst>
      <p:ext uri="{BB962C8B-B14F-4D97-AF65-F5344CB8AC3E}">
        <p14:creationId xmlns:p14="http://schemas.microsoft.com/office/powerpoint/2010/main" val="1501627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3</a:t>
            </a:fld>
            <a:endParaRPr lang="en-US"/>
          </a:p>
        </p:txBody>
      </p:sp>
    </p:spTree>
    <p:extLst>
      <p:ext uri="{BB962C8B-B14F-4D97-AF65-F5344CB8AC3E}">
        <p14:creationId xmlns:p14="http://schemas.microsoft.com/office/powerpoint/2010/main" val="4243844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en-US" b="0" i="0" dirty="0">
                <a:solidFill>
                  <a:srgbClr val="000000"/>
                </a:solidFill>
                <a:effectLst/>
                <a:latin typeface="Helvetica Neue"/>
              </a:rPr>
              <a:t>If statements are useful to run lines of code only if a certain condition is true.</a:t>
            </a:r>
          </a:p>
          <a:p>
            <a:pPr algn="l">
              <a:buFont typeface="Arial" panose="020B0604020202020204" pitchFamily="34" charset="0"/>
              <a:buChar char="•"/>
            </a:pPr>
            <a:r>
              <a:rPr lang="en-US" b="0" i="0" dirty="0">
                <a:solidFill>
                  <a:srgbClr val="000000"/>
                </a:solidFill>
                <a:effectLst/>
                <a:latin typeface="Helvetica Neue"/>
              </a:rPr>
              <a:t>For loops are </a:t>
            </a:r>
            <a:r>
              <a:rPr lang="en-US" b="0" i="0" dirty="0" err="1">
                <a:solidFill>
                  <a:srgbClr val="000000"/>
                </a:solidFill>
                <a:effectLst/>
                <a:latin typeface="Helvetica Neue"/>
              </a:rPr>
              <a:t>usful</a:t>
            </a:r>
            <a:r>
              <a:rPr lang="en-US" b="0" i="0" dirty="0">
                <a:solidFill>
                  <a:srgbClr val="000000"/>
                </a:solidFill>
                <a:effectLst/>
                <a:latin typeface="Helvetica Neue"/>
              </a:rPr>
              <a:t> to automate </a:t>
            </a:r>
            <a:r>
              <a:rPr lang="en-US" b="0" i="0" dirty="0" err="1">
                <a:solidFill>
                  <a:srgbClr val="000000"/>
                </a:solidFill>
                <a:effectLst/>
                <a:latin typeface="Helvetica Neue"/>
              </a:rPr>
              <a:t>repetetitive</a:t>
            </a:r>
            <a:r>
              <a:rPr lang="en-US" b="0" i="0" dirty="0">
                <a:solidFill>
                  <a:srgbClr val="000000"/>
                </a:solidFill>
                <a:effectLst/>
                <a:latin typeface="Helvetica Neue"/>
              </a:rPr>
              <a:t> tasks in a short amount of code.</a:t>
            </a:r>
          </a:p>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4</a:t>
            </a:fld>
            <a:endParaRPr lang="en-US"/>
          </a:p>
        </p:txBody>
      </p:sp>
    </p:spTree>
    <p:extLst>
      <p:ext uri="{BB962C8B-B14F-4D97-AF65-F5344CB8AC3E}">
        <p14:creationId xmlns:p14="http://schemas.microsoft.com/office/powerpoint/2010/main" val="39913817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I believe that you discussed the logistic regression problem for the real world case, which was about pipe failures in Austin. So the first graph shows the correlation trend between years from the last failure and the probability of failures. </a:t>
            </a:r>
          </a:p>
        </p:txBody>
      </p:sp>
      <p:sp>
        <p:nvSpPr>
          <p:cNvPr id="4" name="Slide Number Placeholder 3"/>
          <p:cNvSpPr>
            <a:spLocks noGrp="1"/>
          </p:cNvSpPr>
          <p:nvPr>
            <p:ph type="sldNum" sz="quarter" idx="10"/>
          </p:nvPr>
        </p:nvSpPr>
        <p:spPr/>
        <p:txBody>
          <a:bodyPr/>
          <a:lstStyle/>
          <a:p>
            <a:fld id="{0D2A8CFD-7D0E-984D-8B4C-26FF9E5765E5}" type="slidenum">
              <a:rPr lang="en-US" smtClean="0"/>
              <a:pPr/>
              <a:t>5</a:t>
            </a:fld>
            <a:endParaRPr lang="en-US"/>
          </a:p>
        </p:txBody>
      </p:sp>
    </p:spTree>
    <p:extLst>
      <p:ext uri="{BB962C8B-B14F-4D97-AF65-F5344CB8AC3E}">
        <p14:creationId xmlns:p14="http://schemas.microsoft.com/office/powerpoint/2010/main" val="3521760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6</a:t>
            </a:fld>
            <a:endParaRPr lang="en-US"/>
          </a:p>
        </p:txBody>
      </p:sp>
    </p:spTree>
    <p:extLst>
      <p:ext uri="{BB962C8B-B14F-4D97-AF65-F5344CB8AC3E}">
        <p14:creationId xmlns:p14="http://schemas.microsoft.com/office/powerpoint/2010/main" val="1381370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7</a:t>
            </a:fld>
            <a:endParaRPr lang="en-US"/>
          </a:p>
        </p:txBody>
      </p:sp>
    </p:spTree>
    <p:extLst>
      <p:ext uri="{BB962C8B-B14F-4D97-AF65-F5344CB8AC3E}">
        <p14:creationId xmlns:p14="http://schemas.microsoft.com/office/powerpoint/2010/main" val="1524050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8</a:t>
            </a:fld>
            <a:endParaRPr lang="en-US"/>
          </a:p>
        </p:txBody>
      </p:sp>
    </p:spTree>
    <p:extLst>
      <p:ext uri="{BB962C8B-B14F-4D97-AF65-F5344CB8AC3E}">
        <p14:creationId xmlns:p14="http://schemas.microsoft.com/office/powerpoint/2010/main" val="2756744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9</a:t>
            </a:fld>
            <a:endParaRPr lang="en-US"/>
          </a:p>
        </p:txBody>
      </p:sp>
    </p:spTree>
    <p:extLst>
      <p:ext uri="{BB962C8B-B14F-4D97-AF65-F5344CB8AC3E}">
        <p14:creationId xmlns:p14="http://schemas.microsoft.com/office/powerpoint/2010/main" val="3051794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10</a:t>
            </a:fld>
            <a:endParaRPr lang="en-US"/>
          </a:p>
        </p:txBody>
      </p:sp>
    </p:spTree>
    <p:extLst>
      <p:ext uri="{BB962C8B-B14F-4D97-AF65-F5344CB8AC3E}">
        <p14:creationId xmlns:p14="http://schemas.microsoft.com/office/powerpoint/2010/main" val="7515844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11</a:t>
            </a:fld>
            <a:endParaRPr lang="en-US"/>
          </a:p>
        </p:txBody>
      </p:sp>
    </p:spTree>
    <p:extLst>
      <p:ext uri="{BB962C8B-B14F-4D97-AF65-F5344CB8AC3E}">
        <p14:creationId xmlns:p14="http://schemas.microsoft.com/office/powerpoint/2010/main" val="3435381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b="0" i="0" dirty="0">
                <a:solidFill>
                  <a:srgbClr val="374151"/>
                </a:solidFill>
                <a:effectLst/>
                <a:latin typeface="Söhne"/>
              </a:rPr>
              <a:t>The </a:t>
            </a:r>
            <a:r>
              <a:rPr lang="en-US" dirty="0" err="1"/>
              <a:t>precision_score</a:t>
            </a:r>
            <a:r>
              <a:rPr lang="en-US" b="0" i="0" dirty="0">
                <a:solidFill>
                  <a:srgbClr val="374151"/>
                </a:solidFill>
                <a:effectLst/>
                <a:latin typeface="Söhne"/>
              </a:rPr>
              <a:t> function calculates the precision of a classification model, which is the ratio of true positives to the sum of true positives and false positives. </a:t>
            </a:r>
            <a:r>
              <a:rPr lang="en-US" b="1" i="0" dirty="0" err="1">
                <a:solidFill>
                  <a:srgbClr val="374151"/>
                </a:solidFill>
                <a:effectLst/>
                <a:latin typeface="Söhne"/>
              </a:rPr>
              <a:t>zero_division</a:t>
            </a:r>
            <a:r>
              <a:rPr lang="en-US" b="1" i="0" dirty="0">
                <a:solidFill>
                  <a:srgbClr val="374151"/>
                </a:solidFill>
                <a:effectLst/>
                <a:latin typeface="Söhne"/>
              </a:rPr>
              <a:t> parameter</a:t>
            </a:r>
            <a:r>
              <a:rPr lang="en-US" b="0" i="0" dirty="0">
                <a:solidFill>
                  <a:srgbClr val="374151"/>
                </a:solidFill>
                <a:effectLst/>
                <a:latin typeface="Söhne"/>
              </a:rPr>
              <a:t>: In cases where there are no true positives (i.e., the model hasn't correctly identified any positive cases), the precision would be undefined mathematically because you can't divide by zero.</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12</a:t>
            </a:fld>
            <a:endParaRPr lang="en-US"/>
          </a:p>
        </p:txBody>
      </p:sp>
    </p:spTree>
    <p:extLst>
      <p:ext uri="{BB962C8B-B14F-4D97-AF65-F5344CB8AC3E}">
        <p14:creationId xmlns:p14="http://schemas.microsoft.com/office/powerpoint/2010/main" val="89460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13</a:t>
            </a:fld>
            <a:endParaRPr lang="en-US"/>
          </a:p>
        </p:txBody>
      </p:sp>
    </p:spTree>
    <p:extLst>
      <p:ext uri="{BB962C8B-B14F-4D97-AF65-F5344CB8AC3E}">
        <p14:creationId xmlns:p14="http://schemas.microsoft.com/office/powerpoint/2010/main" val="2260306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7B67AB4-1999-0649-B10F-DC95876FF9AC}" type="datetime1">
              <a:rPr lang="en-US" smtClean="0"/>
              <a:t>10/30/25</a:t>
            </a:fld>
            <a:endParaRPr lang="en-US"/>
          </a:p>
        </p:txBody>
      </p:sp>
      <p:sp>
        <p:nvSpPr>
          <p:cNvPr id="5" name="Footer Placeholder 4"/>
          <p:cNvSpPr>
            <a:spLocks noGrp="1"/>
          </p:cNvSpPr>
          <p:nvPr>
            <p:ph type="ftr" sz="quarter" idx="11"/>
          </p:nvPr>
        </p:nvSpPr>
        <p:spPr/>
        <p:txBody>
          <a:bodyPr/>
          <a:lstStyle/>
          <a:p>
            <a:r>
              <a:rPr lang="en-US" dirty="0"/>
              <a:t>EVE310 Fall 2022 Lab 10</a:t>
            </a:r>
          </a:p>
        </p:txBody>
      </p:sp>
      <p:sp>
        <p:nvSpPr>
          <p:cNvPr id="6" name="Slide Number Placeholder 5"/>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747800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F31D73-191F-8C44-8459-18906774AB92}" type="datetime1">
              <a:rPr lang="en-US" smtClean="0"/>
              <a:t>10/30/25</a:t>
            </a:fld>
            <a:endParaRPr lang="en-US"/>
          </a:p>
        </p:txBody>
      </p:sp>
      <p:sp>
        <p:nvSpPr>
          <p:cNvPr id="5" name="Footer Placeholder 4"/>
          <p:cNvSpPr>
            <a:spLocks noGrp="1"/>
          </p:cNvSpPr>
          <p:nvPr>
            <p:ph type="ftr" sz="quarter" idx="11"/>
          </p:nvPr>
        </p:nvSpPr>
        <p:spPr/>
        <p:txBody>
          <a:bodyPr/>
          <a:lstStyle/>
          <a:p>
            <a:r>
              <a:rPr lang="en-US" dirty="0"/>
              <a:t>EVE310 Fall 2022 Lab 10</a:t>
            </a:r>
          </a:p>
        </p:txBody>
      </p:sp>
      <p:sp>
        <p:nvSpPr>
          <p:cNvPr id="6" name="Slide Number Placeholder 5"/>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1765250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B8B2AC-8F69-3844-BC71-31674C889CA3}" type="datetime1">
              <a:rPr lang="en-US" smtClean="0"/>
              <a:t>10/30/25</a:t>
            </a:fld>
            <a:endParaRPr lang="en-US"/>
          </a:p>
        </p:txBody>
      </p:sp>
      <p:sp>
        <p:nvSpPr>
          <p:cNvPr id="5" name="Footer Placeholder 4"/>
          <p:cNvSpPr>
            <a:spLocks noGrp="1"/>
          </p:cNvSpPr>
          <p:nvPr>
            <p:ph type="ftr" sz="quarter" idx="11"/>
          </p:nvPr>
        </p:nvSpPr>
        <p:spPr/>
        <p:txBody>
          <a:bodyPr/>
          <a:lstStyle/>
          <a:p>
            <a:r>
              <a:rPr lang="en-US" dirty="0"/>
              <a:t>EVE310 Fall 2022 Lab 10</a:t>
            </a:r>
          </a:p>
        </p:txBody>
      </p:sp>
      <p:sp>
        <p:nvSpPr>
          <p:cNvPr id="6" name="Slide Number Placeholder 5"/>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2689691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326B47-2EB5-E148-8DCE-3F3CF10DC2EE}" type="datetime1">
              <a:rPr lang="en-US" smtClean="0"/>
              <a:t>10/30/25</a:t>
            </a:fld>
            <a:endParaRPr lang="en-US"/>
          </a:p>
        </p:txBody>
      </p:sp>
      <p:sp>
        <p:nvSpPr>
          <p:cNvPr id="6" name="Footer Placeholder 5"/>
          <p:cNvSpPr>
            <a:spLocks noGrp="1"/>
          </p:cNvSpPr>
          <p:nvPr>
            <p:ph type="ftr" sz="quarter" idx="11"/>
          </p:nvPr>
        </p:nvSpPr>
        <p:spPr/>
        <p:txBody>
          <a:bodyPr/>
          <a:lstStyle/>
          <a:p>
            <a:r>
              <a:rPr lang="en-US" dirty="0"/>
              <a:t>EVE310 Fall 2022 Lab 10</a:t>
            </a:r>
          </a:p>
        </p:txBody>
      </p:sp>
      <p:sp>
        <p:nvSpPr>
          <p:cNvPr id="7" name="Slide Number Placeholder 6"/>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3912983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1E3AC96-8FE7-EE4F-8B38-B6AD3733F548}" type="datetime1">
              <a:rPr lang="en-US" smtClean="0"/>
              <a:t>10/30/25</a:t>
            </a:fld>
            <a:endParaRPr lang="en-US"/>
          </a:p>
        </p:txBody>
      </p:sp>
      <p:sp>
        <p:nvSpPr>
          <p:cNvPr id="8" name="Footer Placeholder 7"/>
          <p:cNvSpPr>
            <a:spLocks noGrp="1"/>
          </p:cNvSpPr>
          <p:nvPr>
            <p:ph type="ftr" sz="quarter" idx="11"/>
          </p:nvPr>
        </p:nvSpPr>
        <p:spPr/>
        <p:txBody>
          <a:bodyPr/>
          <a:lstStyle/>
          <a:p>
            <a:r>
              <a:rPr lang="en-US" dirty="0"/>
              <a:t>EVE310 Fall 2022 Lab 10</a:t>
            </a:r>
          </a:p>
        </p:txBody>
      </p:sp>
      <p:sp>
        <p:nvSpPr>
          <p:cNvPr id="9" name="Slide Number Placeholder 8"/>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2865842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CBB25E6-4D8C-6544-843A-80F400A2FB65}" type="datetime1">
              <a:rPr lang="en-US" smtClean="0"/>
              <a:t>10/30/25</a:t>
            </a:fld>
            <a:endParaRPr lang="en-US"/>
          </a:p>
        </p:txBody>
      </p:sp>
      <p:sp>
        <p:nvSpPr>
          <p:cNvPr id="4" name="Footer Placeholder 3"/>
          <p:cNvSpPr>
            <a:spLocks noGrp="1"/>
          </p:cNvSpPr>
          <p:nvPr>
            <p:ph type="ftr" sz="quarter" idx="11"/>
          </p:nvPr>
        </p:nvSpPr>
        <p:spPr/>
        <p:txBody>
          <a:bodyPr/>
          <a:lstStyle/>
          <a:p>
            <a:r>
              <a:rPr lang="en-US" dirty="0"/>
              <a:t>EVE310 Fall 2022 Lab 10</a:t>
            </a:r>
          </a:p>
        </p:txBody>
      </p:sp>
      <p:sp>
        <p:nvSpPr>
          <p:cNvPr id="5" name="Slide Number Placeholder 4"/>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2908462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319EB3-81DA-6947-A4E9-2C3CC875862D}" type="datetime1">
              <a:rPr lang="en-US" smtClean="0"/>
              <a:t>10/30/25</a:t>
            </a:fld>
            <a:endParaRPr lang="en-US"/>
          </a:p>
        </p:txBody>
      </p:sp>
      <p:sp>
        <p:nvSpPr>
          <p:cNvPr id="3" name="Footer Placeholder 2"/>
          <p:cNvSpPr>
            <a:spLocks noGrp="1"/>
          </p:cNvSpPr>
          <p:nvPr>
            <p:ph type="ftr" sz="quarter" idx="11"/>
          </p:nvPr>
        </p:nvSpPr>
        <p:spPr/>
        <p:txBody>
          <a:bodyPr/>
          <a:lstStyle/>
          <a:p>
            <a:r>
              <a:rPr lang="en-US" dirty="0"/>
              <a:t>EVE310 Fall 2022 Lab 10</a:t>
            </a:r>
          </a:p>
        </p:txBody>
      </p:sp>
      <p:sp>
        <p:nvSpPr>
          <p:cNvPr id="4" name="Slide Number Placeholder 3"/>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1695635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6E15CE-DFFF-F54B-A511-8A463065D0C4}" type="datetime1">
              <a:rPr lang="en-US" smtClean="0"/>
              <a:t>10/30/25</a:t>
            </a:fld>
            <a:endParaRPr lang="en-US"/>
          </a:p>
        </p:txBody>
      </p:sp>
      <p:sp>
        <p:nvSpPr>
          <p:cNvPr id="6" name="Footer Placeholder 5"/>
          <p:cNvSpPr>
            <a:spLocks noGrp="1"/>
          </p:cNvSpPr>
          <p:nvPr>
            <p:ph type="ftr" sz="quarter" idx="11"/>
          </p:nvPr>
        </p:nvSpPr>
        <p:spPr/>
        <p:txBody>
          <a:bodyPr/>
          <a:lstStyle/>
          <a:p>
            <a:r>
              <a:rPr lang="en-US" dirty="0"/>
              <a:t>EVE310 Fall 2022 Lab 10</a:t>
            </a:r>
          </a:p>
        </p:txBody>
      </p:sp>
      <p:sp>
        <p:nvSpPr>
          <p:cNvPr id="7" name="Slide Number Placeholder 6"/>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183752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EA6004-97B6-FF4F-9BDF-E02080DF668C}" type="datetime1">
              <a:rPr lang="en-US" smtClean="0"/>
              <a:t>10/30/25</a:t>
            </a:fld>
            <a:endParaRPr lang="en-US"/>
          </a:p>
        </p:txBody>
      </p:sp>
      <p:sp>
        <p:nvSpPr>
          <p:cNvPr id="6" name="Footer Placeholder 5"/>
          <p:cNvSpPr>
            <a:spLocks noGrp="1"/>
          </p:cNvSpPr>
          <p:nvPr>
            <p:ph type="ftr" sz="quarter" idx="11"/>
          </p:nvPr>
        </p:nvSpPr>
        <p:spPr/>
        <p:txBody>
          <a:bodyPr/>
          <a:lstStyle/>
          <a:p>
            <a:r>
              <a:rPr lang="en-US" dirty="0"/>
              <a:t>EVE310 Fall 2022 Lab 10</a:t>
            </a:r>
          </a:p>
        </p:txBody>
      </p:sp>
      <p:sp>
        <p:nvSpPr>
          <p:cNvPr id="7" name="Slide Number Placeholder 6"/>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653225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72972F-755A-8D43-AE97-E383F05A7133}" type="datetime1">
              <a:rPr lang="en-US" smtClean="0"/>
              <a:t>10/30/25</a:t>
            </a:fld>
            <a:endParaRPr lang="en-US"/>
          </a:p>
        </p:txBody>
      </p:sp>
      <p:sp>
        <p:nvSpPr>
          <p:cNvPr id="5" name="Footer Placeholder 4"/>
          <p:cNvSpPr>
            <a:spLocks noGrp="1"/>
          </p:cNvSpPr>
          <p:nvPr>
            <p:ph type="ftr" sz="quarter" idx="11"/>
          </p:nvPr>
        </p:nvSpPr>
        <p:spPr/>
        <p:txBody>
          <a:bodyPr/>
          <a:lstStyle/>
          <a:p>
            <a:r>
              <a:rPr lang="en-US" dirty="0"/>
              <a:t>EVE310 Fall 2022 Lab 10</a:t>
            </a:r>
          </a:p>
        </p:txBody>
      </p:sp>
      <p:sp>
        <p:nvSpPr>
          <p:cNvPr id="6" name="Slide Number Placeholder 5"/>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777051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4BD419-98D4-4746-97B5-90D18CE4925F}" type="datetime1">
              <a:rPr lang="en-US" smtClean="0"/>
              <a:t>10/30/25</a:t>
            </a:fld>
            <a:endParaRPr lang="en-US"/>
          </a:p>
        </p:txBody>
      </p:sp>
      <p:sp>
        <p:nvSpPr>
          <p:cNvPr id="5" name="Footer Placeholder 4"/>
          <p:cNvSpPr>
            <a:spLocks noGrp="1"/>
          </p:cNvSpPr>
          <p:nvPr>
            <p:ph type="ftr" sz="quarter" idx="11"/>
          </p:nvPr>
        </p:nvSpPr>
        <p:spPr/>
        <p:txBody>
          <a:bodyPr/>
          <a:lstStyle/>
          <a:p>
            <a:r>
              <a:rPr lang="en-US" dirty="0"/>
              <a:t>EVE310 Fall 2022 Lab 10</a:t>
            </a:r>
          </a:p>
        </p:txBody>
      </p:sp>
      <p:sp>
        <p:nvSpPr>
          <p:cNvPr id="6" name="Slide Number Placeholder 5"/>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3586264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282176-6665-6546-889C-E6D0DBE330B1}" type="datetime1">
              <a:rPr lang="en-US" smtClean="0"/>
              <a:t>10/30/25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EVE310 Fall 2022 Lab 10</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8848B6-D328-4CC8-99C6-D5689AE94DF4}" type="slidenum">
              <a:rPr lang="en-US" smtClean="0"/>
              <a:t>‹#›</a:t>
            </a:fld>
            <a:endParaRPr lang="en-US"/>
          </a:p>
        </p:txBody>
      </p:sp>
    </p:spTree>
    <p:extLst>
      <p:ext uri="{BB962C8B-B14F-4D97-AF65-F5344CB8AC3E}">
        <p14:creationId xmlns:p14="http://schemas.microsoft.com/office/powerpoint/2010/main" val="3071034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noFill/>
        </p:spPr>
        <p:txBody>
          <a:bodyPr/>
          <a:lstStyle/>
          <a:p>
            <a:r>
              <a:rPr lang="en-US" dirty="0"/>
              <a:t>EVE310 Lab 8</a:t>
            </a:r>
          </a:p>
        </p:txBody>
      </p:sp>
      <p:sp>
        <p:nvSpPr>
          <p:cNvPr id="3" name="Subtitle 2"/>
          <p:cNvSpPr>
            <a:spLocks noGrp="1"/>
          </p:cNvSpPr>
          <p:nvPr>
            <p:ph type="subTitle" idx="1"/>
          </p:nvPr>
        </p:nvSpPr>
        <p:spPr>
          <a:noFill/>
        </p:spPr>
        <p:txBody>
          <a:bodyPr/>
          <a:lstStyle/>
          <a:p>
            <a:r>
              <a:rPr lang="en-US" dirty="0"/>
              <a:t>October 30, 2025</a:t>
            </a:r>
          </a:p>
        </p:txBody>
      </p:sp>
      <p:sp>
        <p:nvSpPr>
          <p:cNvPr id="4" name="Slide Number Placeholder 3"/>
          <p:cNvSpPr>
            <a:spLocks noGrp="1"/>
          </p:cNvSpPr>
          <p:nvPr>
            <p:ph type="sldNum" sz="quarter" idx="12"/>
          </p:nvPr>
        </p:nvSpPr>
        <p:spPr/>
        <p:txBody>
          <a:bodyPr/>
          <a:lstStyle/>
          <a:p>
            <a:fld id="{2E8848B6-D328-4CC8-99C6-D5689AE94DF4}" type="slidenum">
              <a:rPr lang="en-US" smtClean="0"/>
              <a:t>1</a:t>
            </a:fld>
            <a:endParaRPr lang="en-US"/>
          </a:p>
        </p:txBody>
      </p:sp>
      <p:sp>
        <p:nvSpPr>
          <p:cNvPr id="6" name="Footer Placeholder 5"/>
          <p:cNvSpPr>
            <a:spLocks noGrp="1"/>
          </p:cNvSpPr>
          <p:nvPr>
            <p:ph type="ftr" sz="quarter" idx="11"/>
          </p:nvPr>
        </p:nvSpPr>
        <p:spPr/>
        <p:txBody>
          <a:bodyPr/>
          <a:lstStyle/>
          <a:p>
            <a:r>
              <a:rPr lang="en-US" dirty="0"/>
              <a:t>EVE310 Fall 2025 Lab 8</a:t>
            </a:r>
          </a:p>
        </p:txBody>
      </p:sp>
    </p:spTree>
    <p:extLst>
      <p:ext uri="{BB962C8B-B14F-4D97-AF65-F5344CB8AC3E}">
        <p14:creationId xmlns:p14="http://schemas.microsoft.com/office/powerpoint/2010/main" val="973730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E8848B6-D328-4CC8-99C6-D5689AE94DF4}" type="slidenum">
              <a:rPr lang="en-US" smtClean="0"/>
              <a:t>2</a:t>
            </a:fld>
            <a:endParaRPr lang="en-US"/>
          </a:p>
        </p:txBody>
      </p:sp>
      <p:pic>
        <p:nvPicPr>
          <p:cNvPr id="1026" name="Picture 2" descr="Some Of Our Favorite Halloween Comics From Illustrator Gemma Correll">
            <a:extLst>
              <a:ext uri="{FF2B5EF4-FFF2-40B4-BE49-F238E27FC236}">
                <a16:creationId xmlns:a16="http://schemas.microsoft.com/office/drawing/2014/main" id="{2121342A-AFD0-433C-2E78-530A4601FF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762000"/>
            <a:ext cx="4631126" cy="56388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1">
            <a:extLst>
              <a:ext uri="{FF2B5EF4-FFF2-40B4-BE49-F238E27FC236}">
                <a16:creationId xmlns:a16="http://schemas.microsoft.com/office/drawing/2014/main" id="{A4A11890-710D-8929-BE62-934BFCCCBC6B}"/>
              </a:ext>
            </a:extLst>
          </p:cNvPr>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Happy Halloween!</a:t>
            </a:r>
          </a:p>
        </p:txBody>
      </p:sp>
      <p:sp>
        <p:nvSpPr>
          <p:cNvPr id="7" name="Footer Placeholder 5">
            <a:extLst>
              <a:ext uri="{FF2B5EF4-FFF2-40B4-BE49-F238E27FC236}">
                <a16:creationId xmlns:a16="http://schemas.microsoft.com/office/drawing/2014/main" id="{399144FF-8CDD-43BD-9975-FE468E046F97}"/>
              </a:ext>
            </a:extLst>
          </p:cNvPr>
          <p:cNvSpPr>
            <a:spLocks noGrp="1"/>
          </p:cNvSpPr>
          <p:nvPr>
            <p:ph type="ftr" sz="quarter" idx="11"/>
          </p:nvPr>
        </p:nvSpPr>
        <p:spPr>
          <a:xfrm>
            <a:off x="4165600" y="6356353"/>
            <a:ext cx="3860800" cy="365125"/>
          </a:xfrm>
        </p:spPr>
        <p:txBody>
          <a:bodyPr/>
          <a:lstStyle/>
          <a:p>
            <a:r>
              <a:rPr lang="en-US" dirty="0"/>
              <a:t>EVE310 Fall 2025 Lab 8</a:t>
            </a:r>
          </a:p>
        </p:txBody>
      </p:sp>
    </p:spTree>
    <p:extLst>
      <p:ext uri="{BB962C8B-B14F-4D97-AF65-F5344CB8AC3E}">
        <p14:creationId xmlns:p14="http://schemas.microsoft.com/office/powerpoint/2010/main" val="1157022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3</a:t>
            </a:fld>
            <a:endParaRPr lang="en-US"/>
          </a:p>
        </p:txBody>
      </p:sp>
      <p:sp>
        <p:nvSpPr>
          <p:cNvPr id="4" name="Rectangle 3"/>
          <p:cNvSpPr/>
          <p:nvPr/>
        </p:nvSpPr>
        <p:spPr>
          <a:xfrm>
            <a:off x="939800" y="1029411"/>
            <a:ext cx="9220200" cy="1064266"/>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In-class coding quiz: 2 quizzes in 2 weeks of Nov. 10, and Nov 17.</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Lab quiz 7+8 due Oct. 31, </a:t>
            </a:r>
            <a:r>
              <a:rPr lang="en-US" sz="2400" b="1" dirty="0">
                <a:solidFill>
                  <a:schemeClr val="tx1">
                    <a:lumMod val="75000"/>
                    <a:lumOff val="25000"/>
                  </a:schemeClr>
                </a:solidFill>
              </a:rPr>
              <a:t>Friday 11:59PM. </a:t>
            </a:r>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Announcements</a:t>
            </a:r>
          </a:p>
        </p:txBody>
      </p:sp>
      <p:sp>
        <p:nvSpPr>
          <p:cNvPr id="6" name="Footer Placeholder 5">
            <a:extLst>
              <a:ext uri="{FF2B5EF4-FFF2-40B4-BE49-F238E27FC236}">
                <a16:creationId xmlns:a16="http://schemas.microsoft.com/office/drawing/2014/main" id="{864558B6-1AB5-469D-B5CB-10ECF1855039}"/>
              </a:ext>
            </a:extLst>
          </p:cNvPr>
          <p:cNvSpPr>
            <a:spLocks noGrp="1"/>
          </p:cNvSpPr>
          <p:nvPr>
            <p:ph type="ftr" sz="quarter" idx="11"/>
          </p:nvPr>
        </p:nvSpPr>
        <p:spPr>
          <a:xfrm>
            <a:off x="4165600" y="6356353"/>
            <a:ext cx="3860800" cy="365125"/>
          </a:xfrm>
        </p:spPr>
        <p:txBody>
          <a:bodyPr/>
          <a:lstStyle/>
          <a:p>
            <a:r>
              <a:rPr lang="en-US" dirty="0"/>
              <a:t>EVE310 Fall 2025 Lab 8</a:t>
            </a:r>
          </a:p>
        </p:txBody>
      </p:sp>
    </p:spTree>
    <p:extLst>
      <p:ext uri="{BB962C8B-B14F-4D97-AF65-F5344CB8AC3E}">
        <p14:creationId xmlns:p14="http://schemas.microsoft.com/office/powerpoint/2010/main" val="51445394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4</a:t>
            </a:fld>
            <a:endParaRPr lang="en-US"/>
          </a:p>
        </p:txBody>
      </p:sp>
      <p:sp>
        <p:nvSpPr>
          <p:cNvPr id="4" name="Rectangle 3"/>
          <p:cNvSpPr/>
          <p:nvPr/>
        </p:nvSpPr>
        <p:spPr>
          <a:xfrm>
            <a:off x="1066800" y="2321966"/>
            <a:ext cx="8345394" cy="2214068"/>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Logical Operators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If Statements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For Loops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Applying the above to a regression problem from class</a:t>
            </a:r>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Learning objectives</a:t>
            </a:r>
          </a:p>
        </p:txBody>
      </p:sp>
      <p:sp>
        <p:nvSpPr>
          <p:cNvPr id="6" name="Footer Placeholder 5">
            <a:extLst>
              <a:ext uri="{FF2B5EF4-FFF2-40B4-BE49-F238E27FC236}">
                <a16:creationId xmlns:a16="http://schemas.microsoft.com/office/drawing/2014/main" id="{0BD203CE-6B85-430C-B3C5-92E6B6560E78}"/>
              </a:ext>
            </a:extLst>
          </p:cNvPr>
          <p:cNvSpPr>
            <a:spLocks noGrp="1"/>
          </p:cNvSpPr>
          <p:nvPr>
            <p:ph type="ftr" sz="quarter" idx="11"/>
          </p:nvPr>
        </p:nvSpPr>
        <p:spPr>
          <a:xfrm>
            <a:off x="4165600" y="6356353"/>
            <a:ext cx="3860800" cy="365125"/>
          </a:xfrm>
        </p:spPr>
        <p:txBody>
          <a:bodyPr/>
          <a:lstStyle/>
          <a:p>
            <a:r>
              <a:rPr lang="en-US" dirty="0"/>
              <a:t>EVE310 Fall 2025 Lab 8</a:t>
            </a:r>
          </a:p>
        </p:txBody>
      </p:sp>
    </p:spTree>
    <p:extLst>
      <p:ext uri="{BB962C8B-B14F-4D97-AF65-F5344CB8AC3E}">
        <p14:creationId xmlns:p14="http://schemas.microsoft.com/office/powerpoint/2010/main" val="68345683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5</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The problem</a:t>
            </a:r>
          </a:p>
        </p:txBody>
      </p:sp>
      <p:pic>
        <p:nvPicPr>
          <p:cNvPr id="6" name="Picture 5" descr="Chart, waterfall chart&#10;&#10;Description automatically generated">
            <a:extLst>
              <a:ext uri="{FF2B5EF4-FFF2-40B4-BE49-F238E27FC236}">
                <a16:creationId xmlns:a16="http://schemas.microsoft.com/office/drawing/2014/main" id="{C13B473F-9967-2347-89A6-EC10BD66B2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111" y="687148"/>
            <a:ext cx="10309289" cy="6034329"/>
          </a:xfrm>
          <a:prstGeom prst="rect">
            <a:avLst/>
          </a:prstGeom>
        </p:spPr>
      </p:pic>
      <p:sp>
        <p:nvSpPr>
          <p:cNvPr id="7" name="TextBox 6">
            <a:extLst>
              <a:ext uri="{FF2B5EF4-FFF2-40B4-BE49-F238E27FC236}">
                <a16:creationId xmlns:a16="http://schemas.microsoft.com/office/drawing/2014/main" id="{3E0E101C-2364-FF4F-802B-07FCB20CF6C4}"/>
              </a:ext>
            </a:extLst>
          </p:cNvPr>
          <p:cNvSpPr txBox="1"/>
          <p:nvPr/>
        </p:nvSpPr>
        <p:spPr>
          <a:xfrm>
            <a:off x="9982200" y="6474449"/>
            <a:ext cx="1173911" cy="369332"/>
          </a:xfrm>
          <a:prstGeom prst="rect">
            <a:avLst/>
          </a:prstGeom>
          <a:noFill/>
        </p:spPr>
        <p:txBody>
          <a:bodyPr wrap="none" rtlCol="0">
            <a:spAutoFit/>
          </a:bodyPr>
          <a:lstStyle/>
          <a:p>
            <a:r>
              <a:rPr lang="en-US" dirty="0"/>
              <a:t>Lecture 18</a:t>
            </a:r>
          </a:p>
        </p:txBody>
      </p:sp>
      <p:sp>
        <p:nvSpPr>
          <p:cNvPr id="8" name="Footer Placeholder 5">
            <a:extLst>
              <a:ext uri="{FF2B5EF4-FFF2-40B4-BE49-F238E27FC236}">
                <a16:creationId xmlns:a16="http://schemas.microsoft.com/office/drawing/2014/main" id="{B55444F7-694D-49BC-8A9A-EBF3ABEDDBD5}"/>
              </a:ext>
            </a:extLst>
          </p:cNvPr>
          <p:cNvSpPr>
            <a:spLocks noGrp="1"/>
          </p:cNvSpPr>
          <p:nvPr>
            <p:ph type="ftr" sz="quarter" idx="11"/>
          </p:nvPr>
        </p:nvSpPr>
        <p:spPr>
          <a:xfrm>
            <a:off x="4165600" y="6356353"/>
            <a:ext cx="3860800" cy="365125"/>
          </a:xfrm>
        </p:spPr>
        <p:txBody>
          <a:bodyPr/>
          <a:lstStyle/>
          <a:p>
            <a:r>
              <a:rPr lang="en-US" dirty="0"/>
              <a:t>EVE310 Fall 2025 Lab 8</a:t>
            </a:r>
          </a:p>
        </p:txBody>
      </p:sp>
    </p:spTree>
    <p:extLst>
      <p:ext uri="{BB962C8B-B14F-4D97-AF65-F5344CB8AC3E}">
        <p14:creationId xmlns:p14="http://schemas.microsoft.com/office/powerpoint/2010/main" val="67212719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6</a:t>
            </a:fld>
            <a:endParaRPr lang="en-US"/>
          </a:p>
        </p:txBody>
      </p:sp>
      <p:sp>
        <p:nvSpPr>
          <p:cNvPr id="5" name="Rectangle 1"/>
          <p:cNvSpPr txBox="1">
            <a:spLocks noChangeArrowheads="1"/>
          </p:cNvSpPr>
          <p:nvPr/>
        </p:nvSpPr>
        <p:spPr>
          <a:xfrm>
            <a:off x="0" y="0"/>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Choosing the right threshold </a:t>
            </a:r>
          </a:p>
        </p:txBody>
      </p:sp>
      <p:pic>
        <p:nvPicPr>
          <p:cNvPr id="6" name="Picture 5" descr="Chart, waterfall chart&#10;&#10;Description automatically generated">
            <a:extLst>
              <a:ext uri="{FF2B5EF4-FFF2-40B4-BE49-F238E27FC236}">
                <a16:creationId xmlns:a16="http://schemas.microsoft.com/office/drawing/2014/main" id="{05613379-3976-2944-9537-480903BBAE41}"/>
              </a:ext>
            </a:extLst>
          </p:cNvPr>
          <p:cNvPicPr>
            <a:picLocks noChangeAspect="1"/>
          </p:cNvPicPr>
          <p:nvPr/>
        </p:nvPicPr>
        <p:blipFill rotWithShape="1">
          <a:blip r:embed="rId3">
            <a:extLst>
              <a:ext uri="{28A0092B-C50C-407E-A947-70E740481C1C}">
                <a14:useLocalDpi xmlns:a14="http://schemas.microsoft.com/office/drawing/2010/main" val="0"/>
              </a:ext>
            </a:extLst>
          </a:blip>
          <a:srcRect l="61126" t="24304" r="5898" b="16610"/>
          <a:stretch/>
        </p:blipFill>
        <p:spPr>
          <a:xfrm>
            <a:off x="3759200" y="1098861"/>
            <a:ext cx="4673600" cy="4901580"/>
          </a:xfrm>
          <a:prstGeom prst="rect">
            <a:avLst/>
          </a:prstGeom>
        </p:spPr>
      </p:pic>
      <p:sp>
        <p:nvSpPr>
          <p:cNvPr id="7" name="Footer Placeholder 5">
            <a:extLst>
              <a:ext uri="{FF2B5EF4-FFF2-40B4-BE49-F238E27FC236}">
                <a16:creationId xmlns:a16="http://schemas.microsoft.com/office/drawing/2014/main" id="{01D083EC-6A96-4AC9-B420-25B3E190C24D}"/>
              </a:ext>
            </a:extLst>
          </p:cNvPr>
          <p:cNvSpPr>
            <a:spLocks noGrp="1"/>
          </p:cNvSpPr>
          <p:nvPr>
            <p:ph type="ftr" sz="quarter" idx="11"/>
          </p:nvPr>
        </p:nvSpPr>
        <p:spPr>
          <a:xfrm>
            <a:off x="4165600" y="6356353"/>
            <a:ext cx="3860800" cy="365125"/>
          </a:xfrm>
        </p:spPr>
        <p:txBody>
          <a:bodyPr/>
          <a:lstStyle/>
          <a:p>
            <a:r>
              <a:rPr lang="en-US" dirty="0"/>
              <a:t>EVE310 Fall 2025 Lab 8</a:t>
            </a:r>
          </a:p>
        </p:txBody>
      </p:sp>
    </p:spTree>
    <p:extLst>
      <p:ext uri="{BB962C8B-B14F-4D97-AF65-F5344CB8AC3E}">
        <p14:creationId xmlns:p14="http://schemas.microsoft.com/office/powerpoint/2010/main" val="32274863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7</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Let’s return to the Lecture 15-16 example:</a:t>
            </a:r>
          </a:p>
        </p:txBody>
      </p:sp>
      <p:pic>
        <p:nvPicPr>
          <p:cNvPr id="12" name="Picture 11" descr="Table&#10;&#10;Description automatically generated">
            <a:extLst>
              <a:ext uri="{FF2B5EF4-FFF2-40B4-BE49-F238E27FC236}">
                <a16:creationId xmlns:a16="http://schemas.microsoft.com/office/drawing/2014/main" id="{04D01C75-2193-5F44-AAA3-F90358AA58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82" y="1295400"/>
            <a:ext cx="7712182" cy="4648200"/>
          </a:xfrm>
          <a:prstGeom prst="rect">
            <a:avLst/>
          </a:prstGeom>
        </p:spPr>
      </p:pic>
      <p:sp>
        <p:nvSpPr>
          <p:cNvPr id="14" name="TextBox 13">
            <a:extLst>
              <a:ext uri="{FF2B5EF4-FFF2-40B4-BE49-F238E27FC236}">
                <a16:creationId xmlns:a16="http://schemas.microsoft.com/office/drawing/2014/main" id="{7C37F502-6AFD-7A4C-9F94-4E4F3321C2F8}"/>
              </a:ext>
            </a:extLst>
          </p:cNvPr>
          <p:cNvSpPr txBox="1"/>
          <p:nvPr/>
        </p:nvSpPr>
        <p:spPr>
          <a:xfrm>
            <a:off x="7685678" y="3072240"/>
            <a:ext cx="4473340" cy="830997"/>
          </a:xfrm>
          <a:prstGeom prst="rect">
            <a:avLst/>
          </a:prstGeom>
          <a:noFill/>
        </p:spPr>
        <p:txBody>
          <a:bodyPr wrap="none" rtlCol="0">
            <a:spAutoFit/>
          </a:bodyPr>
          <a:lstStyle/>
          <a:p>
            <a:r>
              <a:rPr lang="en-US" sz="2400" dirty="0"/>
              <a:t>What if we change the threshold? </a:t>
            </a:r>
          </a:p>
          <a:p>
            <a:r>
              <a:rPr lang="en-US" sz="2400" dirty="0"/>
              <a:t>How does that change </a:t>
            </a:r>
            <a:r>
              <a:rPr lang="en-US" sz="2400" i="1" dirty="0" err="1"/>
              <a:t>y</a:t>
            </a:r>
            <a:r>
              <a:rPr lang="en-US" sz="2400" i="1" baseline="-25000" dirty="0" err="1"/>
              <a:t>predicted</a:t>
            </a:r>
            <a:r>
              <a:rPr lang="en-US" sz="2400" dirty="0"/>
              <a:t>? </a:t>
            </a:r>
          </a:p>
        </p:txBody>
      </p:sp>
      <p:sp>
        <p:nvSpPr>
          <p:cNvPr id="16" name="TextBox 15">
            <a:extLst>
              <a:ext uri="{FF2B5EF4-FFF2-40B4-BE49-F238E27FC236}">
                <a16:creationId xmlns:a16="http://schemas.microsoft.com/office/drawing/2014/main" id="{B6B1FC5F-DE82-7247-B53D-9B4225EFD926}"/>
              </a:ext>
            </a:extLst>
          </p:cNvPr>
          <p:cNvSpPr txBox="1"/>
          <p:nvPr/>
        </p:nvSpPr>
        <p:spPr>
          <a:xfrm>
            <a:off x="228600" y="5929312"/>
            <a:ext cx="1173911" cy="369332"/>
          </a:xfrm>
          <a:prstGeom prst="rect">
            <a:avLst/>
          </a:prstGeom>
          <a:noFill/>
        </p:spPr>
        <p:txBody>
          <a:bodyPr wrap="none" rtlCol="0">
            <a:spAutoFit/>
          </a:bodyPr>
          <a:lstStyle/>
          <a:p>
            <a:r>
              <a:rPr lang="en-US" dirty="0"/>
              <a:t>Lecture 16</a:t>
            </a:r>
          </a:p>
        </p:txBody>
      </p:sp>
      <p:sp>
        <p:nvSpPr>
          <p:cNvPr id="8" name="Footer Placeholder 5">
            <a:extLst>
              <a:ext uri="{FF2B5EF4-FFF2-40B4-BE49-F238E27FC236}">
                <a16:creationId xmlns:a16="http://schemas.microsoft.com/office/drawing/2014/main" id="{94BBE9DA-3565-411B-B0D7-81E84CE99C6B}"/>
              </a:ext>
            </a:extLst>
          </p:cNvPr>
          <p:cNvSpPr>
            <a:spLocks noGrp="1"/>
          </p:cNvSpPr>
          <p:nvPr>
            <p:ph type="ftr" sz="quarter" idx="11"/>
          </p:nvPr>
        </p:nvSpPr>
        <p:spPr>
          <a:xfrm>
            <a:off x="4165600" y="6356353"/>
            <a:ext cx="3860800" cy="365125"/>
          </a:xfrm>
        </p:spPr>
        <p:txBody>
          <a:bodyPr/>
          <a:lstStyle/>
          <a:p>
            <a:r>
              <a:rPr lang="en-US" dirty="0"/>
              <a:t>EVE310 Fall 2025 Lab 8</a:t>
            </a:r>
          </a:p>
        </p:txBody>
      </p:sp>
    </p:spTree>
    <p:extLst>
      <p:ext uri="{BB962C8B-B14F-4D97-AF65-F5344CB8AC3E}">
        <p14:creationId xmlns:p14="http://schemas.microsoft.com/office/powerpoint/2010/main" val="195627927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8</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Changing the threshold</a:t>
            </a:r>
          </a:p>
        </p:txBody>
      </p:sp>
      <p:pic>
        <p:nvPicPr>
          <p:cNvPr id="7" name="Picture 6" descr="Table&#10;&#10;Description automatically generated">
            <a:extLst>
              <a:ext uri="{FF2B5EF4-FFF2-40B4-BE49-F238E27FC236}">
                <a16:creationId xmlns:a16="http://schemas.microsoft.com/office/drawing/2014/main" id="{3FC1533C-57DD-EE4F-8B3A-0589378FF1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397" y="1089024"/>
            <a:ext cx="10271206" cy="4840288"/>
          </a:xfrm>
          <a:prstGeom prst="rect">
            <a:avLst/>
          </a:prstGeom>
        </p:spPr>
      </p:pic>
      <p:sp>
        <p:nvSpPr>
          <p:cNvPr id="9" name="TextBox 8">
            <a:extLst>
              <a:ext uri="{FF2B5EF4-FFF2-40B4-BE49-F238E27FC236}">
                <a16:creationId xmlns:a16="http://schemas.microsoft.com/office/drawing/2014/main" id="{21B368DE-5241-2E4A-AC4A-E41F2B7EE90F}"/>
              </a:ext>
            </a:extLst>
          </p:cNvPr>
          <p:cNvSpPr txBox="1"/>
          <p:nvPr/>
        </p:nvSpPr>
        <p:spPr>
          <a:xfrm>
            <a:off x="228600" y="5929312"/>
            <a:ext cx="1173911" cy="369332"/>
          </a:xfrm>
          <a:prstGeom prst="rect">
            <a:avLst/>
          </a:prstGeom>
          <a:noFill/>
        </p:spPr>
        <p:txBody>
          <a:bodyPr wrap="none" rtlCol="0">
            <a:spAutoFit/>
          </a:bodyPr>
          <a:lstStyle/>
          <a:p>
            <a:r>
              <a:rPr lang="en-US" dirty="0"/>
              <a:t>Lecture 16</a:t>
            </a:r>
          </a:p>
        </p:txBody>
      </p:sp>
      <p:sp>
        <p:nvSpPr>
          <p:cNvPr id="8" name="Footer Placeholder 5">
            <a:extLst>
              <a:ext uri="{FF2B5EF4-FFF2-40B4-BE49-F238E27FC236}">
                <a16:creationId xmlns:a16="http://schemas.microsoft.com/office/drawing/2014/main" id="{F3B993F6-59D0-4F16-A1ED-A6CA6F0DC9B9}"/>
              </a:ext>
            </a:extLst>
          </p:cNvPr>
          <p:cNvSpPr>
            <a:spLocks noGrp="1"/>
          </p:cNvSpPr>
          <p:nvPr>
            <p:ph type="ftr" sz="quarter" idx="11"/>
          </p:nvPr>
        </p:nvSpPr>
        <p:spPr>
          <a:xfrm>
            <a:off x="4165600" y="6356353"/>
            <a:ext cx="3860800" cy="365125"/>
          </a:xfrm>
        </p:spPr>
        <p:txBody>
          <a:bodyPr/>
          <a:lstStyle/>
          <a:p>
            <a:r>
              <a:rPr lang="en-US" dirty="0"/>
              <a:t>EVE310 Fall 2025 Lab 8</a:t>
            </a:r>
          </a:p>
        </p:txBody>
      </p:sp>
    </p:spTree>
    <p:extLst>
      <p:ext uri="{BB962C8B-B14F-4D97-AF65-F5344CB8AC3E}">
        <p14:creationId xmlns:p14="http://schemas.microsoft.com/office/powerpoint/2010/main" val="109219634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9</a:t>
            </a:fld>
            <a:endParaRPr lang="en-US" dirty="0"/>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What if we want to try many different thresholds?</a:t>
            </a:r>
          </a:p>
        </p:txBody>
      </p:sp>
      <p:sp>
        <p:nvSpPr>
          <p:cNvPr id="7" name="TextBox 6">
            <a:extLst>
              <a:ext uri="{FF2B5EF4-FFF2-40B4-BE49-F238E27FC236}">
                <a16:creationId xmlns:a16="http://schemas.microsoft.com/office/drawing/2014/main" id="{C704B866-6F4C-D644-B929-44A5222D9F8C}"/>
              </a:ext>
            </a:extLst>
          </p:cNvPr>
          <p:cNvSpPr txBox="1"/>
          <p:nvPr/>
        </p:nvSpPr>
        <p:spPr>
          <a:xfrm>
            <a:off x="5867400" y="2115718"/>
            <a:ext cx="5943600" cy="2677656"/>
          </a:xfrm>
          <a:prstGeom prst="rect">
            <a:avLst/>
          </a:prstGeom>
          <a:noFill/>
        </p:spPr>
        <p:txBody>
          <a:bodyPr wrap="square" rtlCol="0">
            <a:spAutoFit/>
          </a:bodyPr>
          <a:lstStyle/>
          <a:p>
            <a:r>
              <a:rPr lang="en-US" sz="2800" dirty="0"/>
              <a:t>How do we make a plot like this </a:t>
            </a:r>
            <a:br>
              <a:rPr lang="en-US" sz="2800" dirty="0"/>
            </a:br>
            <a:r>
              <a:rPr lang="en-US" sz="2800" dirty="0"/>
              <a:t>for different thresholds in our example without manually redoing the calculations many times?</a:t>
            </a:r>
          </a:p>
          <a:p>
            <a:endParaRPr lang="en-US" sz="2800" dirty="0"/>
          </a:p>
          <a:p>
            <a:r>
              <a:rPr lang="en-US" sz="2800" b="1" dirty="0"/>
              <a:t>With for loops!</a:t>
            </a:r>
          </a:p>
        </p:txBody>
      </p:sp>
      <p:pic>
        <p:nvPicPr>
          <p:cNvPr id="10" name="Picture 9" descr="Chart, waterfall chart&#10;&#10;Description automatically generated">
            <a:extLst>
              <a:ext uri="{FF2B5EF4-FFF2-40B4-BE49-F238E27FC236}">
                <a16:creationId xmlns:a16="http://schemas.microsoft.com/office/drawing/2014/main" id="{E93CD486-6E4E-EF46-A687-D86C5F8276A4}"/>
              </a:ext>
            </a:extLst>
          </p:cNvPr>
          <p:cNvPicPr>
            <a:picLocks noChangeAspect="1"/>
          </p:cNvPicPr>
          <p:nvPr/>
        </p:nvPicPr>
        <p:blipFill rotWithShape="1">
          <a:blip r:embed="rId3">
            <a:extLst>
              <a:ext uri="{28A0092B-C50C-407E-A947-70E740481C1C}">
                <a14:useLocalDpi xmlns:a14="http://schemas.microsoft.com/office/drawing/2010/main" val="0"/>
              </a:ext>
            </a:extLst>
          </a:blip>
          <a:srcRect l="61126" t="24304" r="5898" b="16610"/>
          <a:stretch/>
        </p:blipFill>
        <p:spPr>
          <a:xfrm>
            <a:off x="1015068" y="1219200"/>
            <a:ext cx="4673600" cy="4901580"/>
          </a:xfrm>
          <a:prstGeom prst="rect">
            <a:avLst/>
          </a:prstGeom>
        </p:spPr>
      </p:pic>
      <p:sp>
        <p:nvSpPr>
          <p:cNvPr id="8" name="Footer Placeholder 5">
            <a:extLst>
              <a:ext uri="{FF2B5EF4-FFF2-40B4-BE49-F238E27FC236}">
                <a16:creationId xmlns:a16="http://schemas.microsoft.com/office/drawing/2014/main" id="{C233B2A0-748E-486F-A77D-512EDC62F39D}"/>
              </a:ext>
            </a:extLst>
          </p:cNvPr>
          <p:cNvSpPr>
            <a:spLocks noGrp="1"/>
          </p:cNvSpPr>
          <p:nvPr>
            <p:ph type="ftr" sz="quarter" idx="11"/>
          </p:nvPr>
        </p:nvSpPr>
        <p:spPr>
          <a:xfrm>
            <a:off x="4165600" y="6356353"/>
            <a:ext cx="3860800" cy="365125"/>
          </a:xfrm>
        </p:spPr>
        <p:txBody>
          <a:bodyPr/>
          <a:lstStyle/>
          <a:p>
            <a:r>
              <a:rPr lang="en-US" dirty="0"/>
              <a:t>EVE310 Fall 2025 Lab 8</a:t>
            </a:r>
          </a:p>
        </p:txBody>
      </p:sp>
    </p:spTree>
    <p:extLst>
      <p:ext uri="{BB962C8B-B14F-4D97-AF65-F5344CB8AC3E}">
        <p14:creationId xmlns:p14="http://schemas.microsoft.com/office/powerpoint/2010/main" val="53691208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10</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A trick with logical operators and classification</a:t>
            </a:r>
          </a:p>
        </p:txBody>
      </p:sp>
      <p:pic>
        <p:nvPicPr>
          <p:cNvPr id="7" name="Picture 6" descr="Text&#10;&#10;Description automatically generated">
            <a:extLst>
              <a:ext uri="{FF2B5EF4-FFF2-40B4-BE49-F238E27FC236}">
                <a16:creationId xmlns:a16="http://schemas.microsoft.com/office/drawing/2014/main" id="{1B2F4D60-497A-BE4E-A2C1-EFC9D10457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6617" y="1358800"/>
            <a:ext cx="9825383" cy="1837267"/>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070FC3C2-3C73-9442-94F1-B851AA2D5F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1400" y="4569578"/>
            <a:ext cx="4800600" cy="1127414"/>
          </a:xfrm>
          <a:prstGeom prst="rect">
            <a:avLst/>
          </a:prstGeom>
        </p:spPr>
      </p:pic>
      <p:sp>
        <p:nvSpPr>
          <p:cNvPr id="10" name="TextBox 9">
            <a:extLst>
              <a:ext uri="{FF2B5EF4-FFF2-40B4-BE49-F238E27FC236}">
                <a16:creationId xmlns:a16="http://schemas.microsoft.com/office/drawing/2014/main" id="{A8E64C79-B53C-FF46-A2DA-C2692EE1DEC4}"/>
              </a:ext>
            </a:extLst>
          </p:cNvPr>
          <p:cNvSpPr txBox="1"/>
          <p:nvPr/>
        </p:nvSpPr>
        <p:spPr>
          <a:xfrm>
            <a:off x="185169" y="1004387"/>
            <a:ext cx="1762125" cy="1199013"/>
          </a:xfrm>
          <a:prstGeom prst="rect">
            <a:avLst/>
          </a:prstGeom>
          <a:noFill/>
        </p:spPr>
        <p:txBody>
          <a:bodyPr wrap="square" rtlCol="0">
            <a:spAutoFit/>
          </a:bodyPr>
          <a:lstStyle/>
          <a:p>
            <a:r>
              <a:rPr lang="en-US" dirty="0"/>
              <a:t>We can store the output of logical operators in a vector</a:t>
            </a:r>
          </a:p>
        </p:txBody>
      </p:sp>
      <p:cxnSp>
        <p:nvCxnSpPr>
          <p:cNvPr id="12" name="Straight Arrow Connector 11">
            <a:extLst>
              <a:ext uri="{FF2B5EF4-FFF2-40B4-BE49-F238E27FC236}">
                <a16:creationId xmlns:a16="http://schemas.microsoft.com/office/drawing/2014/main" id="{D751C9FF-E057-2147-A366-A991706CE5E2}"/>
              </a:ext>
            </a:extLst>
          </p:cNvPr>
          <p:cNvCxnSpPr>
            <a:cxnSpLocks/>
            <a:stCxn id="10" idx="3"/>
            <a:endCxn id="7" idx="1"/>
          </p:cNvCxnSpPr>
          <p:nvPr/>
        </p:nvCxnSpPr>
        <p:spPr>
          <a:xfrm>
            <a:off x="1947294" y="1603894"/>
            <a:ext cx="419323" cy="6735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BFE3BFE-BD0E-844A-9BEC-984F535666EE}"/>
              </a:ext>
            </a:extLst>
          </p:cNvPr>
          <p:cNvSpPr txBox="1"/>
          <p:nvPr/>
        </p:nvSpPr>
        <p:spPr>
          <a:xfrm>
            <a:off x="185169" y="2533943"/>
            <a:ext cx="1981200" cy="923330"/>
          </a:xfrm>
          <a:prstGeom prst="rect">
            <a:avLst/>
          </a:prstGeom>
          <a:noFill/>
        </p:spPr>
        <p:txBody>
          <a:bodyPr wrap="square" rtlCol="0">
            <a:spAutoFit/>
          </a:bodyPr>
          <a:lstStyle/>
          <a:p>
            <a:r>
              <a:rPr lang="en-US" dirty="0"/>
              <a:t>Python prints this as True/False, but also stores it as 1/0</a:t>
            </a:r>
          </a:p>
        </p:txBody>
      </p:sp>
      <p:cxnSp>
        <p:nvCxnSpPr>
          <p:cNvPr id="18" name="Straight Arrow Connector 17">
            <a:extLst>
              <a:ext uri="{FF2B5EF4-FFF2-40B4-BE49-F238E27FC236}">
                <a16:creationId xmlns:a16="http://schemas.microsoft.com/office/drawing/2014/main" id="{D77D7EAA-9ED3-B241-9BC1-085A16158DB7}"/>
              </a:ext>
            </a:extLst>
          </p:cNvPr>
          <p:cNvCxnSpPr>
            <a:cxnSpLocks/>
            <a:stCxn id="16" idx="3"/>
          </p:cNvCxnSpPr>
          <p:nvPr/>
        </p:nvCxnSpPr>
        <p:spPr>
          <a:xfrm>
            <a:off x="2166369" y="2995608"/>
            <a:ext cx="20024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339165-859B-D249-AD2A-35EFE69E14DC}"/>
              </a:ext>
            </a:extLst>
          </p:cNvPr>
          <p:cNvSpPr txBox="1"/>
          <p:nvPr/>
        </p:nvSpPr>
        <p:spPr>
          <a:xfrm>
            <a:off x="3374058" y="3540885"/>
            <a:ext cx="4871718" cy="369332"/>
          </a:xfrm>
          <a:prstGeom prst="rect">
            <a:avLst/>
          </a:prstGeom>
          <a:noFill/>
        </p:spPr>
        <p:txBody>
          <a:bodyPr wrap="none" rtlCol="0">
            <a:spAutoFit/>
          </a:bodyPr>
          <a:lstStyle/>
          <a:p>
            <a:r>
              <a:rPr lang="en-US" dirty="0"/>
              <a:t>To Python, this is equivalent to: 0 0 0 1 0 0 1 0 1 0 </a:t>
            </a:r>
          </a:p>
        </p:txBody>
      </p:sp>
      <p:cxnSp>
        <p:nvCxnSpPr>
          <p:cNvPr id="23" name="Straight Arrow Connector 22">
            <a:extLst>
              <a:ext uri="{FF2B5EF4-FFF2-40B4-BE49-F238E27FC236}">
                <a16:creationId xmlns:a16="http://schemas.microsoft.com/office/drawing/2014/main" id="{B6D4DA1E-77E1-454B-AC2D-91CC5B946F43}"/>
              </a:ext>
            </a:extLst>
          </p:cNvPr>
          <p:cNvCxnSpPr>
            <a:cxnSpLocks/>
          </p:cNvCxnSpPr>
          <p:nvPr/>
        </p:nvCxnSpPr>
        <p:spPr>
          <a:xfrm>
            <a:off x="2951400" y="3207482"/>
            <a:ext cx="367281" cy="40389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0B6C27A-1058-DD47-9AEA-0AE266E78C0D}"/>
              </a:ext>
            </a:extLst>
          </p:cNvPr>
          <p:cNvSpPr txBox="1"/>
          <p:nvPr/>
        </p:nvSpPr>
        <p:spPr>
          <a:xfrm>
            <a:off x="156594" y="4117623"/>
            <a:ext cx="2509269" cy="2031325"/>
          </a:xfrm>
          <a:prstGeom prst="rect">
            <a:avLst/>
          </a:prstGeom>
          <a:noFill/>
        </p:spPr>
        <p:txBody>
          <a:bodyPr wrap="square" rtlCol="0">
            <a:spAutoFit/>
          </a:bodyPr>
          <a:lstStyle/>
          <a:p>
            <a:r>
              <a:rPr lang="en-US" dirty="0"/>
              <a:t>Which means we can perform some mathematical functions on this vector (hint: like calculating precision or recall), and it will treat the values as 0 or 1! </a:t>
            </a:r>
          </a:p>
        </p:txBody>
      </p:sp>
      <p:cxnSp>
        <p:nvCxnSpPr>
          <p:cNvPr id="25" name="Straight Arrow Connector 24">
            <a:extLst>
              <a:ext uri="{FF2B5EF4-FFF2-40B4-BE49-F238E27FC236}">
                <a16:creationId xmlns:a16="http://schemas.microsoft.com/office/drawing/2014/main" id="{801FA561-C0D8-1942-AB4B-9D46E1E38CAA}"/>
              </a:ext>
            </a:extLst>
          </p:cNvPr>
          <p:cNvCxnSpPr>
            <a:cxnSpLocks/>
            <a:stCxn id="24" idx="3"/>
          </p:cNvCxnSpPr>
          <p:nvPr/>
        </p:nvCxnSpPr>
        <p:spPr>
          <a:xfrm flipV="1">
            <a:off x="2665863" y="5133285"/>
            <a:ext cx="686937"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Footer Placeholder 5">
            <a:extLst>
              <a:ext uri="{FF2B5EF4-FFF2-40B4-BE49-F238E27FC236}">
                <a16:creationId xmlns:a16="http://schemas.microsoft.com/office/drawing/2014/main" id="{D1D806E4-5D2C-4CF9-BDD0-72580218DAB5}"/>
              </a:ext>
            </a:extLst>
          </p:cNvPr>
          <p:cNvSpPr>
            <a:spLocks noGrp="1"/>
          </p:cNvSpPr>
          <p:nvPr>
            <p:ph type="ftr" sz="quarter" idx="11"/>
          </p:nvPr>
        </p:nvSpPr>
        <p:spPr>
          <a:xfrm>
            <a:off x="4165600" y="6356353"/>
            <a:ext cx="3860800" cy="365125"/>
          </a:xfrm>
        </p:spPr>
        <p:txBody>
          <a:bodyPr/>
          <a:lstStyle/>
          <a:p>
            <a:r>
              <a:rPr lang="en-US" dirty="0"/>
              <a:t>EVE310 Fall 2025 Lab 8</a:t>
            </a:r>
          </a:p>
        </p:txBody>
      </p:sp>
    </p:spTree>
    <p:extLst>
      <p:ext uri="{BB962C8B-B14F-4D97-AF65-F5344CB8AC3E}">
        <p14:creationId xmlns:p14="http://schemas.microsoft.com/office/powerpoint/2010/main" val="91778810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EVE310 Fall 2025 Lab 8</a:t>
            </a:r>
          </a:p>
        </p:txBody>
      </p:sp>
      <p:sp>
        <p:nvSpPr>
          <p:cNvPr id="3" name="Slide Number Placeholder 2"/>
          <p:cNvSpPr>
            <a:spLocks noGrp="1"/>
          </p:cNvSpPr>
          <p:nvPr>
            <p:ph type="sldNum" sz="quarter" idx="12"/>
          </p:nvPr>
        </p:nvSpPr>
        <p:spPr/>
        <p:txBody>
          <a:bodyPr/>
          <a:lstStyle/>
          <a:p>
            <a:fld id="{2E8848B6-D328-4CC8-99C6-D5689AE94DF4}" type="slidenum">
              <a:rPr lang="en-US" smtClean="0"/>
              <a:t>11</a:t>
            </a:fld>
            <a:endParaRPr lang="en-US"/>
          </a:p>
        </p:txBody>
      </p:sp>
      <p:sp>
        <p:nvSpPr>
          <p:cNvPr id="4" name="Rectangle 3"/>
          <p:cNvSpPr/>
          <p:nvPr/>
        </p:nvSpPr>
        <p:spPr>
          <a:xfrm>
            <a:off x="1999503" y="1148606"/>
            <a:ext cx="8345394" cy="886397"/>
          </a:xfrm>
          <a:prstGeom prst="rect">
            <a:avLst/>
          </a:prstGeom>
        </p:spPr>
        <p:txBody>
          <a:bodyPr wrap="square">
            <a:spAutoFit/>
          </a:bodyPr>
          <a:lstStyle/>
          <a:p>
            <a:pPr algn="ctr">
              <a:lnSpc>
                <a:spcPct val="114000"/>
              </a:lnSpc>
              <a:spcBef>
                <a:spcPts val="1800"/>
              </a:spcBef>
              <a:spcAft>
                <a:spcPts val="600"/>
              </a:spcAft>
              <a:buSzPct val="100000"/>
            </a:pPr>
            <a:r>
              <a:rPr lang="en-US" sz="4800" dirty="0">
                <a:solidFill>
                  <a:schemeClr val="tx1">
                    <a:lumMod val="75000"/>
                    <a:lumOff val="25000"/>
                  </a:schemeClr>
                </a:solidFill>
                <a:latin typeface="Calibri Light" panose="020F0302020204030204" pitchFamily="34" charset="0"/>
                <a:cs typeface="Calibri Light" panose="020F0302020204030204" pitchFamily="34" charset="0"/>
              </a:rPr>
              <a:t>In-class activity</a:t>
            </a:r>
          </a:p>
        </p:txBody>
      </p:sp>
      <p:sp>
        <p:nvSpPr>
          <p:cNvPr id="6" name="Rectangle 5">
            <a:extLst>
              <a:ext uri="{FF2B5EF4-FFF2-40B4-BE49-F238E27FC236}">
                <a16:creationId xmlns:a16="http://schemas.microsoft.com/office/drawing/2014/main" id="{FC1371FB-ABE6-4C3C-9833-FBC4DAB56872}"/>
              </a:ext>
            </a:extLst>
          </p:cNvPr>
          <p:cNvSpPr/>
          <p:nvPr/>
        </p:nvSpPr>
        <p:spPr>
          <a:xfrm>
            <a:off x="1371600" y="2896867"/>
            <a:ext cx="8345394" cy="1639167"/>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We will work through this together</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Work through Lab 9 Activity, filling in the blanks </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You will use a very similar solution in your homework!</a:t>
            </a:r>
          </a:p>
        </p:txBody>
      </p:sp>
      <p:pic>
        <p:nvPicPr>
          <p:cNvPr id="7" name="Picture 6">
            <a:extLst>
              <a:ext uri="{FF2B5EF4-FFF2-40B4-BE49-F238E27FC236}">
                <a16:creationId xmlns:a16="http://schemas.microsoft.com/office/drawing/2014/main" id="{63BB7B0D-2DE5-4503-9F84-C36C407919E6}"/>
              </a:ext>
            </a:extLst>
          </p:cNvPr>
          <p:cNvPicPr>
            <a:picLocks noChangeAspect="1"/>
          </p:cNvPicPr>
          <p:nvPr/>
        </p:nvPicPr>
        <p:blipFill>
          <a:blip r:embed="rId3"/>
          <a:stretch>
            <a:fillRect/>
          </a:stretch>
        </p:blipFill>
        <p:spPr>
          <a:xfrm>
            <a:off x="3342800" y="4692246"/>
            <a:ext cx="5506399" cy="1411304"/>
          </a:xfrm>
          <a:prstGeom prst="rect">
            <a:avLst/>
          </a:prstGeom>
        </p:spPr>
      </p:pic>
    </p:spTree>
    <p:extLst>
      <p:ext uri="{BB962C8B-B14F-4D97-AF65-F5344CB8AC3E}">
        <p14:creationId xmlns:p14="http://schemas.microsoft.com/office/powerpoint/2010/main" val="129184014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12</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What threshold would you pick?</a:t>
            </a:r>
          </a:p>
        </p:txBody>
      </p:sp>
      <p:pic>
        <p:nvPicPr>
          <p:cNvPr id="7" name="Picture 6" descr="Chart, waterfall chart&#10;&#10;Description automatically generated">
            <a:extLst>
              <a:ext uri="{FF2B5EF4-FFF2-40B4-BE49-F238E27FC236}">
                <a16:creationId xmlns:a16="http://schemas.microsoft.com/office/drawing/2014/main" id="{DE927274-89F9-B54B-97AF-A5F982D15936}"/>
              </a:ext>
            </a:extLst>
          </p:cNvPr>
          <p:cNvPicPr>
            <a:picLocks noChangeAspect="1"/>
          </p:cNvPicPr>
          <p:nvPr/>
        </p:nvPicPr>
        <p:blipFill rotWithShape="1">
          <a:blip r:embed="rId3">
            <a:extLst>
              <a:ext uri="{28A0092B-C50C-407E-A947-70E740481C1C}">
                <a14:useLocalDpi xmlns:a14="http://schemas.microsoft.com/office/drawing/2010/main" val="0"/>
              </a:ext>
            </a:extLst>
          </a:blip>
          <a:srcRect l="61126" t="33489" r="5898" b="16610"/>
          <a:stretch/>
        </p:blipFill>
        <p:spPr>
          <a:xfrm>
            <a:off x="1143000" y="1451286"/>
            <a:ext cx="4673600" cy="4139580"/>
          </a:xfrm>
          <a:prstGeom prst="rect">
            <a:avLst/>
          </a:prstGeom>
        </p:spPr>
      </p:pic>
      <p:pic>
        <p:nvPicPr>
          <p:cNvPr id="8" name="Picture 7" descr="Chart, line chart&#10;&#10;Description automatically generated">
            <a:extLst>
              <a:ext uri="{FF2B5EF4-FFF2-40B4-BE49-F238E27FC236}">
                <a16:creationId xmlns:a16="http://schemas.microsoft.com/office/drawing/2014/main" id="{690D5B5E-DCEE-B44C-B94A-EBFC7C107D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4075" y="1295400"/>
            <a:ext cx="5607050" cy="3947564"/>
          </a:xfrm>
          <a:prstGeom prst="rect">
            <a:avLst/>
          </a:prstGeom>
        </p:spPr>
      </p:pic>
      <p:sp>
        <p:nvSpPr>
          <p:cNvPr id="9" name="Footer Placeholder 5">
            <a:extLst>
              <a:ext uri="{FF2B5EF4-FFF2-40B4-BE49-F238E27FC236}">
                <a16:creationId xmlns:a16="http://schemas.microsoft.com/office/drawing/2014/main" id="{1C10025F-1E3B-4AD6-B36A-F2D3ABCEA74D}"/>
              </a:ext>
            </a:extLst>
          </p:cNvPr>
          <p:cNvSpPr>
            <a:spLocks noGrp="1"/>
          </p:cNvSpPr>
          <p:nvPr>
            <p:ph type="ftr" sz="quarter" idx="11"/>
          </p:nvPr>
        </p:nvSpPr>
        <p:spPr>
          <a:xfrm>
            <a:off x="4165600" y="6356353"/>
            <a:ext cx="3860800" cy="365125"/>
          </a:xfrm>
        </p:spPr>
        <p:txBody>
          <a:bodyPr/>
          <a:lstStyle/>
          <a:p>
            <a:r>
              <a:rPr lang="en-US" dirty="0"/>
              <a:t>EVE310 Fall 2025 Lab 8</a:t>
            </a:r>
          </a:p>
        </p:txBody>
      </p:sp>
    </p:spTree>
    <p:extLst>
      <p:ext uri="{BB962C8B-B14F-4D97-AF65-F5344CB8AC3E}">
        <p14:creationId xmlns:p14="http://schemas.microsoft.com/office/powerpoint/2010/main" val="363167096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13</a:t>
            </a:fld>
            <a:endParaRPr lang="en-US"/>
          </a:p>
        </p:txBody>
      </p:sp>
      <p:sp>
        <p:nvSpPr>
          <p:cNvPr id="4" name="Rectangle 3"/>
          <p:cNvSpPr/>
          <p:nvPr/>
        </p:nvSpPr>
        <p:spPr>
          <a:xfrm>
            <a:off x="1066800" y="2321966"/>
            <a:ext cx="8345394" cy="2214068"/>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Logical Operators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If Statements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For Loops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Applying the above to a regression problem from class</a:t>
            </a:r>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Learning objectives</a:t>
            </a:r>
          </a:p>
        </p:txBody>
      </p:sp>
      <p:sp>
        <p:nvSpPr>
          <p:cNvPr id="6" name="Footer Placeholder 5">
            <a:extLst>
              <a:ext uri="{FF2B5EF4-FFF2-40B4-BE49-F238E27FC236}">
                <a16:creationId xmlns:a16="http://schemas.microsoft.com/office/drawing/2014/main" id="{54B9989A-743F-4105-9A74-8699E37E0329}"/>
              </a:ext>
            </a:extLst>
          </p:cNvPr>
          <p:cNvSpPr>
            <a:spLocks noGrp="1"/>
          </p:cNvSpPr>
          <p:nvPr>
            <p:ph type="ftr" sz="quarter" idx="11"/>
          </p:nvPr>
        </p:nvSpPr>
        <p:spPr>
          <a:xfrm>
            <a:off x="4165600" y="6356353"/>
            <a:ext cx="3860800" cy="365125"/>
          </a:xfrm>
        </p:spPr>
        <p:txBody>
          <a:bodyPr/>
          <a:lstStyle/>
          <a:p>
            <a:r>
              <a:rPr lang="en-US" dirty="0"/>
              <a:t>EVE310 Fall 2025 Lab 8</a:t>
            </a:r>
          </a:p>
        </p:txBody>
      </p:sp>
    </p:spTree>
    <p:extLst>
      <p:ext uri="{BB962C8B-B14F-4D97-AF65-F5344CB8AC3E}">
        <p14:creationId xmlns:p14="http://schemas.microsoft.com/office/powerpoint/2010/main" val="387413303"/>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51436</TotalTime>
  <Words>497</Words>
  <Application>Microsoft Macintosh PowerPoint</Application>
  <PresentationFormat>Widescreen</PresentationFormat>
  <Paragraphs>80</Paragraphs>
  <Slides>13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Helvetica Neue</vt:lpstr>
      <vt:lpstr>Söhne</vt:lpstr>
      <vt:lpstr>Office Theme</vt:lpstr>
      <vt:lpstr>EVE310 Lab 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 356 Elements of Hydraulic Engineering</dc:title>
  <dc:creator>lina</dc:creator>
  <cp:lastModifiedBy>Gupta, Priyanshu R</cp:lastModifiedBy>
  <cp:revision>1038</cp:revision>
  <cp:lastPrinted>2023-10-26T16:13:51Z</cp:lastPrinted>
  <dcterms:created xsi:type="dcterms:W3CDTF">2016-07-06T18:20:35Z</dcterms:created>
  <dcterms:modified xsi:type="dcterms:W3CDTF">2025-10-30T18:58:55Z</dcterms:modified>
</cp:coreProperties>
</file>