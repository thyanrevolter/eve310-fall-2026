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765" r:id="rId2"/>
    <p:sldId id="984" r:id="rId3"/>
    <p:sldId id="1008" r:id="rId4"/>
    <p:sldId id="992" r:id="rId5"/>
    <p:sldId id="985" r:id="rId6"/>
    <p:sldId id="986" r:id="rId7"/>
    <p:sldId id="987" r:id="rId8"/>
    <p:sldId id="988" r:id="rId9"/>
    <p:sldId id="989" r:id="rId10"/>
    <p:sldId id="991" r:id="rId11"/>
    <p:sldId id="993" r:id="rId12"/>
    <p:sldId id="994" r:id="rId13"/>
    <p:sldId id="995" r:id="rId14"/>
    <p:sldId id="996" r:id="rId15"/>
    <p:sldId id="997" r:id="rId16"/>
    <p:sldId id="999" r:id="rId17"/>
    <p:sldId id="1000" r:id="rId18"/>
    <p:sldId id="1001" r:id="rId19"/>
    <p:sldId id="1005" r:id="rId20"/>
    <p:sldId id="1002" r:id="rId21"/>
    <p:sldId id="1006" r:id="rId22"/>
    <p:sldId id="1007" r:id="rId23"/>
    <p:sldId id="1009" r:id="rId24"/>
    <p:sldId id="932" r:id="rId25"/>
    <p:sldId id="990" r:id="rId26"/>
    <p:sldId id="998" r:id="rId27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FF99"/>
    <a:srgbClr val="BF5700"/>
    <a:srgbClr val="1D4371"/>
    <a:srgbClr val="003399"/>
    <a:srgbClr val="385D8A"/>
    <a:srgbClr val="0070C0"/>
    <a:srgbClr val="990000"/>
    <a:srgbClr val="993300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58" autoAdjust="0"/>
    <p:restoredTop sz="84452" autoAdjust="0"/>
  </p:normalViewPr>
  <p:slideViewPr>
    <p:cSldViewPr>
      <p:cViewPr varScale="1">
        <p:scale>
          <a:sx n="106" d="100"/>
          <a:sy n="106" d="100"/>
        </p:scale>
        <p:origin x="1336" y="184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2AF32567-CE0A-411B-A193-274813F6AC70}" type="datetimeFigureOut">
              <a:rPr lang="en-US" smtClean="0"/>
              <a:t>8/3/24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58AE2663-530C-4834-9F93-457B710879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53136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5C2C7CE7-C9CA-47EF-8702-BBFECB6E221C}" type="datetimeFigureOut">
              <a:rPr lang="en-US" smtClean="0"/>
              <a:t>8/3/24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F447469E-A8B3-4EDF-ACC8-6B5423908F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6274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2A8CFD-7D0E-984D-8B4C-26FF9E5765E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8444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2A8CFD-7D0E-984D-8B4C-26FF9E5765E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3817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2A8CFD-7D0E-984D-8B4C-26FF9E5765E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7608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2A8CFD-7D0E-984D-8B4C-26FF9E5765E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3706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2A8CFD-7D0E-984D-8B4C-26FF9E5765E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0503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2A8CFD-7D0E-984D-8B4C-26FF9E5765E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7447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2A8CFD-7D0E-984D-8B4C-26FF9E5765E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7942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2A8CFD-7D0E-984D-8B4C-26FF9E5765E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0177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2A8CFD-7D0E-984D-8B4C-26FF9E5765E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7256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2A8CFD-7D0E-984D-8B4C-26FF9E5765E5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7795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2A8CFD-7D0E-984D-8B4C-26FF9E5765E5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8331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2A8CFD-7D0E-984D-8B4C-26FF9E5765E5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529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2A8CFD-7D0E-984D-8B4C-26FF9E5765E5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4292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2A8CFD-7D0E-984D-8B4C-26FF9E5765E5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692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2A8CFD-7D0E-984D-8B4C-26FF9E5765E5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21751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2A8CFD-7D0E-984D-8B4C-26FF9E5765E5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4830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2A8CFD-7D0E-984D-8B4C-26FF9E5765E5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226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2A8CFD-7D0E-984D-8B4C-26FF9E5765E5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3608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2A8CFD-7D0E-984D-8B4C-26FF9E5765E5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68176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…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Wingdings" panose="05000000000000000000" pitchFamily="2" charset="2"/>
              </a:rPr>
              <a:t> “Ellipsis”</a:t>
            </a:r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2A8CFD-7D0E-984D-8B4C-26FF9E5765E5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17902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2A8CFD-7D0E-984D-8B4C-26FF9E5765E5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0342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2A8CFD-7D0E-984D-8B4C-26FF9E5765E5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01357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2A8CFD-7D0E-984D-8B4C-26FF9E5765E5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38167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2A8CFD-7D0E-984D-8B4C-26FF9E5765E5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87274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2A8CFD-7D0E-984D-8B4C-26FF9E5765E5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3839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5DC58-5DB8-7F4B-8E99-BAC6BAF773CD}" type="datetime1">
              <a:rPr lang="en-US" smtClean="0"/>
              <a:t>8/3/24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EVE310 Fall 2022 Lab 9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848B6-D328-4CC8-99C6-D5689AE94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800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35681-869D-AA42-A322-378CB847E4A1}" type="datetime1">
              <a:rPr lang="en-US" smtClean="0"/>
              <a:t>8/3/24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EVE310 Fall 2022 Lab 9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848B6-D328-4CC8-99C6-D5689AE94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250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FCD1A-AB92-B44E-97EA-3A70E3BD7219}" type="datetime1">
              <a:rPr lang="en-US" smtClean="0"/>
              <a:t>8/3/24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EVE310 Fall 2022 Lab 9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848B6-D328-4CC8-99C6-D5689AE94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6913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00968-19A0-7D49-AEBA-3D50D5DB312B}" type="datetime1">
              <a:rPr lang="en-US" smtClean="0"/>
              <a:t>8/3/24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EVE310 Fall 2022 Lab 9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848B6-D328-4CC8-99C6-D5689AE94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983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01C54-8DD0-4C40-A270-27A31BA6EAA3}" type="datetime1">
              <a:rPr lang="en-US" smtClean="0"/>
              <a:t>8/3/24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EVE310 Fall 2022 Lab 9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848B6-D328-4CC8-99C6-D5689AE94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8423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7D96E-9EF6-634B-826F-E7510CB10538}" type="datetime1">
              <a:rPr lang="en-US" smtClean="0"/>
              <a:t>8/3/24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EVE310 Fall 2022 Lab 9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848B6-D328-4CC8-99C6-D5689AE94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462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3A4C1-3220-D046-9D9B-1BD1EF1AA9C4}" type="datetime1">
              <a:rPr lang="en-US" smtClean="0"/>
              <a:t>8/3/24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EVE310 Fall 2022 Lab 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848B6-D328-4CC8-99C6-D5689AE94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6357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4417F-82CD-4C47-A9AD-384E865FE09C}" type="datetime1">
              <a:rPr lang="en-US" smtClean="0"/>
              <a:t>8/3/24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EVE310 Fall 2022 Lab 9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848B6-D328-4CC8-99C6-D5689AE94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52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BB7A2-DD5A-D64A-9870-EA8EBB409CC0}" type="datetime1">
              <a:rPr lang="en-US" smtClean="0"/>
              <a:t>8/3/24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EVE310 Fall 2022 Lab 9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848B6-D328-4CC8-99C6-D5689AE94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225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4773A-9BF3-8B47-A80F-D12D2E49D4AF}" type="datetime1">
              <a:rPr lang="en-US" smtClean="0"/>
              <a:t>8/3/24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EVE310 Fall 2022 Lab 9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848B6-D328-4CC8-99C6-D5689AE94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0511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B1114-BD68-2541-B7A3-4BCD132BD625}" type="datetime1">
              <a:rPr lang="en-US" smtClean="0"/>
              <a:t>8/3/24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EVE310 Fall 2022 Lab 9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848B6-D328-4CC8-99C6-D5689AE94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264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C84FD1-ADA4-1944-90EC-516245804A73}" type="datetime1">
              <a:rPr lang="en-US" smtClean="0"/>
              <a:t>8/3/24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EVE310 Fall 2022 Lab 9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8848B6-D328-4CC8-99C6-D5689AE94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034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.emf"/><Relationship Id="rId5" Type="http://schemas.openxmlformats.org/officeDocument/2006/relationships/image" Target="../media/image17.emf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compute-it.toxicode.fr/?hour-of-code&amp;progression=python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utexas.qualtrics.com/jfe/form/SV_a9jfRgUQG8PGAGW?TA=kk35355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noFill/>
        </p:spPr>
        <p:txBody>
          <a:bodyPr/>
          <a:lstStyle/>
          <a:p>
            <a:r>
              <a:rPr lang="en-US" dirty="0"/>
              <a:t>EVE310 Lab 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noFill/>
        </p:spPr>
        <p:txBody>
          <a:bodyPr/>
          <a:lstStyle/>
          <a:p>
            <a:r>
              <a:rPr lang="en-US" dirty="0"/>
              <a:t>October 17, 2023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848B6-D328-4CC8-99C6-D5689AE94DF4}" type="slidenum">
              <a:rPr lang="en-US" smtClean="0"/>
              <a:t>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EVE310 Fall 2024 Lab 8</a:t>
            </a:r>
          </a:p>
        </p:txBody>
      </p:sp>
    </p:spTree>
    <p:extLst>
      <p:ext uri="{BB962C8B-B14F-4D97-AF65-F5344CB8AC3E}">
        <p14:creationId xmlns:p14="http://schemas.microsoft.com/office/powerpoint/2010/main" val="9737304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848B6-D328-4CC8-99C6-D5689AE94DF4}" type="slidenum">
              <a:rPr lang="en-US" smtClean="0"/>
              <a:t>2</a:t>
            </a:fld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990600" y="2133600"/>
            <a:ext cx="8345394" cy="14852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No lab quiz this week</a:t>
            </a:r>
          </a:p>
          <a:p>
            <a:pPr marL="800100" lvl="1" indent="-3429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There will be a lab quiz next week that incorporates 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both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Labs 8 and 10 in two weeks</a:t>
            </a:r>
          </a:p>
        </p:txBody>
      </p:sp>
      <p:sp>
        <p:nvSpPr>
          <p:cNvPr id="5" name="Rectangle 1"/>
          <p:cNvSpPr txBox="1">
            <a:spLocks noChangeArrowheads="1"/>
          </p:cNvSpPr>
          <p:nvPr/>
        </p:nvSpPr>
        <p:spPr>
          <a:xfrm>
            <a:off x="0" y="1"/>
            <a:ext cx="12192000" cy="685799"/>
          </a:xfrm>
          <a:prstGeom prst="rect">
            <a:avLst/>
          </a:prstGeom>
          <a:solidFill>
            <a:srgbClr val="BF5700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defPPr>
              <a:defRPr lang="en-US"/>
            </a:defPPr>
            <a:lvl1pPr marL="182880">
              <a:spcBef>
                <a:spcPct val="0"/>
              </a:spcBef>
              <a:buNone/>
              <a:defRPr sz="40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Announcements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B937E6-E640-4D0F-944C-8AC4063D5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</p:spPr>
        <p:txBody>
          <a:bodyPr/>
          <a:lstStyle/>
          <a:p>
            <a:r>
              <a:rPr lang="en-US" dirty="0"/>
              <a:t>EVE310 Fall 2024 Lab 8</a:t>
            </a:r>
          </a:p>
        </p:txBody>
      </p:sp>
    </p:spTree>
    <p:extLst>
      <p:ext uri="{BB962C8B-B14F-4D97-AF65-F5344CB8AC3E}">
        <p14:creationId xmlns:p14="http://schemas.microsoft.com/office/powerpoint/2010/main" val="514453946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848B6-D328-4CC8-99C6-D5689AE94DF4}" type="slidenum">
              <a:rPr lang="en-US" smtClean="0"/>
              <a:t>3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066800" y="2362200"/>
            <a:ext cx="8345394" cy="16391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Logical Operators</a:t>
            </a:r>
          </a:p>
          <a:p>
            <a:pPr marL="342900" indent="-3429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If Statements</a:t>
            </a:r>
          </a:p>
          <a:p>
            <a:pPr marL="342900" indent="-3429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For Loops</a:t>
            </a:r>
          </a:p>
        </p:txBody>
      </p:sp>
      <p:sp>
        <p:nvSpPr>
          <p:cNvPr id="5" name="Rectangle 1"/>
          <p:cNvSpPr txBox="1">
            <a:spLocks noChangeArrowheads="1"/>
          </p:cNvSpPr>
          <p:nvPr/>
        </p:nvSpPr>
        <p:spPr>
          <a:xfrm>
            <a:off x="0" y="1"/>
            <a:ext cx="12192000" cy="685799"/>
          </a:xfrm>
          <a:prstGeom prst="rect">
            <a:avLst/>
          </a:prstGeom>
          <a:solidFill>
            <a:srgbClr val="BF5700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defPPr>
              <a:defRPr lang="en-US"/>
            </a:defPPr>
            <a:lvl1pPr marL="182880">
              <a:spcBef>
                <a:spcPct val="0"/>
              </a:spcBef>
              <a:buNone/>
              <a:defRPr sz="40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Learning objectives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720A35-D533-40BB-92DB-9811E0D84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</p:spPr>
        <p:txBody>
          <a:bodyPr/>
          <a:lstStyle/>
          <a:p>
            <a:r>
              <a:rPr lang="en-US" dirty="0"/>
              <a:t>EVE310 Fall 2024 Lab 8</a:t>
            </a:r>
          </a:p>
        </p:txBody>
      </p:sp>
    </p:spTree>
    <p:extLst>
      <p:ext uri="{BB962C8B-B14F-4D97-AF65-F5344CB8AC3E}">
        <p14:creationId xmlns:p14="http://schemas.microsoft.com/office/powerpoint/2010/main" val="683456830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848B6-D328-4CC8-99C6-D5689AE94DF4}" type="slidenum">
              <a:rPr lang="en-US" smtClean="0"/>
              <a:t>4</a:t>
            </a:fld>
            <a:endParaRPr lang="en-US"/>
          </a:p>
        </p:txBody>
      </p:sp>
      <p:sp>
        <p:nvSpPr>
          <p:cNvPr id="5" name="Rectangle 1"/>
          <p:cNvSpPr txBox="1">
            <a:spLocks noChangeArrowheads="1"/>
          </p:cNvSpPr>
          <p:nvPr/>
        </p:nvSpPr>
        <p:spPr>
          <a:xfrm>
            <a:off x="0" y="1"/>
            <a:ext cx="12192000" cy="685799"/>
          </a:xfrm>
          <a:prstGeom prst="rect">
            <a:avLst/>
          </a:prstGeom>
          <a:solidFill>
            <a:srgbClr val="BF5700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defPPr>
              <a:defRPr lang="en-US"/>
            </a:defPPr>
            <a:lvl1pPr marL="182880">
              <a:spcBef>
                <a:spcPct val="0"/>
              </a:spcBef>
              <a:buNone/>
              <a:defRPr sz="40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If Statement</a:t>
            </a:r>
          </a:p>
        </p:txBody>
      </p:sp>
      <p:pic>
        <p:nvPicPr>
          <p:cNvPr id="2050" name="Picture 2" descr="IF Function Explained: How to Write an IF Statement Formula in Excel -  Excel Campus">
            <a:extLst>
              <a:ext uri="{FF2B5EF4-FFF2-40B4-BE49-F238E27FC236}">
                <a16:creationId xmlns:a16="http://schemas.microsoft.com/office/drawing/2014/main" id="{59DF2A3F-4AFC-4E19-B13F-8048BD918D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1551755"/>
            <a:ext cx="6096000" cy="3754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49B155-A94B-4503-8B9F-B08A6765B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</p:spPr>
        <p:txBody>
          <a:bodyPr/>
          <a:lstStyle/>
          <a:p>
            <a:r>
              <a:rPr lang="en-US" dirty="0"/>
              <a:t>EVE310 Fall 2024 Lab 8</a:t>
            </a:r>
          </a:p>
        </p:txBody>
      </p:sp>
    </p:spTree>
    <p:extLst>
      <p:ext uri="{BB962C8B-B14F-4D97-AF65-F5344CB8AC3E}">
        <p14:creationId xmlns:p14="http://schemas.microsoft.com/office/powerpoint/2010/main" val="672127195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848B6-D328-4CC8-99C6-D5689AE94DF4}" type="slidenum">
              <a:rPr lang="en-US" smtClean="0"/>
              <a:t>5</a:t>
            </a:fld>
            <a:endParaRPr lang="en-US"/>
          </a:p>
        </p:txBody>
      </p:sp>
      <p:sp>
        <p:nvSpPr>
          <p:cNvPr id="5" name="Rectangle 1"/>
          <p:cNvSpPr txBox="1">
            <a:spLocks noChangeArrowheads="1"/>
          </p:cNvSpPr>
          <p:nvPr/>
        </p:nvSpPr>
        <p:spPr>
          <a:xfrm>
            <a:off x="0" y="1"/>
            <a:ext cx="12192000" cy="685799"/>
          </a:xfrm>
          <a:prstGeom prst="rect">
            <a:avLst/>
          </a:prstGeom>
          <a:solidFill>
            <a:srgbClr val="BF5700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defPPr>
              <a:defRPr lang="en-US"/>
            </a:defPPr>
            <a:lvl1pPr marL="182880">
              <a:spcBef>
                <a:spcPct val="0"/>
              </a:spcBef>
              <a:buNone/>
              <a:defRPr sz="40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Diagram of an If Statement</a:t>
            </a:r>
          </a:p>
        </p:txBody>
      </p:sp>
      <p:pic>
        <p:nvPicPr>
          <p:cNvPr id="1026" name="Picture 2" descr="Scala - IF ELSE Statements - Tutorialspoint">
            <a:extLst>
              <a:ext uri="{FF2B5EF4-FFF2-40B4-BE49-F238E27FC236}">
                <a16:creationId xmlns:a16="http://schemas.microsoft.com/office/drawing/2014/main" id="{1FEA528C-70EA-43DF-8E85-9A6089EDB4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0" y="1001714"/>
            <a:ext cx="5715000" cy="5038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B90578-F6AE-4A9B-A86B-7F3E608B4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</p:spPr>
        <p:txBody>
          <a:bodyPr/>
          <a:lstStyle/>
          <a:p>
            <a:r>
              <a:rPr lang="en-US" dirty="0"/>
              <a:t>EVE310 Fall 2024 Lab 8</a:t>
            </a:r>
          </a:p>
        </p:txBody>
      </p:sp>
    </p:spTree>
    <p:extLst>
      <p:ext uri="{BB962C8B-B14F-4D97-AF65-F5344CB8AC3E}">
        <p14:creationId xmlns:p14="http://schemas.microsoft.com/office/powerpoint/2010/main" val="322748631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diagram&#10;&#10;Description automatically generated">
            <a:extLst>
              <a:ext uri="{FF2B5EF4-FFF2-40B4-BE49-F238E27FC236}">
                <a16:creationId xmlns:a16="http://schemas.microsoft.com/office/drawing/2014/main" id="{A8BB3E63-7925-654C-A7B0-E1B1929C25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7093" y="3733800"/>
            <a:ext cx="2721414" cy="1814276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848B6-D328-4CC8-99C6-D5689AE94DF4}" type="slidenum">
              <a:rPr lang="en-US" smtClean="0"/>
              <a:t>6</a:t>
            </a:fld>
            <a:endParaRPr lang="en-US"/>
          </a:p>
        </p:txBody>
      </p:sp>
      <p:sp>
        <p:nvSpPr>
          <p:cNvPr id="5" name="Rectangle 1"/>
          <p:cNvSpPr txBox="1">
            <a:spLocks noChangeArrowheads="1"/>
          </p:cNvSpPr>
          <p:nvPr/>
        </p:nvSpPr>
        <p:spPr>
          <a:xfrm>
            <a:off x="0" y="1"/>
            <a:ext cx="12192000" cy="685799"/>
          </a:xfrm>
          <a:prstGeom prst="rect">
            <a:avLst/>
          </a:prstGeom>
          <a:solidFill>
            <a:srgbClr val="BF5700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defPPr>
              <a:defRPr lang="en-US"/>
            </a:defPPr>
            <a:lvl1pPr marL="182880">
              <a:spcBef>
                <a:spcPct val="0"/>
              </a:spcBef>
              <a:buNone/>
              <a:defRPr sz="40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Logical Operators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02E2B81-C4FA-4E98-82B8-2A250FE025B7}"/>
              </a:ext>
            </a:extLst>
          </p:cNvPr>
          <p:cNvSpPr/>
          <p:nvPr/>
        </p:nvSpPr>
        <p:spPr>
          <a:xfrm>
            <a:off x="723900" y="1577848"/>
            <a:ext cx="11201400" cy="2214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Statements which ask a true or false question</a:t>
            </a:r>
          </a:p>
          <a:p>
            <a:pPr marL="342900" indent="-3429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Usually evaluate the relationship between two numbers</a:t>
            </a:r>
          </a:p>
          <a:p>
            <a:pPr marL="342900" indent="-3429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True means yes</a:t>
            </a:r>
          </a:p>
          <a:p>
            <a:pPr marL="342900" indent="-3429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False means no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21E1A13-CA26-4EF3-BF99-E5851DFA851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84917"/>
          <a:stretch/>
        </p:blipFill>
        <p:spPr>
          <a:xfrm>
            <a:off x="3886200" y="5874624"/>
            <a:ext cx="3276600" cy="393783"/>
          </a:xfrm>
          <a:prstGeom prst="rect">
            <a:avLst/>
          </a:prstGeom>
        </p:spPr>
      </p:pic>
      <p:sp>
        <p:nvSpPr>
          <p:cNvPr id="9" name="Right Brace 8">
            <a:extLst>
              <a:ext uri="{FF2B5EF4-FFF2-40B4-BE49-F238E27FC236}">
                <a16:creationId xmlns:a16="http://schemas.microsoft.com/office/drawing/2014/main" id="{2EB0D8B4-566E-49B1-8E97-09299214BBDD}"/>
              </a:ext>
            </a:extLst>
          </p:cNvPr>
          <p:cNvSpPr/>
          <p:nvPr/>
        </p:nvSpPr>
        <p:spPr>
          <a:xfrm>
            <a:off x="5257800" y="3801533"/>
            <a:ext cx="304800" cy="541867"/>
          </a:xfrm>
          <a:prstGeom prst="rightBrac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97A9E8-BC4E-4B9A-AE25-D3AFB01282FD}"/>
              </a:ext>
            </a:extLst>
          </p:cNvPr>
          <p:cNvSpPr txBox="1"/>
          <p:nvPr/>
        </p:nvSpPr>
        <p:spPr>
          <a:xfrm>
            <a:off x="5524500" y="3887800"/>
            <a:ext cx="16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Assign values</a:t>
            </a:r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F895BBB9-F4F2-4D0E-9F05-FBF2EF4D6106}"/>
              </a:ext>
            </a:extLst>
          </p:cNvPr>
          <p:cNvSpPr/>
          <p:nvPr/>
        </p:nvSpPr>
        <p:spPr>
          <a:xfrm>
            <a:off x="6362700" y="4965700"/>
            <a:ext cx="304800" cy="369333"/>
          </a:xfrm>
          <a:prstGeom prst="rightBrac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8CD3D7-F1FD-434C-BCE4-B1F3F09B2AAB}"/>
              </a:ext>
            </a:extLst>
          </p:cNvPr>
          <p:cNvSpPr txBox="1"/>
          <p:nvPr/>
        </p:nvSpPr>
        <p:spPr>
          <a:xfrm>
            <a:off x="6610350" y="4963003"/>
            <a:ext cx="3524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Asking Python: Is a equal to b?</a:t>
            </a:r>
          </a:p>
        </p:txBody>
      </p:sp>
      <p:sp>
        <p:nvSpPr>
          <p:cNvPr id="15" name="Right Brace 14">
            <a:extLst>
              <a:ext uri="{FF2B5EF4-FFF2-40B4-BE49-F238E27FC236}">
                <a16:creationId xmlns:a16="http://schemas.microsoft.com/office/drawing/2014/main" id="{57182316-1674-4193-837E-6071CBFF5CA5}"/>
              </a:ext>
            </a:extLst>
          </p:cNvPr>
          <p:cNvSpPr/>
          <p:nvPr/>
        </p:nvSpPr>
        <p:spPr>
          <a:xfrm>
            <a:off x="4857750" y="5877321"/>
            <a:ext cx="304800" cy="369333"/>
          </a:xfrm>
          <a:prstGeom prst="rightBrac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DC7CE44-1962-4C42-BE8E-19B7ABE48DF8}"/>
              </a:ext>
            </a:extLst>
          </p:cNvPr>
          <p:cNvSpPr txBox="1"/>
          <p:nvPr/>
        </p:nvSpPr>
        <p:spPr>
          <a:xfrm>
            <a:off x="5105400" y="5874624"/>
            <a:ext cx="464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logical “truth value” of the statement</a:t>
            </a:r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7FB816DD-205A-49AE-A39D-72D5C6128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</p:spPr>
        <p:txBody>
          <a:bodyPr/>
          <a:lstStyle/>
          <a:p>
            <a:r>
              <a:rPr lang="en-US" dirty="0"/>
              <a:t>EVE310 Fall 2024 Lab 8</a:t>
            </a:r>
          </a:p>
        </p:txBody>
      </p:sp>
    </p:spTree>
    <p:extLst>
      <p:ext uri="{BB962C8B-B14F-4D97-AF65-F5344CB8AC3E}">
        <p14:creationId xmlns:p14="http://schemas.microsoft.com/office/powerpoint/2010/main" val="1956279278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848B6-D328-4CC8-99C6-D5689AE94DF4}" type="slidenum">
              <a:rPr lang="en-US" smtClean="0"/>
              <a:t>7</a:t>
            </a:fld>
            <a:endParaRPr lang="en-US"/>
          </a:p>
        </p:txBody>
      </p:sp>
      <p:sp>
        <p:nvSpPr>
          <p:cNvPr id="5" name="Rectangle 1"/>
          <p:cNvSpPr txBox="1">
            <a:spLocks noChangeArrowheads="1"/>
          </p:cNvSpPr>
          <p:nvPr/>
        </p:nvSpPr>
        <p:spPr>
          <a:xfrm>
            <a:off x="0" y="1"/>
            <a:ext cx="12192000" cy="685799"/>
          </a:xfrm>
          <a:prstGeom prst="rect">
            <a:avLst/>
          </a:prstGeom>
          <a:solidFill>
            <a:srgbClr val="BF5700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defPPr>
              <a:defRPr lang="en-US"/>
            </a:defPPr>
            <a:lvl1pPr marL="182880">
              <a:spcBef>
                <a:spcPct val="0"/>
              </a:spcBef>
              <a:buNone/>
              <a:defRPr sz="40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Common Logical Operators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42B249A-2A27-4953-AEA6-431F4530D7D0}"/>
              </a:ext>
            </a:extLst>
          </p:cNvPr>
          <p:cNvSpPr/>
          <p:nvPr/>
        </p:nvSpPr>
        <p:spPr>
          <a:xfrm>
            <a:off x="990600" y="1371600"/>
            <a:ext cx="5638800" cy="910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code snippet to the right contains other common logical operators</a:t>
            </a:r>
          </a:p>
        </p:txBody>
      </p:sp>
      <p:pic>
        <p:nvPicPr>
          <p:cNvPr id="6" name="Picture 5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2605E6AD-A3D3-934B-840E-7C145BCC2B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0566" y="1364673"/>
            <a:ext cx="3444068" cy="4876800"/>
          </a:xfrm>
          <a:prstGeom prst="rect">
            <a:avLst/>
          </a:prstGeom>
        </p:spPr>
      </p:pic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EF720E1D-6D00-415B-B49D-E8213AFE7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</p:spPr>
        <p:txBody>
          <a:bodyPr/>
          <a:lstStyle/>
          <a:p>
            <a:r>
              <a:rPr lang="en-US" dirty="0"/>
              <a:t>EVE310 Fall 2024 Lab 8</a:t>
            </a:r>
          </a:p>
        </p:txBody>
      </p:sp>
    </p:spTree>
    <p:extLst>
      <p:ext uri="{BB962C8B-B14F-4D97-AF65-F5344CB8AC3E}">
        <p14:creationId xmlns:p14="http://schemas.microsoft.com/office/powerpoint/2010/main" val="1092196342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7EF3F9AD-9690-5F48-A8F5-A516DF7230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800" y="1203806"/>
            <a:ext cx="3444068" cy="4876800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848B6-D328-4CC8-99C6-D5689AE94DF4}" type="slidenum">
              <a:rPr lang="en-US" smtClean="0"/>
              <a:t>8</a:t>
            </a:fld>
            <a:endParaRPr lang="en-US"/>
          </a:p>
        </p:txBody>
      </p:sp>
      <p:sp>
        <p:nvSpPr>
          <p:cNvPr id="5" name="Rectangle 1"/>
          <p:cNvSpPr txBox="1">
            <a:spLocks noChangeArrowheads="1"/>
          </p:cNvSpPr>
          <p:nvPr/>
        </p:nvSpPr>
        <p:spPr>
          <a:xfrm>
            <a:off x="0" y="1"/>
            <a:ext cx="12192000" cy="685799"/>
          </a:xfrm>
          <a:prstGeom prst="rect">
            <a:avLst/>
          </a:prstGeom>
          <a:solidFill>
            <a:srgbClr val="BF5700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defPPr>
              <a:defRPr lang="en-US"/>
            </a:defPPr>
            <a:lvl1pPr marL="182880">
              <a:spcBef>
                <a:spcPct val="0"/>
              </a:spcBef>
              <a:buNone/>
              <a:defRPr sz="40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Beware the difference between = and ==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42B249A-2A27-4953-AEA6-431F4530D7D0}"/>
              </a:ext>
            </a:extLst>
          </p:cNvPr>
          <p:cNvSpPr/>
          <p:nvPr/>
        </p:nvSpPr>
        <p:spPr>
          <a:xfrm>
            <a:off x="990600" y="1371600"/>
            <a:ext cx="5638800" cy="38981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 = 5 and b = 4 assigns the value of 5 to a and 4 to b</a:t>
            </a:r>
          </a:p>
          <a:p>
            <a:pPr marL="342900" indent="-3429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 == b asks if the two variables are equal</a:t>
            </a:r>
          </a:p>
          <a:p>
            <a:pPr marL="342900" indent="-3429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 general, = assigns a value, and == asks if two values are equal </a:t>
            </a:r>
          </a:p>
          <a:p>
            <a:pPr marL="342900" indent="-3429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You do not need to always print a logical statement. Done here to see the output but most times, printing is not necessary.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0AFCE73-CC2F-4DEE-8306-BD2A64F8744D}"/>
              </a:ext>
            </a:extLst>
          </p:cNvPr>
          <p:cNvSpPr/>
          <p:nvPr/>
        </p:nvSpPr>
        <p:spPr>
          <a:xfrm>
            <a:off x="7543800" y="1210733"/>
            <a:ext cx="1905000" cy="12954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38A8AD9B-3478-437F-95F7-07D4379E6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</p:spPr>
        <p:txBody>
          <a:bodyPr/>
          <a:lstStyle/>
          <a:p>
            <a:r>
              <a:rPr lang="en-US" dirty="0"/>
              <a:t>EVE310 Fall 2024 Lab 8</a:t>
            </a:r>
          </a:p>
        </p:txBody>
      </p:sp>
    </p:spTree>
    <p:extLst>
      <p:ext uri="{BB962C8B-B14F-4D97-AF65-F5344CB8AC3E}">
        <p14:creationId xmlns:p14="http://schemas.microsoft.com/office/powerpoint/2010/main" val="536912084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6E33662B-8816-A84F-8B5C-6A1889B716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6543" y="2136252"/>
            <a:ext cx="9365857" cy="2969073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848B6-D328-4CC8-99C6-D5689AE94DF4}" type="slidenum">
              <a:rPr lang="en-US" smtClean="0"/>
              <a:t>9</a:t>
            </a:fld>
            <a:endParaRPr lang="en-US"/>
          </a:p>
        </p:txBody>
      </p:sp>
      <p:sp>
        <p:nvSpPr>
          <p:cNvPr id="5" name="Rectangle 1"/>
          <p:cNvSpPr txBox="1">
            <a:spLocks noChangeArrowheads="1"/>
          </p:cNvSpPr>
          <p:nvPr/>
        </p:nvSpPr>
        <p:spPr>
          <a:xfrm>
            <a:off x="0" y="1"/>
            <a:ext cx="12192000" cy="685799"/>
          </a:xfrm>
          <a:prstGeom prst="rect">
            <a:avLst/>
          </a:prstGeom>
          <a:solidFill>
            <a:srgbClr val="BF5700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defPPr>
              <a:defRPr lang="en-US"/>
            </a:defPPr>
            <a:lvl1pPr marL="182880">
              <a:spcBef>
                <a:spcPct val="0"/>
              </a:spcBef>
              <a:buNone/>
              <a:defRPr sz="40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If Statements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42B249A-2A27-4953-AEA6-431F4530D7D0}"/>
              </a:ext>
            </a:extLst>
          </p:cNvPr>
          <p:cNvSpPr/>
          <p:nvPr/>
        </p:nvSpPr>
        <p:spPr>
          <a:xfrm>
            <a:off x="990600" y="1371600"/>
            <a:ext cx="9144000" cy="4893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Execute some code if a logical statement (that you specify) is true</a:t>
            </a:r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274FFD1B-9277-4464-A1E5-3DF6FB71107F}"/>
              </a:ext>
            </a:extLst>
          </p:cNvPr>
          <p:cNvSpPr/>
          <p:nvPr/>
        </p:nvSpPr>
        <p:spPr>
          <a:xfrm>
            <a:off x="3005571" y="2450068"/>
            <a:ext cx="304800" cy="369332"/>
          </a:xfrm>
          <a:prstGeom prst="rightBrac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3BADAFE-C1EF-4CBA-BF5B-3A95182E942F}"/>
              </a:ext>
            </a:extLst>
          </p:cNvPr>
          <p:cNvSpPr txBox="1"/>
          <p:nvPr/>
        </p:nvSpPr>
        <p:spPr>
          <a:xfrm>
            <a:off x="3272271" y="2401100"/>
            <a:ext cx="16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Assign values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0745F41-7C23-4644-9D57-E7072ED9D539}"/>
              </a:ext>
            </a:extLst>
          </p:cNvPr>
          <p:cNvCxnSpPr>
            <a:cxnSpLocks/>
          </p:cNvCxnSpPr>
          <p:nvPr/>
        </p:nvCxnSpPr>
        <p:spPr>
          <a:xfrm>
            <a:off x="1204528" y="3089314"/>
            <a:ext cx="929225" cy="27278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91AABE7-75A9-47D9-8F5B-E9B61C710569}"/>
              </a:ext>
            </a:extLst>
          </p:cNvPr>
          <p:cNvSpPr txBox="1"/>
          <p:nvPr/>
        </p:nvSpPr>
        <p:spPr>
          <a:xfrm>
            <a:off x="33771" y="2456774"/>
            <a:ext cx="1981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“if” to initiate the if statement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C6C2C7B-47D3-46EC-B58D-06F896DD1559}"/>
              </a:ext>
            </a:extLst>
          </p:cNvPr>
          <p:cNvCxnSpPr>
            <a:cxnSpLocks/>
          </p:cNvCxnSpPr>
          <p:nvPr/>
        </p:nvCxnSpPr>
        <p:spPr>
          <a:xfrm flipH="1">
            <a:off x="3429153" y="2667000"/>
            <a:ext cx="1676247" cy="64441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364C4B75-5C84-44BB-AA1E-52CA613B0303}"/>
              </a:ext>
            </a:extLst>
          </p:cNvPr>
          <p:cNvSpPr txBox="1"/>
          <p:nvPr/>
        </p:nvSpPr>
        <p:spPr>
          <a:xfrm>
            <a:off x="5105400" y="2470565"/>
            <a:ext cx="5497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logical statement inside parenthesis followed by a “:”</a:t>
            </a:r>
          </a:p>
        </p:txBody>
      </p:sp>
      <p:sp>
        <p:nvSpPr>
          <p:cNvPr id="26" name="Right Brace 25">
            <a:extLst>
              <a:ext uri="{FF2B5EF4-FFF2-40B4-BE49-F238E27FC236}">
                <a16:creationId xmlns:a16="http://schemas.microsoft.com/office/drawing/2014/main" id="{17091818-A155-4BF6-B8CF-4CC5119F286C}"/>
              </a:ext>
            </a:extLst>
          </p:cNvPr>
          <p:cNvSpPr/>
          <p:nvPr/>
        </p:nvSpPr>
        <p:spPr>
          <a:xfrm>
            <a:off x="8090714" y="3489774"/>
            <a:ext cx="304800" cy="369332"/>
          </a:xfrm>
          <a:prstGeom prst="rightBrac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CF9C60B-7221-4A33-AA90-BDD87423C7A1}"/>
              </a:ext>
            </a:extLst>
          </p:cNvPr>
          <p:cNvSpPr txBox="1"/>
          <p:nvPr/>
        </p:nvSpPr>
        <p:spPr>
          <a:xfrm>
            <a:off x="8372120" y="3311417"/>
            <a:ext cx="3276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Code to be executed if the logical statement is true (note that it is indented)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4A919E9-0D03-4A82-BAA1-F66C5EF71C27}"/>
              </a:ext>
            </a:extLst>
          </p:cNvPr>
          <p:cNvCxnSpPr>
            <a:cxnSpLocks/>
          </p:cNvCxnSpPr>
          <p:nvPr/>
        </p:nvCxnSpPr>
        <p:spPr>
          <a:xfrm flipV="1">
            <a:off x="1314595" y="4352330"/>
            <a:ext cx="901948" cy="20908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DB86497C-796C-42F4-8B01-9D7750E852F8}"/>
              </a:ext>
            </a:extLst>
          </p:cNvPr>
          <p:cNvSpPr txBox="1"/>
          <p:nvPr/>
        </p:nvSpPr>
        <p:spPr>
          <a:xfrm>
            <a:off x="116561" y="4586286"/>
            <a:ext cx="1981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Code that is not included in the if statement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57501EC-AA05-43F6-AEDB-D54D7B6E3085}"/>
              </a:ext>
            </a:extLst>
          </p:cNvPr>
          <p:cNvCxnSpPr>
            <a:cxnSpLocks/>
          </p:cNvCxnSpPr>
          <p:nvPr/>
        </p:nvCxnSpPr>
        <p:spPr>
          <a:xfrm>
            <a:off x="2038399" y="3698914"/>
            <a:ext cx="461529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51366DE6-7960-440E-9368-8FC476F02A83}"/>
              </a:ext>
            </a:extLst>
          </p:cNvPr>
          <p:cNvSpPr txBox="1"/>
          <p:nvPr/>
        </p:nvSpPr>
        <p:spPr>
          <a:xfrm>
            <a:off x="531428" y="3495899"/>
            <a:ext cx="1566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Indented code</a:t>
            </a:r>
          </a:p>
        </p:txBody>
      </p:sp>
      <p:sp>
        <p:nvSpPr>
          <p:cNvPr id="20" name="Footer Placeholder 5">
            <a:extLst>
              <a:ext uri="{FF2B5EF4-FFF2-40B4-BE49-F238E27FC236}">
                <a16:creationId xmlns:a16="http://schemas.microsoft.com/office/drawing/2014/main" id="{FC3A2824-05E0-47EB-9CC4-2E8BB8C2E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</p:spPr>
        <p:txBody>
          <a:bodyPr/>
          <a:lstStyle/>
          <a:p>
            <a:r>
              <a:rPr lang="en-US" dirty="0"/>
              <a:t>EVE310 Fall 2024 Lab 8</a:t>
            </a:r>
          </a:p>
        </p:txBody>
      </p:sp>
    </p:spTree>
    <p:extLst>
      <p:ext uri="{BB962C8B-B14F-4D97-AF65-F5344CB8AC3E}">
        <p14:creationId xmlns:p14="http://schemas.microsoft.com/office/powerpoint/2010/main" val="1431795101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848B6-D328-4CC8-99C6-D5689AE94DF4}" type="slidenum">
              <a:rPr lang="en-US" smtClean="0"/>
              <a:t>10</a:t>
            </a:fld>
            <a:endParaRPr lang="en-US"/>
          </a:p>
        </p:txBody>
      </p:sp>
      <p:sp>
        <p:nvSpPr>
          <p:cNvPr id="5" name="Rectangle 1"/>
          <p:cNvSpPr txBox="1">
            <a:spLocks noChangeArrowheads="1"/>
          </p:cNvSpPr>
          <p:nvPr/>
        </p:nvSpPr>
        <p:spPr>
          <a:xfrm>
            <a:off x="0" y="1"/>
            <a:ext cx="12192000" cy="685799"/>
          </a:xfrm>
          <a:prstGeom prst="rect">
            <a:avLst/>
          </a:prstGeom>
          <a:solidFill>
            <a:srgbClr val="BF5700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defPPr>
              <a:defRPr lang="en-US"/>
            </a:defPPr>
            <a:lvl1pPr marL="182880">
              <a:spcBef>
                <a:spcPct val="0"/>
              </a:spcBef>
              <a:buNone/>
              <a:defRPr sz="40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If-Else Statement</a:t>
            </a:r>
          </a:p>
        </p:txBody>
      </p:sp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F21FE439-47E7-0D46-B89A-2BF4A36651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9389" y="1771650"/>
            <a:ext cx="7813221" cy="3314700"/>
          </a:xfrm>
          <a:prstGeom prst="rect">
            <a:avLst/>
          </a:prstGeom>
        </p:spPr>
      </p:pic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94F2C314-F732-46DA-B3E0-5F1CB88E7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</p:spPr>
        <p:txBody>
          <a:bodyPr/>
          <a:lstStyle/>
          <a:p>
            <a:r>
              <a:rPr lang="en-US" dirty="0"/>
              <a:t>EVE310 Fall 2024 Lab 8</a:t>
            </a:r>
          </a:p>
        </p:txBody>
      </p:sp>
    </p:spTree>
    <p:extLst>
      <p:ext uri="{BB962C8B-B14F-4D97-AF65-F5344CB8AC3E}">
        <p14:creationId xmlns:p14="http://schemas.microsoft.com/office/powerpoint/2010/main" val="3160261966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848B6-D328-4CC8-99C6-D5689AE94DF4}" type="slidenum">
              <a:rPr lang="en-US" smtClean="0"/>
              <a:t>11</a:t>
            </a:fld>
            <a:endParaRPr lang="en-US"/>
          </a:p>
        </p:txBody>
      </p:sp>
      <p:sp>
        <p:nvSpPr>
          <p:cNvPr id="5" name="Rectangle 1"/>
          <p:cNvSpPr txBox="1">
            <a:spLocks noChangeArrowheads="1"/>
          </p:cNvSpPr>
          <p:nvPr/>
        </p:nvSpPr>
        <p:spPr>
          <a:xfrm>
            <a:off x="0" y="1"/>
            <a:ext cx="12192000" cy="685799"/>
          </a:xfrm>
          <a:prstGeom prst="rect">
            <a:avLst/>
          </a:prstGeom>
          <a:solidFill>
            <a:srgbClr val="BF5700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defPPr>
              <a:defRPr lang="en-US"/>
            </a:defPPr>
            <a:lvl1pPr marL="182880">
              <a:spcBef>
                <a:spcPct val="0"/>
              </a:spcBef>
              <a:buNone/>
              <a:defRPr sz="40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For Loop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42B249A-2A27-4953-AEA6-431F4530D7D0}"/>
              </a:ext>
            </a:extLst>
          </p:cNvPr>
          <p:cNvSpPr/>
          <p:nvPr/>
        </p:nvSpPr>
        <p:spPr>
          <a:xfrm>
            <a:off x="990600" y="1371600"/>
            <a:ext cx="8991600" cy="2635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Useful for tasks that are repetitive</a:t>
            </a:r>
          </a:p>
          <a:p>
            <a:pPr marL="342900" indent="-3429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Can condense many lines of code into very simple code</a:t>
            </a:r>
          </a:p>
          <a:p>
            <a:pPr marL="342900" indent="-3429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Can have loops within loops</a:t>
            </a:r>
          </a:p>
          <a:p>
            <a:pPr marL="342900" indent="-3429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We’ll start with some very simple tasks, and then work up to more complex ones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51C74F-8FDC-42ED-B704-4A5267B8D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</p:spPr>
        <p:txBody>
          <a:bodyPr/>
          <a:lstStyle/>
          <a:p>
            <a:r>
              <a:rPr lang="en-US" dirty="0"/>
              <a:t>EVE310 Fall 2024 Lab 8</a:t>
            </a:r>
          </a:p>
        </p:txBody>
      </p:sp>
    </p:spTree>
    <p:extLst>
      <p:ext uri="{BB962C8B-B14F-4D97-AF65-F5344CB8AC3E}">
        <p14:creationId xmlns:p14="http://schemas.microsoft.com/office/powerpoint/2010/main" val="1306508380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848B6-D328-4CC8-99C6-D5689AE94DF4}" type="slidenum">
              <a:rPr lang="en-US" smtClean="0"/>
              <a:t>12</a:t>
            </a:fld>
            <a:endParaRPr lang="en-US"/>
          </a:p>
        </p:txBody>
      </p:sp>
      <p:sp>
        <p:nvSpPr>
          <p:cNvPr id="5" name="Rectangle 1"/>
          <p:cNvSpPr txBox="1">
            <a:spLocks noChangeArrowheads="1"/>
          </p:cNvSpPr>
          <p:nvPr/>
        </p:nvSpPr>
        <p:spPr>
          <a:xfrm>
            <a:off x="0" y="1"/>
            <a:ext cx="12192000" cy="685799"/>
          </a:xfrm>
          <a:prstGeom prst="rect">
            <a:avLst/>
          </a:prstGeom>
          <a:solidFill>
            <a:srgbClr val="BF5700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defPPr>
              <a:defRPr lang="en-US"/>
            </a:defPPr>
            <a:lvl1pPr marL="182880">
              <a:spcBef>
                <a:spcPct val="0"/>
              </a:spcBef>
              <a:buNone/>
              <a:defRPr sz="40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Quick Review of Variable Indexing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FE0046-10F0-4704-837C-48B52A79FFCB}"/>
              </a:ext>
            </a:extLst>
          </p:cNvPr>
          <p:cNvSpPr txBox="1"/>
          <p:nvPr/>
        </p:nvSpPr>
        <p:spPr>
          <a:xfrm>
            <a:off x="723899" y="3898806"/>
            <a:ext cx="10744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What would you type to index the second value of </a:t>
            </a:r>
            <a:r>
              <a:rPr lang="en-US" sz="3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my_array</a:t>
            </a: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81095D-6645-4E25-A71A-C63AC57FE2BA}"/>
              </a:ext>
            </a:extLst>
          </p:cNvPr>
          <p:cNvSpPr txBox="1"/>
          <p:nvPr/>
        </p:nvSpPr>
        <p:spPr>
          <a:xfrm>
            <a:off x="730826" y="4457851"/>
            <a:ext cx="1752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(see lab 2)</a:t>
            </a:r>
          </a:p>
        </p:txBody>
      </p:sp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F3FC6D63-61D5-3446-B80E-2018F3EE9C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9019" y="2433659"/>
            <a:ext cx="3958578" cy="744094"/>
          </a:xfrm>
          <a:prstGeom prst="rect">
            <a:avLst/>
          </a:prstGeom>
        </p:spPr>
      </p:pic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BFFF4B59-0BEC-488C-8B3A-2561C0A0C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</p:spPr>
        <p:txBody>
          <a:bodyPr/>
          <a:lstStyle/>
          <a:p>
            <a:r>
              <a:rPr lang="en-US" dirty="0"/>
              <a:t>EVE310 Fall 2024 Lab 8</a:t>
            </a:r>
          </a:p>
        </p:txBody>
      </p:sp>
    </p:spTree>
    <p:extLst>
      <p:ext uri="{BB962C8B-B14F-4D97-AF65-F5344CB8AC3E}">
        <p14:creationId xmlns:p14="http://schemas.microsoft.com/office/powerpoint/2010/main" val="1360126115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848B6-D328-4CC8-99C6-D5689AE94DF4}" type="slidenum">
              <a:rPr lang="en-US" smtClean="0"/>
              <a:t>13</a:t>
            </a:fld>
            <a:endParaRPr lang="en-US"/>
          </a:p>
        </p:txBody>
      </p:sp>
      <p:sp>
        <p:nvSpPr>
          <p:cNvPr id="5" name="Rectangle 1"/>
          <p:cNvSpPr txBox="1">
            <a:spLocks noChangeArrowheads="1"/>
          </p:cNvSpPr>
          <p:nvPr/>
        </p:nvSpPr>
        <p:spPr>
          <a:xfrm>
            <a:off x="0" y="1"/>
            <a:ext cx="12192000" cy="685799"/>
          </a:xfrm>
          <a:prstGeom prst="rect">
            <a:avLst/>
          </a:prstGeom>
          <a:solidFill>
            <a:srgbClr val="BF5700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defPPr>
              <a:defRPr lang="en-US"/>
            </a:defPPr>
            <a:lvl1pPr marL="182880">
              <a:spcBef>
                <a:spcPct val="0"/>
              </a:spcBef>
              <a:buNone/>
              <a:defRPr sz="40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Quick Review of Variable Indexing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FE0046-10F0-4704-837C-48B52A79FFCB}"/>
              </a:ext>
            </a:extLst>
          </p:cNvPr>
          <p:cNvSpPr txBox="1"/>
          <p:nvPr/>
        </p:nvSpPr>
        <p:spPr>
          <a:xfrm>
            <a:off x="723899" y="4002728"/>
            <a:ext cx="10744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my_array</a:t>
            </a: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[1] will return the second value of </a:t>
            </a:r>
            <a:r>
              <a:rPr lang="en-US" sz="3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my_array</a:t>
            </a:r>
            <a:endParaRPr lang="en-US" sz="3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8" name="Picture 7" descr="Text&#10;&#10;Description automatically generated">
            <a:extLst>
              <a:ext uri="{FF2B5EF4-FFF2-40B4-BE49-F238E27FC236}">
                <a16:creationId xmlns:a16="http://schemas.microsoft.com/office/drawing/2014/main" id="{7088DA67-905A-244B-AAC0-356675B18A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9019" y="2438400"/>
            <a:ext cx="3958578" cy="744094"/>
          </a:xfrm>
          <a:prstGeom prst="rect">
            <a:avLst/>
          </a:prstGeom>
        </p:spPr>
      </p:pic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2AC2B3B7-F107-4B86-8353-9B3AFA833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</p:spPr>
        <p:txBody>
          <a:bodyPr/>
          <a:lstStyle/>
          <a:p>
            <a:r>
              <a:rPr lang="en-US" dirty="0"/>
              <a:t>EVE310 Fall 2024 Lab 8</a:t>
            </a:r>
          </a:p>
        </p:txBody>
      </p:sp>
    </p:spTree>
    <p:extLst>
      <p:ext uri="{BB962C8B-B14F-4D97-AF65-F5344CB8AC3E}">
        <p14:creationId xmlns:p14="http://schemas.microsoft.com/office/powerpoint/2010/main" val="3981629223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848B6-D328-4CC8-99C6-D5689AE94DF4}" type="slidenum">
              <a:rPr lang="en-US" smtClean="0"/>
              <a:t>14</a:t>
            </a:fld>
            <a:endParaRPr lang="en-US"/>
          </a:p>
        </p:txBody>
      </p:sp>
      <p:sp>
        <p:nvSpPr>
          <p:cNvPr id="5" name="Rectangle 1"/>
          <p:cNvSpPr txBox="1">
            <a:spLocks noChangeArrowheads="1"/>
          </p:cNvSpPr>
          <p:nvPr/>
        </p:nvSpPr>
        <p:spPr>
          <a:xfrm>
            <a:off x="0" y="1"/>
            <a:ext cx="12192000" cy="685799"/>
          </a:xfrm>
          <a:prstGeom prst="rect">
            <a:avLst/>
          </a:prstGeom>
          <a:solidFill>
            <a:srgbClr val="BF5700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defPPr>
              <a:defRPr lang="en-US"/>
            </a:defPPr>
            <a:lvl1pPr marL="182880">
              <a:spcBef>
                <a:spcPct val="0"/>
              </a:spcBef>
              <a:buNone/>
              <a:defRPr sz="40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Suppose we wanted to print all of the values of </a:t>
            </a:r>
            <a:r>
              <a:rPr lang="en-US" dirty="0" err="1"/>
              <a:t>my_array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8867989-9979-47F3-8B41-3FB7A6839D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92288"/>
            <a:ext cx="4805363" cy="115178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F72DB49-25F2-429C-A51F-8A27885BCF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5600" y="1792288"/>
            <a:ext cx="5058644" cy="172878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3609803-2352-4C63-AB53-96BAEB77DD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4107385"/>
            <a:ext cx="4681538" cy="2210868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8C11F3E-7907-41AB-97B5-BA6993212AC7}"/>
              </a:ext>
            </a:extLst>
          </p:cNvPr>
          <p:cNvCxnSpPr>
            <a:cxnSpLocks/>
          </p:cNvCxnSpPr>
          <p:nvPr/>
        </p:nvCxnSpPr>
        <p:spPr>
          <a:xfrm flipV="1">
            <a:off x="5304896" y="2365694"/>
            <a:ext cx="1366837" cy="1"/>
          </a:xfrm>
          <a:prstGeom prst="straightConnector1">
            <a:avLst/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0D52C3A-E52D-4D51-9CA3-E55E93BF987D}"/>
              </a:ext>
            </a:extLst>
          </p:cNvPr>
          <p:cNvSpPr txBox="1"/>
          <p:nvPr/>
        </p:nvSpPr>
        <p:spPr>
          <a:xfrm>
            <a:off x="5283730" y="1919803"/>
            <a:ext cx="144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Same Result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6D853FD-5990-430D-B04C-D300EC9F0265}"/>
              </a:ext>
            </a:extLst>
          </p:cNvPr>
          <p:cNvSpPr txBox="1"/>
          <p:nvPr/>
        </p:nvSpPr>
        <p:spPr>
          <a:xfrm>
            <a:off x="2135981" y="1284809"/>
            <a:ext cx="144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Option 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EB646D2-5F88-4851-B723-FD723D8FE95B}"/>
              </a:ext>
            </a:extLst>
          </p:cNvPr>
          <p:cNvSpPr txBox="1"/>
          <p:nvPr/>
        </p:nvSpPr>
        <p:spPr>
          <a:xfrm>
            <a:off x="8511022" y="1284809"/>
            <a:ext cx="144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Option 2</a:t>
            </a:r>
          </a:p>
        </p:txBody>
      </p:sp>
      <p:sp>
        <p:nvSpPr>
          <p:cNvPr id="12" name="Footer Placeholder 5">
            <a:extLst>
              <a:ext uri="{FF2B5EF4-FFF2-40B4-BE49-F238E27FC236}">
                <a16:creationId xmlns:a16="http://schemas.microsoft.com/office/drawing/2014/main" id="{DE82E16B-DC13-434A-9B2C-E9D56574E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</p:spPr>
        <p:txBody>
          <a:bodyPr/>
          <a:lstStyle/>
          <a:p>
            <a:r>
              <a:rPr lang="en-US" dirty="0"/>
              <a:t>EVE310 Fall 2024 Lab 8</a:t>
            </a:r>
          </a:p>
        </p:txBody>
      </p:sp>
    </p:spTree>
    <p:extLst>
      <p:ext uri="{BB962C8B-B14F-4D97-AF65-F5344CB8AC3E}">
        <p14:creationId xmlns:p14="http://schemas.microsoft.com/office/powerpoint/2010/main" val="3156057393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848B6-D328-4CC8-99C6-D5689AE94DF4}" type="slidenum">
              <a:rPr lang="en-US" smtClean="0"/>
              <a:t>15</a:t>
            </a:fld>
            <a:endParaRPr lang="en-US"/>
          </a:p>
        </p:txBody>
      </p:sp>
      <p:sp>
        <p:nvSpPr>
          <p:cNvPr id="5" name="Rectangle 1"/>
          <p:cNvSpPr txBox="1">
            <a:spLocks noChangeArrowheads="1"/>
          </p:cNvSpPr>
          <p:nvPr/>
        </p:nvSpPr>
        <p:spPr>
          <a:xfrm>
            <a:off x="0" y="1"/>
            <a:ext cx="12192000" cy="685799"/>
          </a:xfrm>
          <a:prstGeom prst="rect">
            <a:avLst/>
          </a:prstGeom>
          <a:solidFill>
            <a:srgbClr val="BF5700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defPPr>
              <a:defRPr lang="en-US"/>
            </a:defPPr>
            <a:lvl1pPr marL="182880">
              <a:spcBef>
                <a:spcPct val="0"/>
              </a:spcBef>
              <a:buNone/>
              <a:defRPr sz="40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Suppose we wanted to print all of the values of </a:t>
            </a:r>
            <a:r>
              <a:rPr lang="en-US" dirty="0" err="1"/>
              <a:t>my_array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F72DB49-25F2-429C-A51F-8A27885BCF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1501300"/>
            <a:ext cx="5058644" cy="1728788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8C11F3E-7907-41AB-97B5-BA6993212AC7}"/>
              </a:ext>
            </a:extLst>
          </p:cNvPr>
          <p:cNvCxnSpPr>
            <a:cxnSpLocks/>
          </p:cNvCxnSpPr>
          <p:nvPr/>
        </p:nvCxnSpPr>
        <p:spPr>
          <a:xfrm flipV="1">
            <a:off x="5304896" y="2365694"/>
            <a:ext cx="1366837" cy="1"/>
          </a:xfrm>
          <a:prstGeom prst="straightConnector1">
            <a:avLst/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0D52C3A-E52D-4D51-9CA3-E55E93BF987D}"/>
              </a:ext>
            </a:extLst>
          </p:cNvPr>
          <p:cNvSpPr txBox="1"/>
          <p:nvPr/>
        </p:nvSpPr>
        <p:spPr>
          <a:xfrm>
            <a:off x="5283730" y="1919803"/>
            <a:ext cx="144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Same Result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EB646D2-5F88-4851-B723-FD723D8FE95B}"/>
              </a:ext>
            </a:extLst>
          </p:cNvPr>
          <p:cNvSpPr txBox="1"/>
          <p:nvPr/>
        </p:nvSpPr>
        <p:spPr>
          <a:xfrm>
            <a:off x="1981200" y="1093868"/>
            <a:ext cx="144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Option 2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5FD62D-E324-4C7F-B646-64016EB406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1985668"/>
            <a:ext cx="3259657" cy="76005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92E3A61-30D9-42FF-823D-A141AD5E36BA}"/>
              </a:ext>
            </a:extLst>
          </p:cNvPr>
          <p:cNvSpPr txBox="1"/>
          <p:nvPr/>
        </p:nvSpPr>
        <p:spPr>
          <a:xfrm>
            <a:off x="7920038" y="1131968"/>
            <a:ext cx="144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Option 3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46EA522-B6A4-43D1-9DC3-83BBA101B2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88935" y="3852448"/>
            <a:ext cx="3997272" cy="1873584"/>
          </a:xfrm>
          <a:prstGeom prst="rect">
            <a:avLst/>
          </a:prstGeom>
        </p:spPr>
      </p:pic>
      <p:sp>
        <p:nvSpPr>
          <p:cNvPr id="12" name="Footer Placeholder 5">
            <a:extLst>
              <a:ext uri="{FF2B5EF4-FFF2-40B4-BE49-F238E27FC236}">
                <a16:creationId xmlns:a16="http://schemas.microsoft.com/office/drawing/2014/main" id="{23F84D3A-20B2-41AF-8B06-57EAE31C0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</p:spPr>
        <p:txBody>
          <a:bodyPr/>
          <a:lstStyle/>
          <a:p>
            <a:r>
              <a:rPr lang="en-US" dirty="0"/>
              <a:t>EVE310 Fall 2024 Lab 8</a:t>
            </a:r>
          </a:p>
        </p:txBody>
      </p:sp>
    </p:spTree>
    <p:extLst>
      <p:ext uri="{BB962C8B-B14F-4D97-AF65-F5344CB8AC3E}">
        <p14:creationId xmlns:p14="http://schemas.microsoft.com/office/powerpoint/2010/main" val="259211188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848B6-D328-4CC8-99C6-D5689AE94DF4}" type="slidenum">
              <a:rPr lang="en-US" smtClean="0"/>
              <a:t>16</a:t>
            </a:fld>
            <a:endParaRPr lang="en-US"/>
          </a:p>
        </p:txBody>
      </p:sp>
      <p:sp>
        <p:nvSpPr>
          <p:cNvPr id="5" name="Rectangle 1"/>
          <p:cNvSpPr txBox="1">
            <a:spLocks noChangeArrowheads="1"/>
          </p:cNvSpPr>
          <p:nvPr/>
        </p:nvSpPr>
        <p:spPr>
          <a:xfrm>
            <a:off x="0" y="1"/>
            <a:ext cx="12192000" cy="685799"/>
          </a:xfrm>
          <a:prstGeom prst="rect">
            <a:avLst/>
          </a:prstGeom>
          <a:solidFill>
            <a:srgbClr val="BF5700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defPPr>
              <a:defRPr lang="en-US"/>
            </a:defPPr>
            <a:lvl1pPr marL="182880">
              <a:spcBef>
                <a:spcPct val="0"/>
              </a:spcBef>
              <a:buNone/>
              <a:defRPr sz="40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For Loop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DFFCDF1-1680-4756-93D6-559D0D7EE0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5200" y="2438400"/>
            <a:ext cx="4171951" cy="838200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43F1E23-DE5C-49DD-A083-09DC5D3718E3}"/>
              </a:ext>
            </a:extLst>
          </p:cNvPr>
          <p:cNvCxnSpPr>
            <a:cxnSpLocks/>
          </p:cNvCxnSpPr>
          <p:nvPr/>
        </p:nvCxnSpPr>
        <p:spPr>
          <a:xfrm>
            <a:off x="2514600" y="2667000"/>
            <a:ext cx="1058525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43CD1B19-E937-4C91-B293-982C5F132CFE}"/>
              </a:ext>
            </a:extLst>
          </p:cNvPr>
          <p:cNvSpPr txBox="1"/>
          <p:nvPr/>
        </p:nvSpPr>
        <p:spPr>
          <a:xfrm>
            <a:off x="533400" y="2440800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Initiate the for loop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B76ED7F-6A5B-49E3-ACC8-785E51F688F5}"/>
              </a:ext>
            </a:extLst>
          </p:cNvPr>
          <p:cNvCxnSpPr>
            <a:cxnSpLocks/>
          </p:cNvCxnSpPr>
          <p:nvPr/>
        </p:nvCxnSpPr>
        <p:spPr>
          <a:xfrm>
            <a:off x="3429000" y="1981200"/>
            <a:ext cx="990600" cy="60960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5CF3024E-F78B-4D1E-9032-62066EC971EC}"/>
              </a:ext>
            </a:extLst>
          </p:cNvPr>
          <p:cNvSpPr txBox="1"/>
          <p:nvPr/>
        </p:nvSpPr>
        <p:spPr>
          <a:xfrm>
            <a:off x="1485900" y="1127666"/>
            <a:ext cx="2057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Variable which will change values inside the for loop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391995F-AADD-4E5E-8E5F-4567A5FCAE46}"/>
              </a:ext>
            </a:extLst>
          </p:cNvPr>
          <p:cNvCxnSpPr>
            <a:cxnSpLocks/>
          </p:cNvCxnSpPr>
          <p:nvPr/>
        </p:nvCxnSpPr>
        <p:spPr>
          <a:xfrm>
            <a:off x="4876800" y="1828800"/>
            <a:ext cx="0" cy="68580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A64FC801-E5DC-4821-A2FC-73B8348F6BDD}"/>
              </a:ext>
            </a:extLst>
          </p:cNvPr>
          <p:cNvSpPr txBox="1"/>
          <p:nvPr/>
        </p:nvSpPr>
        <p:spPr>
          <a:xfrm>
            <a:off x="3960283" y="1066800"/>
            <a:ext cx="18330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word “in” is always in the middle</a:t>
            </a:r>
          </a:p>
        </p:txBody>
      </p:sp>
      <p:sp>
        <p:nvSpPr>
          <p:cNvPr id="31" name="Right Brace 30">
            <a:extLst>
              <a:ext uri="{FF2B5EF4-FFF2-40B4-BE49-F238E27FC236}">
                <a16:creationId xmlns:a16="http://schemas.microsoft.com/office/drawing/2014/main" id="{648A12CC-590D-4D44-8074-07673DB6AA3E}"/>
              </a:ext>
            </a:extLst>
          </p:cNvPr>
          <p:cNvSpPr/>
          <p:nvPr/>
        </p:nvSpPr>
        <p:spPr>
          <a:xfrm rot="16200000">
            <a:off x="6021918" y="1461016"/>
            <a:ext cx="304800" cy="1833036"/>
          </a:xfrm>
          <a:prstGeom prst="rightBrac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28C663D-4E69-4D5C-A122-0D2F2B0B50AB}"/>
              </a:ext>
            </a:extLst>
          </p:cNvPr>
          <p:cNvCxnSpPr>
            <a:cxnSpLocks/>
          </p:cNvCxnSpPr>
          <p:nvPr/>
        </p:nvCxnSpPr>
        <p:spPr>
          <a:xfrm flipH="1">
            <a:off x="6174318" y="1528465"/>
            <a:ext cx="1293282" cy="64323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74509A90-A35B-4C7D-8E6E-39EAB788DBCA}"/>
              </a:ext>
            </a:extLst>
          </p:cNvPr>
          <p:cNvSpPr txBox="1"/>
          <p:nvPr/>
        </p:nvSpPr>
        <p:spPr>
          <a:xfrm>
            <a:off x="7467600" y="1091737"/>
            <a:ext cx="3352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values that the variable </a:t>
            </a:r>
            <a:r>
              <a:rPr lang="en-US" dirty="0" err="1"/>
              <a:t>i</a:t>
            </a:r>
            <a:r>
              <a:rPr lang="en-US" dirty="0"/>
              <a:t> will take in each loop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52E81FDB-2844-4314-84B6-3591E440643E}"/>
              </a:ext>
            </a:extLst>
          </p:cNvPr>
          <p:cNvCxnSpPr>
            <a:cxnSpLocks/>
          </p:cNvCxnSpPr>
          <p:nvPr/>
        </p:nvCxnSpPr>
        <p:spPr>
          <a:xfrm flipH="1">
            <a:off x="7250644" y="2667000"/>
            <a:ext cx="853014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D2176ADB-14BC-44BB-8375-AD32CABE8347}"/>
              </a:ext>
            </a:extLst>
          </p:cNvPr>
          <p:cNvSpPr txBox="1"/>
          <p:nvPr/>
        </p:nvSpPr>
        <p:spPr>
          <a:xfrm>
            <a:off x="8097119" y="2438400"/>
            <a:ext cx="335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Ends with a “:”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E60562A-7A32-4902-87B0-B6F9B96EC5F7}"/>
              </a:ext>
            </a:extLst>
          </p:cNvPr>
          <p:cNvSpPr/>
          <p:nvPr/>
        </p:nvSpPr>
        <p:spPr>
          <a:xfrm>
            <a:off x="1752600" y="4130133"/>
            <a:ext cx="8229600" cy="1906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range(0,4) means that I will take the value of each integer from 0 to 3</a:t>
            </a:r>
          </a:p>
          <a:p>
            <a:pPr marL="342900" indent="-3429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Loop will continue until all of the values of range(0,4) have been utilized</a:t>
            </a:r>
          </a:p>
        </p:txBody>
      </p:sp>
      <p:sp>
        <p:nvSpPr>
          <p:cNvPr id="19" name="Footer Placeholder 5">
            <a:extLst>
              <a:ext uri="{FF2B5EF4-FFF2-40B4-BE49-F238E27FC236}">
                <a16:creationId xmlns:a16="http://schemas.microsoft.com/office/drawing/2014/main" id="{E6E5CEF6-8471-4E3D-9FE9-E98136744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</p:spPr>
        <p:txBody>
          <a:bodyPr/>
          <a:lstStyle/>
          <a:p>
            <a:r>
              <a:rPr lang="en-US" dirty="0"/>
              <a:t>EVE310 Fall 2024 Lab 8</a:t>
            </a:r>
          </a:p>
        </p:txBody>
      </p:sp>
    </p:spTree>
    <p:extLst>
      <p:ext uri="{BB962C8B-B14F-4D97-AF65-F5344CB8AC3E}">
        <p14:creationId xmlns:p14="http://schemas.microsoft.com/office/powerpoint/2010/main" val="3792522346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848B6-D328-4CC8-99C6-D5689AE94DF4}" type="slidenum">
              <a:rPr lang="en-US" smtClean="0"/>
              <a:t>17</a:t>
            </a:fld>
            <a:endParaRPr lang="en-US"/>
          </a:p>
        </p:txBody>
      </p:sp>
      <p:sp>
        <p:nvSpPr>
          <p:cNvPr id="5" name="Rectangle 1"/>
          <p:cNvSpPr txBox="1">
            <a:spLocks noChangeArrowheads="1"/>
          </p:cNvSpPr>
          <p:nvPr/>
        </p:nvSpPr>
        <p:spPr>
          <a:xfrm>
            <a:off x="0" y="1"/>
            <a:ext cx="12192000" cy="685799"/>
          </a:xfrm>
          <a:prstGeom prst="rect">
            <a:avLst/>
          </a:prstGeom>
          <a:solidFill>
            <a:srgbClr val="BF5700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defPPr>
              <a:defRPr lang="en-US"/>
            </a:defPPr>
            <a:lvl1pPr marL="182880">
              <a:spcBef>
                <a:spcPct val="0"/>
              </a:spcBef>
              <a:buNone/>
              <a:defRPr sz="40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Another way to think about a for loop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DFFCDF1-1680-4756-93D6-559D0D7EE0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5200" y="2438400"/>
            <a:ext cx="4171951" cy="838200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B76ED7F-6A5B-49E3-ACC8-785E51F688F5}"/>
              </a:ext>
            </a:extLst>
          </p:cNvPr>
          <p:cNvCxnSpPr>
            <a:cxnSpLocks/>
          </p:cNvCxnSpPr>
          <p:nvPr/>
        </p:nvCxnSpPr>
        <p:spPr>
          <a:xfrm>
            <a:off x="3429000" y="1981200"/>
            <a:ext cx="990600" cy="60960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5CF3024E-F78B-4D1E-9032-62066EC971EC}"/>
              </a:ext>
            </a:extLst>
          </p:cNvPr>
          <p:cNvSpPr txBox="1"/>
          <p:nvPr/>
        </p:nvSpPr>
        <p:spPr>
          <a:xfrm>
            <a:off x="1485900" y="1127666"/>
            <a:ext cx="2057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Variable to be changed inside the loop</a:t>
            </a:r>
          </a:p>
        </p:txBody>
      </p:sp>
      <p:sp>
        <p:nvSpPr>
          <p:cNvPr id="31" name="Right Brace 30">
            <a:extLst>
              <a:ext uri="{FF2B5EF4-FFF2-40B4-BE49-F238E27FC236}">
                <a16:creationId xmlns:a16="http://schemas.microsoft.com/office/drawing/2014/main" id="{648A12CC-590D-4D44-8074-07673DB6AA3E}"/>
              </a:ext>
            </a:extLst>
          </p:cNvPr>
          <p:cNvSpPr/>
          <p:nvPr/>
        </p:nvSpPr>
        <p:spPr>
          <a:xfrm rot="16200000">
            <a:off x="6021918" y="1461016"/>
            <a:ext cx="304800" cy="1833036"/>
          </a:xfrm>
          <a:prstGeom prst="rightBrac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28C663D-4E69-4D5C-A122-0D2F2B0B50AB}"/>
              </a:ext>
            </a:extLst>
          </p:cNvPr>
          <p:cNvCxnSpPr>
            <a:cxnSpLocks/>
          </p:cNvCxnSpPr>
          <p:nvPr/>
        </p:nvCxnSpPr>
        <p:spPr>
          <a:xfrm flipH="1">
            <a:off x="6174318" y="1528465"/>
            <a:ext cx="1293282" cy="64323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74509A90-A35B-4C7D-8E6E-39EAB788DBCA}"/>
              </a:ext>
            </a:extLst>
          </p:cNvPr>
          <p:cNvSpPr txBox="1"/>
          <p:nvPr/>
        </p:nvSpPr>
        <p:spPr>
          <a:xfrm>
            <a:off x="7467600" y="1091737"/>
            <a:ext cx="3352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Instructions for how the variable </a:t>
            </a:r>
            <a:r>
              <a:rPr lang="en-US" dirty="0" err="1"/>
              <a:t>i</a:t>
            </a:r>
            <a:r>
              <a:rPr lang="en-US" dirty="0"/>
              <a:t> should change</a:t>
            </a:r>
          </a:p>
        </p:txBody>
      </p:sp>
      <p:sp>
        <p:nvSpPr>
          <p:cNvPr id="11" name="Footer Placeholder 5">
            <a:extLst>
              <a:ext uri="{FF2B5EF4-FFF2-40B4-BE49-F238E27FC236}">
                <a16:creationId xmlns:a16="http://schemas.microsoft.com/office/drawing/2014/main" id="{ACF734FF-AB30-4B52-B8C8-4140248E3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</p:spPr>
        <p:txBody>
          <a:bodyPr/>
          <a:lstStyle/>
          <a:p>
            <a:r>
              <a:rPr lang="en-US" dirty="0"/>
              <a:t>EVE310 Fall 2024 Lab 8</a:t>
            </a:r>
          </a:p>
        </p:txBody>
      </p:sp>
    </p:spTree>
    <p:extLst>
      <p:ext uri="{BB962C8B-B14F-4D97-AF65-F5344CB8AC3E}">
        <p14:creationId xmlns:p14="http://schemas.microsoft.com/office/powerpoint/2010/main" val="2648385310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848B6-D328-4CC8-99C6-D5689AE94DF4}" type="slidenum">
              <a:rPr lang="en-US" smtClean="0"/>
              <a:t>18</a:t>
            </a:fld>
            <a:endParaRPr lang="en-US"/>
          </a:p>
        </p:txBody>
      </p:sp>
      <p:sp>
        <p:nvSpPr>
          <p:cNvPr id="5" name="Rectangle 1"/>
          <p:cNvSpPr txBox="1">
            <a:spLocks noChangeArrowheads="1"/>
          </p:cNvSpPr>
          <p:nvPr/>
        </p:nvSpPr>
        <p:spPr>
          <a:xfrm>
            <a:off x="0" y="1"/>
            <a:ext cx="12192000" cy="685799"/>
          </a:xfrm>
          <a:prstGeom prst="rect">
            <a:avLst/>
          </a:prstGeom>
          <a:solidFill>
            <a:srgbClr val="BF5700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defPPr>
              <a:defRPr lang="en-US"/>
            </a:defPPr>
            <a:lvl1pPr marL="182880">
              <a:spcBef>
                <a:spcPct val="0"/>
              </a:spcBef>
              <a:buNone/>
              <a:defRPr sz="40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Consider the following examples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DFFCDF1-1680-4756-93D6-559D0D7EE0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1905000"/>
            <a:ext cx="4171951" cy="838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2D8C974-4A0C-45F1-89C2-DB6F41421C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1800" y="1905000"/>
            <a:ext cx="3657600" cy="107485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9D245CF-4B55-4341-82C8-EBA588D711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32309" y="3198707"/>
            <a:ext cx="2133291" cy="15273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AB7D811-DD5E-46DB-B5FC-634C0AE9DC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3198707"/>
            <a:ext cx="2124173" cy="1219200"/>
          </a:xfrm>
          <a:prstGeom prst="rect">
            <a:avLst/>
          </a:prstGeom>
        </p:spPr>
      </p:pic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37106B2A-926F-41D1-BEBC-40FA968F9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</p:spPr>
        <p:txBody>
          <a:bodyPr/>
          <a:lstStyle/>
          <a:p>
            <a:r>
              <a:rPr lang="en-US" dirty="0"/>
              <a:t>EVE310 Fall 2024 Lab 8</a:t>
            </a:r>
          </a:p>
        </p:txBody>
      </p:sp>
    </p:spTree>
    <p:extLst>
      <p:ext uri="{BB962C8B-B14F-4D97-AF65-F5344CB8AC3E}">
        <p14:creationId xmlns:p14="http://schemas.microsoft.com/office/powerpoint/2010/main" val="475763013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848B6-D328-4CC8-99C6-D5689AE94DF4}" type="slidenum">
              <a:rPr lang="en-US" smtClean="0"/>
              <a:t>19</a:t>
            </a:fld>
            <a:endParaRPr lang="en-US"/>
          </a:p>
        </p:txBody>
      </p:sp>
      <p:sp>
        <p:nvSpPr>
          <p:cNvPr id="5" name="Rectangle 1"/>
          <p:cNvSpPr txBox="1">
            <a:spLocks noChangeArrowheads="1"/>
          </p:cNvSpPr>
          <p:nvPr/>
        </p:nvSpPr>
        <p:spPr>
          <a:xfrm>
            <a:off x="0" y="1"/>
            <a:ext cx="12192000" cy="685799"/>
          </a:xfrm>
          <a:prstGeom prst="rect">
            <a:avLst/>
          </a:prstGeom>
          <a:solidFill>
            <a:srgbClr val="BF5700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defPPr>
              <a:defRPr lang="en-US"/>
            </a:defPPr>
            <a:lvl1pPr marL="182880">
              <a:spcBef>
                <a:spcPct val="0"/>
              </a:spcBef>
              <a:buNone/>
              <a:defRPr sz="40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Coding Logic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5E6D12-6559-214A-85F1-6AB15130F74D}"/>
              </a:ext>
            </a:extLst>
          </p:cNvPr>
          <p:cNvSpPr txBox="1"/>
          <p:nvPr/>
        </p:nvSpPr>
        <p:spPr>
          <a:xfrm>
            <a:off x="762000" y="1447800"/>
            <a:ext cx="9906000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3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Before</a:t>
            </a: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you start coding, write out steps or make a flow chart/diagram </a:t>
            </a:r>
            <a:r>
              <a:rPr lang="en-US" sz="3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on paper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Work through the logic of what you want the code to do 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Identify inputs and outputs 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Break tasks up into small steps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Focus on the overall process and logic (not specific syntax)</a:t>
            </a:r>
          </a:p>
          <a:p>
            <a:endParaRPr lang="en-US" sz="3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A916B6DC-36CC-4D11-B1B3-5DB517914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</p:spPr>
        <p:txBody>
          <a:bodyPr/>
          <a:lstStyle/>
          <a:p>
            <a:r>
              <a:rPr lang="en-US" dirty="0"/>
              <a:t>EVE310 Fall 2024 Lab 8</a:t>
            </a:r>
          </a:p>
        </p:txBody>
      </p:sp>
    </p:spTree>
    <p:extLst>
      <p:ext uri="{BB962C8B-B14F-4D97-AF65-F5344CB8AC3E}">
        <p14:creationId xmlns:p14="http://schemas.microsoft.com/office/powerpoint/2010/main" val="2701232481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848B6-D328-4CC8-99C6-D5689AE94DF4}" type="slidenum">
              <a:rPr lang="en-US" smtClean="0"/>
              <a:t>20</a:t>
            </a:fld>
            <a:endParaRPr lang="en-US"/>
          </a:p>
        </p:txBody>
      </p:sp>
      <p:sp>
        <p:nvSpPr>
          <p:cNvPr id="5" name="Rectangle 1"/>
          <p:cNvSpPr txBox="1">
            <a:spLocks noChangeArrowheads="1"/>
          </p:cNvSpPr>
          <p:nvPr/>
        </p:nvSpPr>
        <p:spPr>
          <a:xfrm>
            <a:off x="0" y="1"/>
            <a:ext cx="12192000" cy="685799"/>
          </a:xfrm>
          <a:prstGeom prst="rect">
            <a:avLst/>
          </a:prstGeom>
          <a:solidFill>
            <a:srgbClr val="BF5700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defPPr>
              <a:defRPr lang="en-US"/>
            </a:defPPr>
            <a:lvl1pPr marL="182880">
              <a:spcBef>
                <a:spcPct val="0"/>
              </a:spcBef>
              <a:buNone/>
              <a:defRPr sz="40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For Loop Logic Demonstration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BB1FA6-FA64-B643-8401-0D766642FBCB}"/>
              </a:ext>
            </a:extLst>
          </p:cNvPr>
          <p:cNvSpPr txBox="1"/>
          <p:nvPr/>
        </p:nvSpPr>
        <p:spPr>
          <a:xfrm>
            <a:off x="1031665" y="3167390"/>
            <a:ext cx="101286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Use a for loop to find the max value of the following array: [6, 5, 8,3]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1D239D-895D-4CDD-BF4F-389A317E7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</p:spPr>
        <p:txBody>
          <a:bodyPr/>
          <a:lstStyle/>
          <a:p>
            <a:r>
              <a:rPr lang="en-US" dirty="0"/>
              <a:t>EVE310 Fall 2024 Lab 8</a:t>
            </a:r>
          </a:p>
        </p:txBody>
      </p:sp>
    </p:spTree>
    <p:extLst>
      <p:ext uri="{BB962C8B-B14F-4D97-AF65-F5344CB8AC3E}">
        <p14:creationId xmlns:p14="http://schemas.microsoft.com/office/powerpoint/2010/main" val="110860807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848B6-D328-4CC8-99C6-D5689AE94DF4}" type="slidenum">
              <a:rPr lang="en-US" smtClean="0"/>
              <a:t>21</a:t>
            </a:fld>
            <a:endParaRPr lang="en-US"/>
          </a:p>
        </p:txBody>
      </p:sp>
      <p:sp>
        <p:nvSpPr>
          <p:cNvPr id="5" name="Rectangle 1"/>
          <p:cNvSpPr txBox="1">
            <a:spLocks noChangeArrowheads="1"/>
          </p:cNvSpPr>
          <p:nvPr/>
        </p:nvSpPr>
        <p:spPr>
          <a:xfrm>
            <a:off x="0" y="1"/>
            <a:ext cx="12192000" cy="685799"/>
          </a:xfrm>
          <a:prstGeom prst="rect">
            <a:avLst/>
          </a:prstGeom>
          <a:solidFill>
            <a:srgbClr val="BF5700"/>
          </a:solidFill>
        </p:spPr>
        <p:txBody>
          <a:bodyPr vert="horz" lIns="91440" tIns="45720" rIns="91440" bIns="45720" rtlCol="0" anchor="ctr">
            <a:normAutofit fontScale="85000" lnSpcReduction="10000"/>
          </a:bodyPr>
          <a:lstStyle>
            <a:defPPr>
              <a:defRPr lang="en-US"/>
            </a:defPPr>
            <a:lvl1pPr marL="182880">
              <a:spcBef>
                <a:spcPct val="0"/>
              </a:spcBef>
              <a:buNone/>
              <a:defRPr sz="40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Using a for loop and if statement to find the max value of an array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71DE34-E287-41CE-BF74-501008051F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3807" y="2514600"/>
            <a:ext cx="3552385" cy="1450974"/>
          </a:xfrm>
          <a:prstGeom prst="rect">
            <a:avLst/>
          </a:prstGeom>
        </p:spPr>
      </p:pic>
      <p:pic>
        <p:nvPicPr>
          <p:cNvPr id="6" name="Picture 5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4D403B0C-F819-974F-974C-CB6065375F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495" y="1423987"/>
            <a:ext cx="7856607" cy="36322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B420FB9-2E23-224A-996B-07FB10019A46}"/>
              </a:ext>
            </a:extLst>
          </p:cNvPr>
          <p:cNvSpPr txBox="1"/>
          <p:nvPr/>
        </p:nvSpPr>
        <p:spPr>
          <a:xfrm>
            <a:off x="3337620" y="5288339"/>
            <a:ext cx="580678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Fill in the … to complete the code! </a:t>
            </a:r>
          </a:p>
          <a:p>
            <a:pPr algn="ctr"/>
            <a:r>
              <a:rPr lang="en-US" sz="2400" dirty="0"/>
              <a:t>Be careful of spaces, :, (), [], and indentations</a:t>
            </a:r>
          </a:p>
          <a:p>
            <a:pPr algn="ctr"/>
            <a:endParaRPr lang="en-US" sz="2400" dirty="0"/>
          </a:p>
          <a:p>
            <a:pPr algn="ctr"/>
            <a:endParaRPr lang="en-US" sz="2400" dirty="0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A5C43C69-87FD-4101-A521-E4127AA26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</p:spPr>
        <p:txBody>
          <a:bodyPr/>
          <a:lstStyle/>
          <a:p>
            <a:r>
              <a:rPr lang="en-US" dirty="0"/>
              <a:t>EVE310 Fall 2024 Lab 8</a:t>
            </a:r>
          </a:p>
        </p:txBody>
      </p:sp>
    </p:spTree>
    <p:extLst>
      <p:ext uri="{BB962C8B-B14F-4D97-AF65-F5344CB8AC3E}">
        <p14:creationId xmlns:p14="http://schemas.microsoft.com/office/powerpoint/2010/main" val="3932477820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848B6-D328-4CC8-99C6-D5689AE94DF4}" type="slidenum">
              <a:rPr lang="en-US" smtClean="0"/>
              <a:t>22</a:t>
            </a:fld>
            <a:endParaRPr lang="en-US"/>
          </a:p>
        </p:txBody>
      </p:sp>
      <p:sp>
        <p:nvSpPr>
          <p:cNvPr id="5" name="Rectangle 1"/>
          <p:cNvSpPr txBox="1">
            <a:spLocks noChangeArrowheads="1"/>
          </p:cNvSpPr>
          <p:nvPr/>
        </p:nvSpPr>
        <p:spPr>
          <a:xfrm>
            <a:off x="0" y="1"/>
            <a:ext cx="12192000" cy="685799"/>
          </a:xfrm>
          <a:prstGeom prst="rect">
            <a:avLst/>
          </a:prstGeom>
          <a:solidFill>
            <a:srgbClr val="BF5700"/>
          </a:solidFill>
        </p:spPr>
        <p:txBody>
          <a:bodyPr vert="horz" lIns="91440" tIns="45720" rIns="91440" bIns="45720" rtlCol="0" anchor="ctr">
            <a:normAutofit fontScale="85000" lnSpcReduction="10000"/>
          </a:bodyPr>
          <a:lstStyle>
            <a:defPPr>
              <a:defRPr lang="en-US"/>
            </a:defPPr>
            <a:lvl1pPr marL="182880">
              <a:spcBef>
                <a:spcPct val="0"/>
              </a:spcBef>
              <a:buNone/>
              <a:defRPr sz="40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Using a for loop and if statement to find the max value of an array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71DE34-E287-41CE-BF74-501008051F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3807" y="2514600"/>
            <a:ext cx="3552385" cy="145097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B420FB9-2E23-224A-996B-07FB10019A46}"/>
              </a:ext>
            </a:extLst>
          </p:cNvPr>
          <p:cNvSpPr txBox="1"/>
          <p:nvPr/>
        </p:nvSpPr>
        <p:spPr>
          <a:xfrm>
            <a:off x="228600" y="824061"/>
            <a:ext cx="13676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Solution: </a:t>
            </a:r>
          </a:p>
        </p:txBody>
      </p:sp>
      <p:pic>
        <p:nvPicPr>
          <p:cNvPr id="9" name="Picture 8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70EDD66B-EF81-1147-9388-5D9C21BB7F8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6"/>
          <a:stretch/>
        </p:blipFill>
        <p:spPr>
          <a:xfrm>
            <a:off x="209591" y="1501776"/>
            <a:ext cx="8174216" cy="4038600"/>
          </a:xfrm>
          <a:prstGeom prst="rect">
            <a:avLst/>
          </a:prstGeom>
        </p:spPr>
      </p:pic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EF0D2330-E2F1-40D6-9CF8-C2A62713B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</p:spPr>
        <p:txBody>
          <a:bodyPr/>
          <a:lstStyle/>
          <a:p>
            <a:r>
              <a:rPr lang="en-US" dirty="0"/>
              <a:t>EVE310 Fall 2024 Lab 8</a:t>
            </a:r>
          </a:p>
        </p:txBody>
      </p:sp>
    </p:spTree>
    <p:extLst>
      <p:ext uri="{BB962C8B-B14F-4D97-AF65-F5344CB8AC3E}">
        <p14:creationId xmlns:p14="http://schemas.microsoft.com/office/powerpoint/2010/main" val="2978994542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848B6-D328-4CC8-99C6-D5689AE94DF4}" type="slidenum">
              <a:rPr lang="en-US" smtClean="0"/>
              <a:t>23</a:t>
            </a:fld>
            <a:endParaRPr lang="en-US"/>
          </a:p>
        </p:txBody>
      </p:sp>
      <p:sp>
        <p:nvSpPr>
          <p:cNvPr id="5" name="Rectangle 1"/>
          <p:cNvSpPr txBox="1">
            <a:spLocks noChangeArrowheads="1"/>
          </p:cNvSpPr>
          <p:nvPr/>
        </p:nvSpPr>
        <p:spPr>
          <a:xfrm>
            <a:off x="0" y="1"/>
            <a:ext cx="12192000" cy="685799"/>
          </a:xfrm>
          <a:prstGeom prst="rect">
            <a:avLst/>
          </a:prstGeom>
          <a:solidFill>
            <a:srgbClr val="BF5700"/>
          </a:solidFill>
        </p:spPr>
        <p:txBody>
          <a:bodyPr vert="horz" lIns="91440" tIns="45720" rIns="91440" bIns="45720" rtlCol="0" anchor="ctr">
            <a:normAutofit fontScale="92500"/>
          </a:bodyPr>
          <a:lstStyle>
            <a:defPPr>
              <a:defRPr lang="en-US"/>
            </a:defPPr>
            <a:lvl1pPr marL="182880">
              <a:spcBef>
                <a:spcPct val="0"/>
              </a:spcBef>
              <a:buNone/>
              <a:defRPr sz="40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Online Game to help with intuition of if statements/for loops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597250C-E1FD-0123-8A83-30ABA31397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590800"/>
            <a:ext cx="8737600" cy="360259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87E0EF4-9D26-6C16-95E7-EAC9113C9678}"/>
              </a:ext>
            </a:extLst>
          </p:cNvPr>
          <p:cNvSpPr txBox="1"/>
          <p:nvPr/>
        </p:nvSpPr>
        <p:spPr>
          <a:xfrm>
            <a:off x="2667000" y="1688067"/>
            <a:ext cx="838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4"/>
              </a:rPr>
              <a:t>https://compute-it.toxicode.fr/?hour-of-code&amp;progression=python</a:t>
            </a:r>
            <a:r>
              <a:rPr lang="en-US" dirty="0"/>
              <a:t> </a:t>
            </a:r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50B4ADEF-2C9D-4C20-AAFF-E6C625CB9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</p:spPr>
        <p:txBody>
          <a:bodyPr/>
          <a:lstStyle/>
          <a:p>
            <a:r>
              <a:rPr lang="en-US" dirty="0"/>
              <a:t>EVE310 Fall 2024 Lab 8</a:t>
            </a:r>
          </a:p>
        </p:txBody>
      </p:sp>
    </p:spTree>
    <p:extLst>
      <p:ext uri="{BB962C8B-B14F-4D97-AF65-F5344CB8AC3E}">
        <p14:creationId xmlns:p14="http://schemas.microsoft.com/office/powerpoint/2010/main" val="2309376754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848B6-D328-4CC8-99C6-D5689AE94DF4}" type="slidenum">
              <a:rPr lang="en-US" smtClean="0"/>
              <a:t>24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999503" y="1148606"/>
            <a:ext cx="8345394" cy="8863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  <a:spcBef>
                <a:spcPts val="1800"/>
              </a:spcBef>
              <a:spcAft>
                <a:spcPts val="600"/>
              </a:spcAft>
              <a:buSzPct val="100000"/>
            </a:pPr>
            <a:r>
              <a:rPr lang="en-US" sz="4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In-class activity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C1371FB-ABE6-4C3C-9833-FBC4DAB56872}"/>
              </a:ext>
            </a:extLst>
          </p:cNvPr>
          <p:cNvSpPr/>
          <p:nvPr/>
        </p:nvSpPr>
        <p:spPr>
          <a:xfrm>
            <a:off x="1923303" y="2514600"/>
            <a:ext cx="8345394" cy="3377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Work through Lab 8 Student Activity</a:t>
            </a:r>
          </a:p>
          <a:p>
            <a:pPr marL="342900" indent="-3429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Tip for activity: Don’t immediately start typing code. Take a moment to think about what you are trying to do and how to do that. Then type some code. </a:t>
            </a:r>
          </a:p>
          <a:p>
            <a:pPr marL="342900" indent="-3429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Mid-Semester Survey for TA Certification (Thank you!):</a:t>
            </a:r>
            <a:b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hlinkClick r:id="rId3"/>
              </a:rPr>
              <a:t>https://utexas.qualtrics.com/jfe/form/SV_a9jfRgUQG8PGAGW?TA=kk35355</a:t>
            </a: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endParaRPr lang="en-US" sz="2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974ED424-FAB2-4DA0-BEC3-8C77BBB72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</p:spPr>
        <p:txBody>
          <a:bodyPr/>
          <a:lstStyle/>
          <a:p>
            <a:r>
              <a:rPr lang="en-US" dirty="0"/>
              <a:t>EVE310 Fall 2024 Lab 8</a:t>
            </a:r>
          </a:p>
        </p:txBody>
      </p:sp>
    </p:spTree>
    <p:extLst>
      <p:ext uri="{BB962C8B-B14F-4D97-AF65-F5344CB8AC3E}">
        <p14:creationId xmlns:p14="http://schemas.microsoft.com/office/powerpoint/2010/main" val="1291840140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848B6-D328-4CC8-99C6-D5689AE94DF4}" type="slidenum">
              <a:rPr lang="en-US" smtClean="0"/>
              <a:t>25</a:t>
            </a:fld>
            <a:endParaRPr lang="en-US"/>
          </a:p>
        </p:txBody>
      </p:sp>
      <p:sp>
        <p:nvSpPr>
          <p:cNvPr id="5" name="Rectangle 1"/>
          <p:cNvSpPr txBox="1">
            <a:spLocks noChangeArrowheads="1"/>
          </p:cNvSpPr>
          <p:nvPr/>
        </p:nvSpPr>
        <p:spPr>
          <a:xfrm>
            <a:off x="13855" y="0"/>
            <a:ext cx="12192000" cy="685799"/>
          </a:xfrm>
          <a:prstGeom prst="rect">
            <a:avLst/>
          </a:prstGeom>
          <a:solidFill>
            <a:srgbClr val="BF5700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defPPr>
              <a:defRPr lang="en-US"/>
            </a:defPPr>
            <a:lvl1pPr marL="182880">
              <a:spcBef>
                <a:spcPct val="0"/>
              </a:spcBef>
              <a:buNone/>
              <a:defRPr sz="40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If Statement Demonstration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32B96D-8F59-41F1-90FA-CA7265D8E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</p:spPr>
        <p:txBody>
          <a:bodyPr/>
          <a:lstStyle/>
          <a:p>
            <a:r>
              <a:rPr lang="en-US" dirty="0"/>
              <a:t>EVE310 Fall 2024 Lab 8</a:t>
            </a:r>
          </a:p>
        </p:txBody>
      </p:sp>
    </p:spTree>
    <p:extLst>
      <p:ext uri="{BB962C8B-B14F-4D97-AF65-F5344CB8AC3E}">
        <p14:creationId xmlns:p14="http://schemas.microsoft.com/office/powerpoint/2010/main" val="2240645550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848B6-D328-4CC8-99C6-D5689AE94DF4}" type="slidenum">
              <a:rPr lang="en-US" smtClean="0"/>
              <a:t>26</a:t>
            </a:fld>
            <a:endParaRPr lang="en-US"/>
          </a:p>
        </p:txBody>
      </p:sp>
      <p:sp>
        <p:nvSpPr>
          <p:cNvPr id="5" name="Rectangle 1"/>
          <p:cNvSpPr txBox="1">
            <a:spLocks noChangeArrowheads="1"/>
          </p:cNvSpPr>
          <p:nvPr/>
        </p:nvSpPr>
        <p:spPr>
          <a:xfrm>
            <a:off x="0" y="1"/>
            <a:ext cx="12192000" cy="685799"/>
          </a:xfrm>
          <a:prstGeom prst="rect">
            <a:avLst/>
          </a:prstGeom>
          <a:solidFill>
            <a:srgbClr val="BF5700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defPPr>
              <a:defRPr lang="en-US"/>
            </a:defPPr>
            <a:lvl1pPr marL="182880">
              <a:spcBef>
                <a:spcPct val="0"/>
              </a:spcBef>
              <a:buNone/>
              <a:defRPr sz="40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For Loop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DFFCDF1-1680-4756-93D6-559D0D7EE0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5200" y="2438400"/>
            <a:ext cx="4171951" cy="838200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43F1E23-DE5C-49DD-A083-09DC5D3718E3}"/>
              </a:ext>
            </a:extLst>
          </p:cNvPr>
          <p:cNvCxnSpPr>
            <a:cxnSpLocks/>
          </p:cNvCxnSpPr>
          <p:nvPr/>
        </p:nvCxnSpPr>
        <p:spPr>
          <a:xfrm>
            <a:off x="2514600" y="2667000"/>
            <a:ext cx="1058525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43CD1B19-E937-4C91-B293-982C5F132CFE}"/>
              </a:ext>
            </a:extLst>
          </p:cNvPr>
          <p:cNvSpPr txBox="1"/>
          <p:nvPr/>
        </p:nvSpPr>
        <p:spPr>
          <a:xfrm>
            <a:off x="533400" y="2440800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Initiate the for loop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B76ED7F-6A5B-49E3-ACC8-785E51F688F5}"/>
              </a:ext>
            </a:extLst>
          </p:cNvPr>
          <p:cNvCxnSpPr>
            <a:cxnSpLocks/>
          </p:cNvCxnSpPr>
          <p:nvPr/>
        </p:nvCxnSpPr>
        <p:spPr>
          <a:xfrm>
            <a:off x="3429000" y="1981200"/>
            <a:ext cx="990600" cy="60960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5CF3024E-F78B-4D1E-9032-62066EC971EC}"/>
              </a:ext>
            </a:extLst>
          </p:cNvPr>
          <p:cNvSpPr txBox="1"/>
          <p:nvPr/>
        </p:nvSpPr>
        <p:spPr>
          <a:xfrm>
            <a:off x="1485900" y="1127666"/>
            <a:ext cx="2057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Variable which will change values inside the for loop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391995F-AADD-4E5E-8E5F-4567A5FCAE46}"/>
              </a:ext>
            </a:extLst>
          </p:cNvPr>
          <p:cNvCxnSpPr>
            <a:cxnSpLocks/>
          </p:cNvCxnSpPr>
          <p:nvPr/>
        </p:nvCxnSpPr>
        <p:spPr>
          <a:xfrm>
            <a:off x="4876800" y="1828800"/>
            <a:ext cx="0" cy="68580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A64FC801-E5DC-4821-A2FC-73B8348F6BDD}"/>
              </a:ext>
            </a:extLst>
          </p:cNvPr>
          <p:cNvSpPr txBox="1"/>
          <p:nvPr/>
        </p:nvSpPr>
        <p:spPr>
          <a:xfrm>
            <a:off x="3960283" y="1066800"/>
            <a:ext cx="18330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word “in” is always in the middle</a:t>
            </a:r>
          </a:p>
        </p:txBody>
      </p:sp>
      <p:sp>
        <p:nvSpPr>
          <p:cNvPr id="31" name="Right Brace 30">
            <a:extLst>
              <a:ext uri="{FF2B5EF4-FFF2-40B4-BE49-F238E27FC236}">
                <a16:creationId xmlns:a16="http://schemas.microsoft.com/office/drawing/2014/main" id="{648A12CC-590D-4D44-8074-07673DB6AA3E}"/>
              </a:ext>
            </a:extLst>
          </p:cNvPr>
          <p:cNvSpPr/>
          <p:nvPr/>
        </p:nvSpPr>
        <p:spPr>
          <a:xfrm rot="16200000">
            <a:off x="6021918" y="1461016"/>
            <a:ext cx="304800" cy="1833036"/>
          </a:xfrm>
          <a:prstGeom prst="rightBrac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28C663D-4E69-4D5C-A122-0D2F2B0B50AB}"/>
              </a:ext>
            </a:extLst>
          </p:cNvPr>
          <p:cNvCxnSpPr>
            <a:cxnSpLocks/>
          </p:cNvCxnSpPr>
          <p:nvPr/>
        </p:nvCxnSpPr>
        <p:spPr>
          <a:xfrm flipH="1">
            <a:off x="6174318" y="1528465"/>
            <a:ext cx="1293282" cy="64323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74509A90-A35B-4C7D-8E6E-39EAB788DBCA}"/>
              </a:ext>
            </a:extLst>
          </p:cNvPr>
          <p:cNvSpPr txBox="1"/>
          <p:nvPr/>
        </p:nvSpPr>
        <p:spPr>
          <a:xfrm>
            <a:off x="7467600" y="1091737"/>
            <a:ext cx="3352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values that the variable </a:t>
            </a:r>
            <a:r>
              <a:rPr lang="en-US" dirty="0" err="1"/>
              <a:t>i</a:t>
            </a:r>
            <a:r>
              <a:rPr lang="en-US" dirty="0"/>
              <a:t> will take in each loop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52E81FDB-2844-4314-84B6-3591E440643E}"/>
              </a:ext>
            </a:extLst>
          </p:cNvPr>
          <p:cNvCxnSpPr>
            <a:cxnSpLocks/>
          </p:cNvCxnSpPr>
          <p:nvPr/>
        </p:nvCxnSpPr>
        <p:spPr>
          <a:xfrm flipH="1">
            <a:off x="7250644" y="2667000"/>
            <a:ext cx="853014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D2176ADB-14BC-44BB-8375-AD32CABE8347}"/>
              </a:ext>
            </a:extLst>
          </p:cNvPr>
          <p:cNvSpPr txBox="1"/>
          <p:nvPr/>
        </p:nvSpPr>
        <p:spPr>
          <a:xfrm>
            <a:off x="8097119" y="2438400"/>
            <a:ext cx="335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Ends with a “:”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507E632-4CF0-4C20-9077-434B5C8F9A1B}"/>
              </a:ext>
            </a:extLst>
          </p:cNvPr>
          <p:cNvSpPr txBox="1"/>
          <p:nvPr/>
        </p:nvSpPr>
        <p:spPr>
          <a:xfrm>
            <a:off x="1931506" y="4343400"/>
            <a:ext cx="7319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range(0,4) means that I will take the value of each integer from 0 to 3</a:t>
            </a:r>
          </a:p>
        </p:txBody>
      </p:sp>
      <p:sp>
        <p:nvSpPr>
          <p:cNvPr id="19" name="Footer Placeholder 5">
            <a:extLst>
              <a:ext uri="{FF2B5EF4-FFF2-40B4-BE49-F238E27FC236}">
                <a16:creationId xmlns:a16="http://schemas.microsoft.com/office/drawing/2014/main" id="{F3DBF000-951D-4A85-BD6B-C468D5630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</p:spPr>
        <p:txBody>
          <a:bodyPr/>
          <a:lstStyle/>
          <a:p>
            <a:r>
              <a:rPr lang="en-US" dirty="0"/>
              <a:t>EVE310 Fall 2024 Lab 8</a:t>
            </a:r>
          </a:p>
        </p:txBody>
      </p:sp>
    </p:spTree>
    <p:extLst>
      <p:ext uri="{BB962C8B-B14F-4D97-AF65-F5344CB8AC3E}">
        <p14:creationId xmlns:p14="http://schemas.microsoft.com/office/powerpoint/2010/main" val="2371774687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50373</TotalTime>
  <Words>939</Words>
  <Application>Microsoft Macintosh PowerPoint</Application>
  <PresentationFormat>Widescreen</PresentationFormat>
  <Paragraphs>171</Paragraphs>
  <Slides>26</Slides>
  <Notes>25</Notes>
  <HiddenSlides>2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Calibri Light</vt:lpstr>
      <vt:lpstr>Office Theme</vt:lpstr>
      <vt:lpstr>EVE310 Lab 8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 356 Elements of Hydraulic Engineering</dc:title>
  <dc:creator>lina</dc:creator>
  <cp:lastModifiedBy>Gupta, Priyanshu R</cp:lastModifiedBy>
  <cp:revision>1024</cp:revision>
  <cp:lastPrinted>2023-10-12T16:45:25Z</cp:lastPrinted>
  <dcterms:created xsi:type="dcterms:W3CDTF">2016-07-06T18:20:35Z</dcterms:created>
  <dcterms:modified xsi:type="dcterms:W3CDTF">2024-08-03T21:52:52Z</dcterms:modified>
</cp:coreProperties>
</file>