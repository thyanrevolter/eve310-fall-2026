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765" r:id="rId2"/>
    <p:sldId id="1152" r:id="rId3"/>
    <p:sldId id="983" r:id="rId4"/>
    <p:sldId id="1147" r:id="rId5"/>
    <p:sldId id="1037" r:id="rId6"/>
    <p:sldId id="1039" r:id="rId7"/>
    <p:sldId id="1153" r:id="rId8"/>
    <p:sldId id="1038" r:id="rId9"/>
    <p:sldId id="1040" r:id="rId10"/>
    <p:sldId id="1148" r:id="rId11"/>
    <p:sldId id="1041" r:id="rId12"/>
    <p:sldId id="1042" r:id="rId13"/>
    <p:sldId id="1151" r:id="rId14"/>
    <p:sldId id="1043" r:id="rId15"/>
    <p:sldId id="1044" r:id="rId16"/>
    <p:sldId id="1045" r:id="rId17"/>
    <p:sldId id="1141" r:id="rId18"/>
    <p:sldId id="1142" r:id="rId19"/>
    <p:sldId id="1143" r:id="rId20"/>
    <p:sldId id="1144" r:id="rId21"/>
    <p:sldId id="1145" r:id="rId22"/>
    <p:sldId id="1150" r:id="rId23"/>
    <p:sldId id="1149" r:id="rId2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99"/>
    <a:srgbClr val="BF5700"/>
    <a:srgbClr val="1D4371"/>
    <a:srgbClr val="003399"/>
    <a:srgbClr val="385D8A"/>
    <a:srgbClr val="0070C0"/>
    <a:srgbClr val="990000"/>
    <a:srgbClr val="99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84694" autoAdjust="0"/>
  </p:normalViewPr>
  <p:slideViewPr>
    <p:cSldViewPr>
      <p:cViewPr varScale="1">
        <p:scale>
          <a:sx n="107" d="100"/>
          <a:sy n="107" d="100"/>
        </p:scale>
        <p:origin x="1280" y="176"/>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2AF32567-CE0A-411B-A193-274813F6AC70}" type="datetimeFigureOut">
              <a:rPr lang="en-US" smtClean="0"/>
              <a:t>10/9/25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58AE2663-530C-4834-9F93-457B710879FD}" type="slidenum">
              <a:rPr lang="en-US" smtClean="0"/>
              <a:t>‹#›</a:t>
            </a:fld>
            <a:endParaRPr lang="en-US"/>
          </a:p>
        </p:txBody>
      </p:sp>
    </p:spTree>
    <p:extLst>
      <p:ext uri="{BB962C8B-B14F-4D97-AF65-F5344CB8AC3E}">
        <p14:creationId xmlns:p14="http://schemas.microsoft.com/office/powerpoint/2010/main" val="3313531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5C2C7CE7-C9CA-47EF-8702-BBFECB6E221C}" type="datetimeFigureOut">
              <a:rPr lang="en-US" smtClean="0"/>
              <a:t>10/9/25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F447469E-A8B3-4EDF-ACC8-6B5423908F78}" type="slidenum">
              <a:rPr lang="en-US" smtClean="0"/>
              <a:t>‹#›</a:t>
            </a:fld>
            <a:endParaRPr lang="en-US"/>
          </a:p>
        </p:txBody>
      </p:sp>
    </p:spTree>
    <p:extLst>
      <p:ext uri="{BB962C8B-B14F-4D97-AF65-F5344CB8AC3E}">
        <p14:creationId xmlns:p14="http://schemas.microsoft.com/office/powerpoint/2010/main" val="1501627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47469E-A8B3-4EDF-ACC8-6B5423908F78}" type="slidenum">
              <a:rPr lang="en-US" smtClean="0"/>
              <a:t>1</a:t>
            </a:fld>
            <a:endParaRPr lang="en-US"/>
          </a:p>
        </p:txBody>
      </p:sp>
    </p:spTree>
    <p:extLst>
      <p:ext uri="{BB962C8B-B14F-4D97-AF65-F5344CB8AC3E}">
        <p14:creationId xmlns:p14="http://schemas.microsoft.com/office/powerpoint/2010/main" val="4143901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a:t>
            </a:fld>
            <a:endParaRPr lang="en-US"/>
          </a:p>
        </p:txBody>
      </p:sp>
    </p:spTree>
    <p:extLst>
      <p:ext uri="{BB962C8B-B14F-4D97-AF65-F5344CB8AC3E}">
        <p14:creationId xmlns:p14="http://schemas.microsoft.com/office/powerpoint/2010/main" val="410051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3</a:t>
            </a:fld>
            <a:endParaRPr lang="en-US"/>
          </a:p>
        </p:txBody>
      </p:sp>
    </p:spTree>
    <p:extLst>
      <p:ext uri="{BB962C8B-B14F-4D97-AF65-F5344CB8AC3E}">
        <p14:creationId xmlns:p14="http://schemas.microsoft.com/office/powerpoint/2010/main" val="2762267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5</a:t>
            </a:fld>
            <a:endParaRPr lang="en-US"/>
          </a:p>
        </p:txBody>
      </p:sp>
    </p:spTree>
    <p:extLst>
      <p:ext uri="{BB962C8B-B14F-4D97-AF65-F5344CB8AC3E}">
        <p14:creationId xmlns:p14="http://schemas.microsoft.com/office/powerpoint/2010/main" val="2864814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6</a:t>
            </a:fld>
            <a:endParaRPr lang="en-US"/>
          </a:p>
        </p:txBody>
      </p:sp>
    </p:spTree>
    <p:extLst>
      <p:ext uri="{BB962C8B-B14F-4D97-AF65-F5344CB8AC3E}">
        <p14:creationId xmlns:p14="http://schemas.microsoft.com/office/powerpoint/2010/main" val="3533358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Each element of the original </a:t>
            </a:r>
            <a:r>
              <a:rPr lang="en-US" dirty="0" err="1"/>
              <a:t>npeople</a:t>
            </a:r>
            <a:r>
              <a:rPr lang="en-US" sz="1200" b="0" i="0" kern="1200" dirty="0">
                <a:solidFill>
                  <a:schemeClr val="tx1"/>
                </a:solidFill>
                <a:effectLst/>
                <a:latin typeface="+mn-lt"/>
                <a:ea typeface="+mn-ea"/>
                <a:cs typeface="+mn-cs"/>
              </a:rPr>
              <a:t> array has been placed into a separate row in the new 2D array. The </a:t>
            </a:r>
            <a:r>
              <a:rPr lang="en-US" dirty="0"/>
              <a:t>-1</a:t>
            </a:r>
            <a:r>
              <a:rPr lang="en-US" sz="1200" b="0" i="0" kern="1200" dirty="0">
                <a:solidFill>
                  <a:schemeClr val="tx1"/>
                </a:solidFill>
                <a:effectLst/>
                <a:latin typeface="+mn-lt"/>
                <a:ea typeface="+mn-ea"/>
                <a:cs typeface="+mn-cs"/>
              </a:rPr>
              <a:t> in </a:t>
            </a:r>
            <a:r>
              <a:rPr lang="en-US" dirty="0"/>
              <a:t>reshape</a:t>
            </a:r>
            <a:r>
              <a:rPr lang="en-US" sz="1200" b="0" i="0" kern="1200" dirty="0">
                <a:solidFill>
                  <a:schemeClr val="tx1"/>
                </a:solidFill>
                <a:effectLst/>
                <a:latin typeface="+mn-lt"/>
                <a:ea typeface="+mn-ea"/>
                <a:cs typeface="+mn-cs"/>
              </a:rPr>
              <a:t> allows NumPy to automatically calculate the number of rows required based on the size of the original array.</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8</a:t>
            </a:fld>
            <a:endParaRPr lang="en-US"/>
          </a:p>
        </p:txBody>
      </p:sp>
    </p:spTree>
    <p:extLst>
      <p:ext uri="{BB962C8B-B14F-4D97-AF65-F5344CB8AC3E}">
        <p14:creationId xmlns:p14="http://schemas.microsoft.com/office/powerpoint/2010/main" val="2470889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Now let's split the data into a training set and a testing set. We will train out model on the training set and then use the test set to evaluate the model.</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9</a:t>
            </a:fld>
            <a:endParaRPr lang="en-US"/>
          </a:p>
        </p:txBody>
      </p:sp>
    </p:spTree>
    <p:extLst>
      <p:ext uri="{BB962C8B-B14F-4D97-AF65-F5344CB8AC3E}">
        <p14:creationId xmlns:p14="http://schemas.microsoft.com/office/powerpoint/2010/main" val="3566145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10</a:t>
            </a:fld>
            <a:endParaRPr lang="en-US"/>
          </a:p>
        </p:txBody>
      </p:sp>
    </p:spTree>
    <p:extLst>
      <p:ext uri="{BB962C8B-B14F-4D97-AF65-F5344CB8AC3E}">
        <p14:creationId xmlns:p14="http://schemas.microsoft.com/office/powerpoint/2010/main" val="4157397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11</a:t>
            </a:fld>
            <a:endParaRPr lang="en-US"/>
          </a:p>
        </p:txBody>
      </p:sp>
    </p:spTree>
    <p:extLst>
      <p:ext uri="{BB962C8B-B14F-4D97-AF65-F5344CB8AC3E}">
        <p14:creationId xmlns:p14="http://schemas.microsoft.com/office/powerpoint/2010/main" val="2485505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R2 measures the proportion of variance explained by the model but doesn't consider model complexity. Adjusted R2, on the other hand, adjusts R2 by penalizing unnecessary predictors, making it a more suitable measure when comparing models with different numbers of predictors.</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12</a:t>
            </a:fld>
            <a:endParaRPr lang="en-US"/>
          </a:p>
        </p:txBody>
      </p:sp>
    </p:spTree>
    <p:extLst>
      <p:ext uri="{BB962C8B-B14F-4D97-AF65-F5344CB8AC3E}">
        <p14:creationId xmlns:p14="http://schemas.microsoft.com/office/powerpoint/2010/main" val="3983883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13</a:t>
            </a:fld>
            <a:endParaRPr lang="en-US"/>
          </a:p>
        </p:txBody>
      </p:sp>
    </p:spTree>
    <p:extLst>
      <p:ext uri="{BB962C8B-B14F-4D97-AF65-F5344CB8AC3E}">
        <p14:creationId xmlns:p14="http://schemas.microsoft.com/office/powerpoint/2010/main" val="21919015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i="0" kern="1200" dirty="0">
                <a:solidFill>
                  <a:schemeClr val="tx1"/>
                </a:solidFill>
                <a:effectLst/>
                <a:latin typeface="+mn-lt"/>
                <a:ea typeface="+mn-ea"/>
                <a:cs typeface="+mn-cs"/>
              </a:rPr>
              <a:t>ax = </a:t>
            </a:r>
            <a:r>
              <a:rPr lang="en-US" sz="1200" b="1" i="0" kern="1200" dirty="0" err="1">
                <a:solidFill>
                  <a:schemeClr val="tx1"/>
                </a:solidFill>
                <a:effectLst/>
                <a:latin typeface="+mn-lt"/>
                <a:ea typeface="+mn-ea"/>
                <a:cs typeface="+mn-cs"/>
              </a:rPr>
              <a:t>plt.gca</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This line gets the current Axes (a subplot) of the current figure. </a:t>
            </a:r>
            <a:r>
              <a:rPr lang="en-US" sz="1200" b="0" i="0" kern="1200" dirty="0" err="1">
                <a:solidFill>
                  <a:schemeClr val="tx1"/>
                </a:solidFill>
                <a:effectLst/>
                <a:latin typeface="+mn-lt"/>
                <a:ea typeface="+mn-ea"/>
                <a:cs typeface="+mn-cs"/>
              </a:rPr>
              <a:t>plt</a:t>
            </a:r>
            <a:r>
              <a:rPr lang="en-US" sz="1200" b="0" i="0" kern="1200" dirty="0">
                <a:solidFill>
                  <a:schemeClr val="tx1"/>
                </a:solidFill>
                <a:effectLst/>
                <a:latin typeface="+mn-lt"/>
                <a:ea typeface="+mn-ea"/>
                <a:cs typeface="+mn-cs"/>
              </a:rPr>
              <a:t> is commonly used as an alias for </a:t>
            </a:r>
            <a:r>
              <a:rPr lang="en-US" sz="1200" b="0" i="0" kern="1200" dirty="0" err="1">
                <a:solidFill>
                  <a:schemeClr val="tx1"/>
                </a:solidFill>
                <a:effectLst/>
                <a:latin typeface="+mn-lt"/>
                <a:ea typeface="+mn-ea"/>
                <a:cs typeface="+mn-cs"/>
              </a:rPr>
              <a:t>matplotlib.pyplot</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gca</a:t>
            </a:r>
            <a:r>
              <a:rPr lang="en-US" sz="1200" b="0" i="0" kern="1200" dirty="0">
                <a:solidFill>
                  <a:schemeClr val="tx1"/>
                </a:solidFill>
                <a:effectLst/>
                <a:latin typeface="+mn-lt"/>
                <a:ea typeface="+mn-ea"/>
                <a:cs typeface="+mn-cs"/>
              </a:rPr>
              <a:t>() stands for "get current axes." It allows you to access and modify properties of the current subplot.</a:t>
            </a:r>
          </a:p>
          <a:p>
            <a:r>
              <a:rPr lang="en-US" sz="1200" b="1" i="0" kern="1200" dirty="0" err="1">
                <a:solidFill>
                  <a:schemeClr val="tx1"/>
                </a:solidFill>
                <a:effectLst/>
                <a:latin typeface="+mn-lt"/>
                <a:ea typeface="+mn-ea"/>
                <a:cs typeface="+mn-cs"/>
              </a:rPr>
              <a:t>ax.set_aspect</a:t>
            </a:r>
            <a:r>
              <a:rPr lang="en-US" sz="1200" b="1" i="0" kern="1200" dirty="0">
                <a:solidFill>
                  <a:schemeClr val="tx1"/>
                </a:solidFill>
                <a:effectLst/>
                <a:latin typeface="+mn-lt"/>
                <a:ea typeface="+mn-ea"/>
                <a:cs typeface="+mn-cs"/>
              </a:rPr>
              <a:t>('equal'): </a:t>
            </a:r>
            <a:r>
              <a:rPr lang="en-US" sz="1200" b="0" i="0" kern="1200" dirty="0">
                <a:solidFill>
                  <a:schemeClr val="tx1"/>
                </a:solidFill>
                <a:effectLst/>
                <a:latin typeface="+mn-lt"/>
                <a:ea typeface="+mn-ea"/>
                <a:cs typeface="+mn-cs"/>
              </a:rPr>
              <a:t>This line sets the aspect ratio of the current Axes to 'equal'. Setting the aspect ratio to 'equal' means that the length of one unit in the x-direction will be the same as the length of one unit in the y-direction, ensuring that the plot is not distorted.</a:t>
            </a:r>
          </a:p>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14</a:t>
            </a:fld>
            <a:endParaRPr lang="en-US"/>
          </a:p>
        </p:txBody>
      </p:sp>
    </p:spTree>
    <p:extLst>
      <p:ext uri="{BB962C8B-B14F-4D97-AF65-F5344CB8AC3E}">
        <p14:creationId xmlns:p14="http://schemas.microsoft.com/office/powerpoint/2010/main" val="1506121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In this case, the plot looks like being scattered randomly, which is a good sign for the goodness of fit of the model.</a:t>
            </a:r>
          </a:p>
        </p:txBody>
      </p:sp>
      <p:sp>
        <p:nvSpPr>
          <p:cNvPr id="4" name="Slide Number Placeholder 3"/>
          <p:cNvSpPr>
            <a:spLocks noGrp="1"/>
          </p:cNvSpPr>
          <p:nvPr>
            <p:ph type="sldNum" sz="quarter" idx="10"/>
          </p:nvPr>
        </p:nvSpPr>
        <p:spPr/>
        <p:txBody>
          <a:bodyPr/>
          <a:lstStyle/>
          <a:p>
            <a:fld id="{0D2A8CFD-7D0E-984D-8B4C-26FF9E5765E5}" type="slidenum">
              <a:rPr lang="en-US" smtClean="0"/>
              <a:pPr/>
              <a:t>15</a:t>
            </a:fld>
            <a:endParaRPr lang="en-US"/>
          </a:p>
        </p:txBody>
      </p:sp>
    </p:spTree>
    <p:extLst>
      <p:ext uri="{BB962C8B-B14F-4D97-AF65-F5344CB8AC3E}">
        <p14:creationId xmlns:p14="http://schemas.microsoft.com/office/powerpoint/2010/main" val="774393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Assuming that we want to include a categorical variable, the type of work, for one additional predictor in the model. </a:t>
            </a:r>
            <a:r>
              <a:rPr lang="en-US" sz="1200" b="0" i="0" kern="1200" dirty="0">
                <a:solidFill>
                  <a:schemeClr val="tx1"/>
                </a:solidFill>
                <a:effectLst/>
                <a:latin typeface="+mn-lt"/>
                <a:ea typeface="+mn-ea"/>
                <a:cs typeface="+mn-cs"/>
              </a:rPr>
              <a:t>A vector called </a:t>
            </a:r>
            <a:r>
              <a:rPr lang="en-US" sz="1200" b="0" i="0" kern="1200" dirty="0" err="1">
                <a:solidFill>
                  <a:schemeClr val="tx1"/>
                </a:solidFill>
                <a:effectLst/>
                <a:latin typeface="+mn-lt"/>
                <a:ea typeface="+mn-ea"/>
                <a:cs typeface="+mn-cs"/>
              </a:rPr>
              <a:t>nwork</a:t>
            </a:r>
            <a:r>
              <a:rPr lang="en-US" sz="1200" b="0" i="0" kern="1200" dirty="0">
                <a:solidFill>
                  <a:schemeClr val="tx1"/>
                </a:solidFill>
                <a:effectLst/>
                <a:latin typeface="+mn-lt"/>
                <a:ea typeface="+mn-ea"/>
                <a:cs typeface="+mn-cs"/>
              </a:rPr>
              <a:t> is created to signify the manner in which people work- whether they work not at all, part-time, or full time. A vector </a:t>
            </a:r>
            <a:r>
              <a:rPr lang="en-US" sz="1200" b="0" i="0" kern="1200" dirty="0" err="1">
                <a:solidFill>
                  <a:schemeClr val="tx1"/>
                </a:solidFill>
                <a:effectLst/>
                <a:latin typeface="+mn-lt"/>
                <a:ea typeface="+mn-ea"/>
                <a:cs typeface="+mn-cs"/>
              </a:rPr>
              <a:t>nwork</a:t>
            </a:r>
            <a:r>
              <a:rPr lang="en-US" sz="1200" b="0" i="0" kern="1200" dirty="0">
                <a:solidFill>
                  <a:schemeClr val="tx1"/>
                </a:solidFill>
                <a:effectLst/>
                <a:latin typeface="+mn-lt"/>
                <a:ea typeface="+mn-ea"/>
                <a:cs typeface="+mn-cs"/>
              </a:rPr>
              <a:t> is created to contain this information: 1=no working, 2=part-time, and 3=full-time.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16</a:t>
            </a:fld>
            <a:endParaRPr lang="en-US"/>
          </a:p>
        </p:txBody>
      </p:sp>
    </p:spTree>
    <p:extLst>
      <p:ext uri="{BB962C8B-B14F-4D97-AF65-F5344CB8AC3E}">
        <p14:creationId xmlns:p14="http://schemas.microsoft.com/office/powerpoint/2010/main" val="3800398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Dummy coding, also known as one-hot encoding, is a technique used in linear regression and other statistical models to represent categorical variables as binary (0 or 1) variables. This is necessary because linear regression models, by default, work with numerical input data and rely on the assumption that the relationship between the dependent variable and the independent variables is linear. Categorical variables, which represent groups or categories, cannot be directly used in their original form because they don't have a meaningful linear relationship.</a:t>
            </a:r>
            <a:endParaRPr lang="en-US" dirty="0"/>
          </a:p>
        </p:txBody>
      </p:sp>
      <p:sp>
        <p:nvSpPr>
          <p:cNvPr id="4" name="Slide Number Placeholder 3"/>
          <p:cNvSpPr>
            <a:spLocks noGrp="1"/>
          </p:cNvSpPr>
          <p:nvPr>
            <p:ph type="sldNum" sz="quarter" idx="5"/>
          </p:nvPr>
        </p:nvSpPr>
        <p:spPr/>
        <p:txBody>
          <a:bodyPr/>
          <a:lstStyle/>
          <a:p>
            <a:fld id="{F447469E-A8B3-4EDF-ACC8-6B5423908F78}" type="slidenum">
              <a:rPr lang="en-US" smtClean="0"/>
              <a:t>17</a:t>
            </a:fld>
            <a:endParaRPr lang="en-US"/>
          </a:p>
        </p:txBody>
      </p:sp>
    </p:spTree>
    <p:extLst>
      <p:ext uri="{BB962C8B-B14F-4D97-AF65-F5344CB8AC3E}">
        <p14:creationId xmlns:p14="http://schemas.microsoft.com/office/powerpoint/2010/main" val="8816553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0" i="0" kern="1200" dirty="0">
                <a:solidFill>
                  <a:schemeClr val="tx1"/>
                </a:solidFill>
                <a:effectLst/>
                <a:latin typeface="+mn-lt"/>
                <a:ea typeface="+mn-ea"/>
                <a:cs typeface="+mn-cs"/>
              </a:rPr>
              <a:t>Using k-1 binary variables for categorical variables is a common practice to avoid issues like multicollinearity, maintain independence, simplify interpretation, and improve model efficiency. The omitted category (kth category) serves as the reference point against which the effects of the other categories are compared.</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18</a:t>
            </a:fld>
            <a:endParaRPr lang="en-US"/>
          </a:p>
        </p:txBody>
      </p:sp>
    </p:spTree>
    <p:extLst>
      <p:ext uri="{BB962C8B-B14F-4D97-AF65-F5344CB8AC3E}">
        <p14:creationId xmlns:p14="http://schemas.microsoft.com/office/powerpoint/2010/main" val="2436456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19</a:t>
            </a:fld>
            <a:endParaRPr lang="en-US"/>
          </a:p>
        </p:txBody>
      </p:sp>
    </p:spTree>
    <p:extLst>
      <p:ext uri="{BB962C8B-B14F-4D97-AF65-F5344CB8AC3E}">
        <p14:creationId xmlns:p14="http://schemas.microsoft.com/office/powerpoint/2010/main" val="18339829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20</a:t>
            </a:fld>
            <a:endParaRPr lang="en-US"/>
          </a:p>
        </p:txBody>
      </p:sp>
    </p:spTree>
    <p:extLst>
      <p:ext uri="{BB962C8B-B14F-4D97-AF65-F5344CB8AC3E}">
        <p14:creationId xmlns:p14="http://schemas.microsoft.com/office/powerpoint/2010/main" val="3571134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21</a:t>
            </a:fld>
            <a:endParaRPr lang="en-US"/>
          </a:p>
        </p:txBody>
      </p:sp>
    </p:spTree>
    <p:extLst>
      <p:ext uri="{BB962C8B-B14F-4D97-AF65-F5344CB8AC3E}">
        <p14:creationId xmlns:p14="http://schemas.microsoft.com/office/powerpoint/2010/main" val="101440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22</a:t>
            </a:fld>
            <a:endParaRPr lang="en-US"/>
          </a:p>
        </p:txBody>
      </p:sp>
    </p:spTree>
    <p:extLst>
      <p:ext uri="{BB962C8B-B14F-4D97-AF65-F5344CB8AC3E}">
        <p14:creationId xmlns:p14="http://schemas.microsoft.com/office/powerpoint/2010/main" val="1278270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D2A8CFD-7D0E-984D-8B4C-26FF9E5765E5}" type="slidenum">
              <a:rPr lang="en-US" smtClean="0"/>
              <a:pPr/>
              <a:t>23</a:t>
            </a:fld>
            <a:endParaRPr lang="en-US"/>
          </a:p>
        </p:txBody>
      </p:sp>
    </p:spTree>
    <p:extLst>
      <p:ext uri="{BB962C8B-B14F-4D97-AF65-F5344CB8AC3E}">
        <p14:creationId xmlns:p14="http://schemas.microsoft.com/office/powerpoint/2010/main" val="467062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340D14-1D48-8746-BDC1-FB0BF4D2A7BC}" type="datetime1">
              <a:rPr lang="en-US" smtClean="0"/>
              <a:t>10/9/25</a:t>
            </a:fld>
            <a:endParaRPr lang="en-US"/>
          </a:p>
        </p:txBody>
      </p:sp>
      <p:sp>
        <p:nvSpPr>
          <p:cNvPr id="5" name="Footer Placeholder 4"/>
          <p:cNvSpPr>
            <a:spLocks noGrp="1"/>
          </p:cNvSpPr>
          <p:nvPr>
            <p:ph type="ftr" sz="quarter" idx="11"/>
          </p:nvPr>
        </p:nvSpPr>
        <p:spPr/>
        <p:txBody>
          <a:bodyPr/>
          <a:lstStyle/>
          <a:p>
            <a:r>
              <a:rPr lang="en-US" dirty="0"/>
              <a:t>EVE310 Fall 2025 Lab 5</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74780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B502E8-FB4C-2D4E-A0A0-7EC1002A0DAD}" type="datetime1">
              <a:rPr lang="en-US" smtClean="0"/>
              <a:t>10/9/25</a:t>
            </a:fld>
            <a:endParaRPr lang="en-US"/>
          </a:p>
        </p:txBody>
      </p:sp>
      <p:sp>
        <p:nvSpPr>
          <p:cNvPr id="5" name="Footer Placeholder 4"/>
          <p:cNvSpPr>
            <a:spLocks noGrp="1"/>
          </p:cNvSpPr>
          <p:nvPr>
            <p:ph type="ftr" sz="quarter" idx="11"/>
          </p:nvPr>
        </p:nvSpPr>
        <p:spPr/>
        <p:txBody>
          <a:bodyPr/>
          <a:lstStyle/>
          <a:p>
            <a:r>
              <a:rPr lang="en-US" dirty="0"/>
              <a:t>EVE310 Fall 2025 Lab 5</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765250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0428BB-984F-D649-B1E1-9B168B13B75B}" type="datetime1">
              <a:rPr lang="en-US" smtClean="0"/>
              <a:t>10/9/25</a:t>
            </a:fld>
            <a:endParaRPr lang="en-US"/>
          </a:p>
        </p:txBody>
      </p:sp>
      <p:sp>
        <p:nvSpPr>
          <p:cNvPr id="5" name="Footer Placeholder 4"/>
          <p:cNvSpPr>
            <a:spLocks noGrp="1"/>
          </p:cNvSpPr>
          <p:nvPr>
            <p:ph type="ftr" sz="quarter" idx="11"/>
          </p:nvPr>
        </p:nvSpPr>
        <p:spPr/>
        <p:txBody>
          <a:bodyPr/>
          <a:lstStyle/>
          <a:p>
            <a:r>
              <a:rPr lang="en-US" dirty="0"/>
              <a:t>EVE310 Fall 2025 Lab 5</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68969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D76C72-D9FC-CF40-816C-E8A34BBD0334}" type="datetime1">
              <a:rPr lang="en-US" smtClean="0"/>
              <a:t>10/9/25</a:t>
            </a:fld>
            <a:endParaRPr lang="en-US"/>
          </a:p>
        </p:txBody>
      </p:sp>
      <p:sp>
        <p:nvSpPr>
          <p:cNvPr id="6" name="Footer Placeholder 5"/>
          <p:cNvSpPr>
            <a:spLocks noGrp="1"/>
          </p:cNvSpPr>
          <p:nvPr>
            <p:ph type="ftr" sz="quarter" idx="11"/>
          </p:nvPr>
        </p:nvSpPr>
        <p:spPr/>
        <p:txBody>
          <a:bodyPr/>
          <a:lstStyle/>
          <a:p>
            <a:r>
              <a:rPr lang="en-US" dirty="0"/>
              <a:t>EVE310 Fall 2025 Lab 5</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3912983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30695-4E1E-8D42-8AC5-404E4045ACA4}" type="datetime1">
              <a:rPr lang="en-US" smtClean="0"/>
              <a:t>10/9/25</a:t>
            </a:fld>
            <a:endParaRPr lang="en-US"/>
          </a:p>
        </p:txBody>
      </p:sp>
      <p:sp>
        <p:nvSpPr>
          <p:cNvPr id="8" name="Footer Placeholder 7"/>
          <p:cNvSpPr>
            <a:spLocks noGrp="1"/>
          </p:cNvSpPr>
          <p:nvPr>
            <p:ph type="ftr" sz="quarter" idx="11"/>
          </p:nvPr>
        </p:nvSpPr>
        <p:spPr/>
        <p:txBody>
          <a:bodyPr/>
          <a:lstStyle/>
          <a:p>
            <a:r>
              <a:rPr lang="en-US" dirty="0"/>
              <a:t>EVE310 Fall 2025 Lab 5</a:t>
            </a:r>
          </a:p>
        </p:txBody>
      </p:sp>
      <p:sp>
        <p:nvSpPr>
          <p:cNvPr id="9" name="Slide Number Placeholder 8"/>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865842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4726250-A799-CE4F-BADF-F1D1C9B435A4}" type="datetime1">
              <a:rPr lang="en-US" smtClean="0"/>
              <a:t>10/9/25</a:t>
            </a:fld>
            <a:endParaRPr lang="en-US"/>
          </a:p>
        </p:txBody>
      </p:sp>
      <p:sp>
        <p:nvSpPr>
          <p:cNvPr id="4" name="Footer Placeholder 3"/>
          <p:cNvSpPr>
            <a:spLocks noGrp="1"/>
          </p:cNvSpPr>
          <p:nvPr>
            <p:ph type="ftr" sz="quarter" idx="11"/>
          </p:nvPr>
        </p:nvSpPr>
        <p:spPr/>
        <p:txBody>
          <a:bodyPr/>
          <a:lstStyle/>
          <a:p>
            <a:r>
              <a:rPr lang="en-US" dirty="0"/>
              <a:t>EVE310 Fall 2025 Lab 5</a:t>
            </a:r>
          </a:p>
        </p:txBody>
      </p:sp>
      <p:sp>
        <p:nvSpPr>
          <p:cNvPr id="5" name="Slide Number Placeholder 4"/>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2908462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A5414E-6743-614F-8DA4-C663E316413A}" type="datetime1">
              <a:rPr lang="en-US" smtClean="0"/>
              <a:t>10/9/25</a:t>
            </a:fld>
            <a:endParaRPr lang="en-US"/>
          </a:p>
        </p:txBody>
      </p:sp>
      <p:sp>
        <p:nvSpPr>
          <p:cNvPr id="3" name="Footer Placeholder 2"/>
          <p:cNvSpPr>
            <a:spLocks noGrp="1"/>
          </p:cNvSpPr>
          <p:nvPr>
            <p:ph type="ftr" sz="quarter" idx="11"/>
          </p:nvPr>
        </p:nvSpPr>
        <p:spPr/>
        <p:txBody>
          <a:bodyPr/>
          <a:lstStyle/>
          <a:p>
            <a:r>
              <a:rPr lang="en-US" dirty="0"/>
              <a:t>EVE310 Fall 2025 Lab 5</a:t>
            </a:r>
          </a:p>
        </p:txBody>
      </p:sp>
      <p:sp>
        <p:nvSpPr>
          <p:cNvPr id="4" name="Slide Number Placeholder 3"/>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695635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7E5AD4-7D17-9441-9B3B-6895A7EB0B7E}" type="datetime1">
              <a:rPr lang="en-US" smtClean="0"/>
              <a:t>10/9/25</a:t>
            </a:fld>
            <a:endParaRPr lang="en-US"/>
          </a:p>
        </p:txBody>
      </p:sp>
      <p:sp>
        <p:nvSpPr>
          <p:cNvPr id="6" name="Footer Placeholder 5"/>
          <p:cNvSpPr>
            <a:spLocks noGrp="1"/>
          </p:cNvSpPr>
          <p:nvPr>
            <p:ph type="ftr" sz="quarter" idx="11"/>
          </p:nvPr>
        </p:nvSpPr>
        <p:spPr/>
        <p:txBody>
          <a:bodyPr/>
          <a:lstStyle/>
          <a:p>
            <a:r>
              <a:rPr lang="en-US" dirty="0"/>
              <a:t>EVE310 Fall 2025 Lab 5</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183752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5A1FA6-79D5-1046-AA37-16823D8937E7}" type="datetime1">
              <a:rPr lang="en-US" smtClean="0"/>
              <a:t>10/9/25</a:t>
            </a:fld>
            <a:endParaRPr lang="en-US"/>
          </a:p>
        </p:txBody>
      </p:sp>
      <p:sp>
        <p:nvSpPr>
          <p:cNvPr id="6" name="Footer Placeholder 5"/>
          <p:cNvSpPr>
            <a:spLocks noGrp="1"/>
          </p:cNvSpPr>
          <p:nvPr>
            <p:ph type="ftr" sz="quarter" idx="11"/>
          </p:nvPr>
        </p:nvSpPr>
        <p:spPr/>
        <p:txBody>
          <a:bodyPr/>
          <a:lstStyle/>
          <a:p>
            <a:r>
              <a:rPr lang="en-US" dirty="0"/>
              <a:t>EVE310 Fall 2025 Lab 5</a:t>
            </a:r>
          </a:p>
        </p:txBody>
      </p:sp>
      <p:sp>
        <p:nvSpPr>
          <p:cNvPr id="7" name="Slide Number Placeholder 6"/>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65322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C7EFFA-A045-E74D-908A-1843EC6A68D9}" type="datetime1">
              <a:rPr lang="en-US" smtClean="0"/>
              <a:t>10/9/25</a:t>
            </a:fld>
            <a:endParaRPr lang="en-US"/>
          </a:p>
        </p:txBody>
      </p:sp>
      <p:sp>
        <p:nvSpPr>
          <p:cNvPr id="5" name="Footer Placeholder 4"/>
          <p:cNvSpPr>
            <a:spLocks noGrp="1"/>
          </p:cNvSpPr>
          <p:nvPr>
            <p:ph type="ftr" sz="quarter" idx="11"/>
          </p:nvPr>
        </p:nvSpPr>
        <p:spPr/>
        <p:txBody>
          <a:bodyPr/>
          <a:lstStyle/>
          <a:p>
            <a:r>
              <a:rPr lang="en-US" dirty="0"/>
              <a:t>EVE310 Fall 2025 Lab 5</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77705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45DC9E-9DBF-C942-9205-1BA618C14033}" type="datetime1">
              <a:rPr lang="en-US" smtClean="0"/>
              <a:t>10/9/25</a:t>
            </a:fld>
            <a:endParaRPr lang="en-US"/>
          </a:p>
        </p:txBody>
      </p:sp>
      <p:sp>
        <p:nvSpPr>
          <p:cNvPr id="5" name="Footer Placeholder 4"/>
          <p:cNvSpPr>
            <a:spLocks noGrp="1"/>
          </p:cNvSpPr>
          <p:nvPr>
            <p:ph type="ftr" sz="quarter" idx="11"/>
          </p:nvPr>
        </p:nvSpPr>
        <p:spPr/>
        <p:txBody>
          <a:bodyPr/>
          <a:lstStyle/>
          <a:p>
            <a:r>
              <a:rPr lang="en-US" dirty="0"/>
              <a:t>EVE310 Fall 2025 Lab 5</a:t>
            </a:r>
          </a:p>
        </p:txBody>
      </p:sp>
      <p:sp>
        <p:nvSpPr>
          <p:cNvPr id="6" name="Slide Number Placeholder 5"/>
          <p:cNvSpPr>
            <a:spLocks noGrp="1"/>
          </p:cNvSpPr>
          <p:nvPr>
            <p:ph type="sldNum" sz="quarter" idx="12"/>
          </p:nvPr>
        </p:nvSpPr>
        <p:spPr/>
        <p:txBody>
          <a:bodyPr/>
          <a:lstStyle/>
          <a:p>
            <a:fld id="{2E8848B6-D328-4CC8-99C6-D5689AE94DF4}" type="slidenum">
              <a:rPr lang="en-US" smtClean="0"/>
              <a:t>‹#›</a:t>
            </a:fld>
            <a:endParaRPr lang="en-US"/>
          </a:p>
        </p:txBody>
      </p:sp>
    </p:spTree>
    <p:extLst>
      <p:ext uri="{BB962C8B-B14F-4D97-AF65-F5344CB8AC3E}">
        <p14:creationId xmlns:p14="http://schemas.microsoft.com/office/powerpoint/2010/main" val="3586264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04B92C-6798-2644-8016-CEE4686ABD09}" type="datetime1">
              <a:rPr lang="en-US" smtClean="0"/>
              <a:t>10/9/25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EVE310 Fall 2025 Lab 5</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8848B6-D328-4CC8-99C6-D5689AE94DF4}" type="slidenum">
              <a:rPr lang="en-US" smtClean="0"/>
              <a:t>‹#›</a:t>
            </a:fld>
            <a:endParaRPr lang="en-US"/>
          </a:p>
        </p:txBody>
      </p:sp>
    </p:spTree>
    <p:extLst>
      <p:ext uri="{BB962C8B-B14F-4D97-AF65-F5344CB8AC3E}">
        <p14:creationId xmlns:p14="http://schemas.microsoft.com/office/powerpoint/2010/main" val="3071034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noFill/>
        </p:spPr>
        <p:txBody>
          <a:bodyPr/>
          <a:lstStyle/>
          <a:p>
            <a:r>
              <a:rPr lang="en-US" dirty="0">
                <a:solidFill>
                  <a:schemeClr val="tx1">
                    <a:lumMod val="75000"/>
                    <a:lumOff val="25000"/>
                  </a:schemeClr>
                </a:solidFill>
              </a:rPr>
              <a:t>EVE310 Lab 5</a:t>
            </a:r>
          </a:p>
        </p:txBody>
      </p:sp>
      <p:sp>
        <p:nvSpPr>
          <p:cNvPr id="3" name="Subtitle 2"/>
          <p:cNvSpPr>
            <a:spLocks noGrp="1"/>
          </p:cNvSpPr>
          <p:nvPr>
            <p:ph type="subTitle" idx="1"/>
          </p:nvPr>
        </p:nvSpPr>
        <p:spPr>
          <a:noFill/>
        </p:spPr>
        <p:txBody>
          <a:bodyPr/>
          <a:lstStyle/>
          <a:p>
            <a:r>
              <a:rPr lang="en-US" dirty="0"/>
              <a:t>October 9, 2025</a:t>
            </a:r>
          </a:p>
        </p:txBody>
      </p:sp>
      <p:sp>
        <p:nvSpPr>
          <p:cNvPr id="4" name="Slide Number Placeholder 3"/>
          <p:cNvSpPr>
            <a:spLocks noGrp="1"/>
          </p:cNvSpPr>
          <p:nvPr>
            <p:ph type="sldNum" sz="quarter" idx="12"/>
          </p:nvPr>
        </p:nvSpPr>
        <p:spPr/>
        <p:txBody>
          <a:bodyPr/>
          <a:lstStyle/>
          <a:p>
            <a:fld id="{2E8848B6-D328-4CC8-99C6-D5689AE94DF4}" type="slidenum">
              <a:rPr lang="en-US" smtClean="0"/>
              <a:t>1</a:t>
            </a:fld>
            <a:endParaRPr lang="en-US"/>
          </a:p>
        </p:txBody>
      </p:sp>
      <p:sp>
        <p:nvSpPr>
          <p:cNvPr id="6" name="Footer Placeholder 5"/>
          <p:cNvSpPr>
            <a:spLocks noGrp="1"/>
          </p:cNvSpPr>
          <p:nvPr>
            <p:ph type="ftr" sz="quarter" idx="11"/>
          </p:nvPr>
        </p:nvSpPr>
        <p:spPr/>
        <p:txBody>
          <a:bodyPr/>
          <a:lstStyle/>
          <a:p>
            <a:r>
              <a:rPr lang="en-US" dirty="0"/>
              <a:t>EVE310 Fall 2025 Lab 5</a:t>
            </a:r>
          </a:p>
        </p:txBody>
      </p:sp>
    </p:spTree>
    <p:extLst>
      <p:ext uri="{BB962C8B-B14F-4D97-AF65-F5344CB8AC3E}">
        <p14:creationId xmlns:p14="http://schemas.microsoft.com/office/powerpoint/2010/main" val="973730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Announcements</a:t>
            </a:r>
          </a:p>
        </p:txBody>
      </p:sp>
      <p:sp>
        <p:nvSpPr>
          <p:cNvPr id="6" name="Footer Placeholder 5">
            <a:extLst>
              <a:ext uri="{FF2B5EF4-FFF2-40B4-BE49-F238E27FC236}">
                <a16:creationId xmlns:a16="http://schemas.microsoft.com/office/drawing/2014/main" id="{35DCF091-0F6A-48AB-BE25-5F509B35B779}"/>
              </a:ext>
            </a:extLst>
          </p:cNvPr>
          <p:cNvSpPr>
            <a:spLocks noGrp="1"/>
          </p:cNvSpPr>
          <p:nvPr>
            <p:ph type="ftr" sz="quarter" idx="11"/>
          </p:nvPr>
        </p:nvSpPr>
        <p:spPr>
          <a:xfrm>
            <a:off x="4165600" y="6356353"/>
            <a:ext cx="3860800" cy="365125"/>
          </a:xfrm>
        </p:spPr>
        <p:txBody>
          <a:bodyPr/>
          <a:lstStyle/>
          <a:p>
            <a:r>
              <a:rPr lang="en-US" dirty="0"/>
              <a:t>EVE310 Fall 2025 Lab 5</a:t>
            </a:r>
          </a:p>
        </p:txBody>
      </p:sp>
      <p:sp>
        <p:nvSpPr>
          <p:cNvPr id="7" name="Rectangle 6">
            <a:extLst>
              <a:ext uri="{FF2B5EF4-FFF2-40B4-BE49-F238E27FC236}">
                <a16:creationId xmlns:a16="http://schemas.microsoft.com/office/drawing/2014/main" id="{727E5001-66CC-4837-B872-543FE49D636E}"/>
              </a:ext>
            </a:extLst>
          </p:cNvPr>
          <p:cNvSpPr/>
          <p:nvPr/>
        </p:nvSpPr>
        <p:spPr>
          <a:xfrm>
            <a:off x="762000" y="1764537"/>
            <a:ext cx="11283950" cy="2613664"/>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3200" b="1" dirty="0">
                <a:solidFill>
                  <a:schemeClr val="tx1">
                    <a:lumMod val="75000"/>
                    <a:lumOff val="25000"/>
                  </a:schemeClr>
                </a:solidFill>
              </a:rPr>
              <a:t>No graded Lab Quiz this week</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3200" dirty="0">
                <a:solidFill>
                  <a:schemeClr val="tx1">
                    <a:lumMod val="75000"/>
                    <a:lumOff val="25000"/>
                  </a:schemeClr>
                </a:solidFill>
              </a:rPr>
              <a:t>Activity in Canvas (involves making some changes to the Lab 6 Tutorial code and observing how results are impacted)</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3200" dirty="0">
                <a:solidFill>
                  <a:schemeClr val="tx1">
                    <a:lumMod val="75000"/>
                    <a:lumOff val="25000"/>
                  </a:schemeClr>
                </a:solidFill>
              </a:rPr>
              <a:t>Answer sheet for activity posted to self-check your work.</a:t>
            </a:r>
          </a:p>
        </p:txBody>
      </p:sp>
    </p:spTree>
    <p:extLst>
      <p:ext uri="{BB962C8B-B14F-4D97-AF65-F5344CB8AC3E}">
        <p14:creationId xmlns:p14="http://schemas.microsoft.com/office/powerpoint/2010/main" val="105754929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3</a:t>
            </a:fld>
            <a:endParaRPr lang="en-US"/>
          </a:p>
        </p:txBody>
      </p:sp>
      <p:sp>
        <p:nvSpPr>
          <p:cNvPr id="4" name="Rectangle 3"/>
          <p:cNvSpPr/>
          <p:nvPr/>
        </p:nvSpPr>
        <p:spPr>
          <a:xfrm>
            <a:off x="990600" y="1747065"/>
            <a:ext cx="8345394" cy="3363870"/>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Importing specific functions from a package</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Splitting data between training and testing datasets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Creating linear regression models with </a:t>
            </a:r>
            <a:r>
              <a:rPr lang="en-US" sz="2400" dirty="0" err="1">
                <a:solidFill>
                  <a:schemeClr val="tx1">
                    <a:lumMod val="75000"/>
                    <a:lumOff val="25000"/>
                  </a:schemeClr>
                </a:solidFill>
              </a:rPr>
              <a:t>Sklearn</a:t>
            </a:r>
            <a:endParaRPr lang="en-US" sz="24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Analyzing and plotting model results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Compute adjusted r-squared</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Use one-hot encoding to include categorical variables</a:t>
            </a: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Learning objectives</a:t>
            </a:r>
          </a:p>
        </p:txBody>
      </p:sp>
      <p:sp>
        <p:nvSpPr>
          <p:cNvPr id="6" name="Footer Placeholder 5">
            <a:extLst>
              <a:ext uri="{FF2B5EF4-FFF2-40B4-BE49-F238E27FC236}">
                <a16:creationId xmlns:a16="http://schemas.microsoft.com/office/drawing/2014/main" id="{3FF79084-4A97-4A69-8AA2-4049CDC11A0A}"/>
              </a:ext>
            </a:extLst>
          </p:cNvPr>
          <p:cNvSpPr>
            <a:spLocks noGrp="1"/>
          </p:cNvSpPr>
          <p:nvPr>
            <p:ph type="ftr" sz="quarter" idx="11"/>
          </p:nvPr>
        </p:nvSpPr>
        <p:spPr>
          <a:xfrm>
            <a:off x="4165600" y="6356353"/>
            <a:ext cx="3860800" cy="365125"/>
          </a:xfrm>
        </p:spPr>
        <p:txBody>
          <a:bodyPr/>
          <a:lstStyle/>
          <a:p>
            <a:r>
              <a:rPr lang="en-US" dirty="0"/>
              <a:t>EVE310 Fall 2025 Lab 5</a:t>
            </a:r>
          </a:p>
        </p:txBody>
      </p:sp>
    </p:spTree>
    <p:extLst>
      <p:ext uri="{BB962C8B-B14F-4D97-AF65-F5344CB8AC3E}">
        <p14:creationId xmlns:p14="http://schemas.microsoft.com/office/powerpoint/2010/main" val="21108985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28089"/>
            <a:ext cx="10363200" cy="2822572"/>
          </a:xfrm>
          <a:noFill/>
        </p:spPr>
        <p:txBody>
          <a:bodyPr>
            <a:normAutofit/>
          </a:bodyPr>
          <a:lstStyle/>
          <a:p>
            <a:r>
              <a:rPr lang="en-US" sz="3600" dirty="0">
                <a:solidFill>
                  <a:schemeClr val="tx1">
                    <a:lumMod val="75000"/>
                    <a:lumOff val="25000"/>
                  </a:schemeClr>
                </a:solidFill>
              </a:rPr>
              <a:t>This lab is a direct extension of what you learned in Lecture 10 and the traffic example code you ran.</a:t>
            </a:r>
          </a:p>
        </p:txBody>
      </p:sp>
      <p:sp>
        <p:nvSpPr>
          <p:cNvPr id="4" name="Slide Number Placeholder 3"/>
          <p:cNvSpPr>
            <a:spLocks noGrp="1"/>
          </p:cNvSpPr>
          <p:nvPr>
            <p:ph type="sldNum" sz="quarter" idx="12"/>
          </p:nvPr>
        </p:nvSpPr>
        <p:spPr/>
        <p:txBody>
          <a:bodyPr/>
          <a:lstStyle/>
          <a:p>
            <a:fld id="{2E8848B6-D328-4CC8-99C6-D5689AE94DF4}" type="slidenum">
              <a:rPr lang="en-US" smtClean="0"/>
              <a:t>4</a:t>
            </a:fld>
            <a:endParaRPr lang="en-US"/>
          </a:p>
        </p:txBody>
      </p:sp>
      <p:sp>
        <p:nvSpPr>
          <p:cNvPr id="5" name="Footer Placeholder 5">
            <a:extLst>
              <a:ext uri="{FF2B5EF4-FFF2-40B4-BE49-F238E27FC236}">
                <a16:creationId xmlns:a16="http://schemas.microsoft.com/office/drawing/2014/main" id="{0B277B3F-FE88-421E-9A40-5109C9EF3743}"/>
              </a:ext>
            </a:extLst>
          </p:cNvPr>
          <p:cNvSpPr>
            <a:spLocks noGrp="1"/>
          </p:cNvSpPr>
          <p:nvPr>
            <p:ph type="ftr" sz="quarter" idx="11"/>
          </p:nvPr>
        </p:nvSpPr>
        <p:spPr>
          <a:xfrm>
            <a:off x="4165600" y="6356353"/>
            <a:ext cx="3860800" cy="365125"/>
          </a:xfrm>
        </p:spPr>
        <p:txBody>
          <a:bodyPr/>
          <a:lstStyle/>
          <a:p>
            <a:r>
              <a:rPr lang="en-US" dirty="0"/>
              <a:t>EVE310 Fall 2025 Lab 5</a:t>
            </a:r>
          </a:p>
        </p:txBody>
      </p:sp>
    </p:spTree>
    <p:extLst>
      <p:ext uri="{BB962C8B-B14F-4D97-AF65-F5344CB8AC3E}">
        <p14:creationId xmlns:p14="http://schemas.microsoft.com/office/powerpoint/2010/main" val="2049023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8534400" y="6477000"/>
            <a:ext cx="3860800" cy="365125"/>
          </a:xfrm>
        </p:spPr>
        <p:txBody>
          <a:bodyPr/>
          <a:lstStyle/>
          <a:p>
            <a:r>
              <a:rPr lang="en-US" dirty="0"/>
              <a:t>EVE310 Fall 2025 Lab 5</a:t>
            </a:r>
          </a:p>
        </p:txBody>
      </p:sp>
      <p:sp>
        <p:nvSpPr>
          <p:cNvPr id="3" name="Slide Number Placeholder 2"/>
          <p:cNvSpPr>
            <a:spLocks noGrp="1"/>
          </p:cNvSpPr>
          <p:nvPr>
            <p:ph type="sldNum" sz="quarter" idx="12"/>
          </p:nvPr>
        </p:nvSpPr>
        <p:spPr/>
        <p:txBody>
          <a:bodyPr/>
          <a:lstStyle/>
          <a:p>
            <a:fld id="{2E8848B6-D328-4CC8-99C6-D5689AE94DF4}" type="slidenum">
              <a:rPr lang="en-US" smtClean="0"/>
              <a:t>5</a:t>
            </a:fld>
            <a:endParaRPr lang="en-US" dirty="0"/>
          </a:p>
        </p:txBody>
      </p:sp>
      <p:sp>
        <p:nvSpPr>
          <p:cNvPr id="4" name="Rectangle 3"/>
          <p:cNvSpPr/>
          <p:nvPr/>
        </p:nvSpPr>
        <p:spPr>
          <a:xfrm>
            <a:off x="1676400" y="875444"/>
            <a:ext cx="9220200" cy="5622821"/>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Sometimes we want to import an entire package (like NumPy)</a:t>
            </a:r>
          </a:p>
          <a:p>
            <a:pPr marL="342900" indent="-342900">
              <a:lnSpc>
                <a:spcPct val="114000"/>
              </a:lnSpc>
              <a:spcBef>
                <a:spcPts val="600"/>
              </a:spcBef>
              <a:spcAft>
                <a:spcPts val="600"/>
              </a:spcAft>
              <a:buClr>
                <a:schemeClr val="tx1"/>
              </a:buClr>
              <a:buSzPct val="100000"/>
              <a:buFont typeface="Arial" panose="020B0604020202020204" pitchFamily="34" charset="0"/>
              <a:buChar char="•"/>
            </a:pPr>
            <a:endParaRPr lang="en-US" sz="24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Sometimes, we only want to use a specific function from a package. We can import only that function using:</a:t>
            </a:r>
          </a:p>
          <a:p>
            <a:pPr marL="342900" indent="-342900">
              <a:lnSpc>
                <a:spcPct val="114000"/>
              </a:lnSpc>
              <a:spcBef>
                <a:spcPts val="600"/>
              </a:spcBef>
              <a:spcAft>
                <a:spcPts val="600"/>
              </a:spcAft>
              <a:buClr>
                <a:schemeClr val="tx1"/>
              </a:buClr>
              <a:buSzPct val="100000"/>
              <a:buFont typeface="Arial" panose="020B0604020202020204" pitchFamily="34" charset="0"/>
              <a:buChar char="•"/>
            </a:pPr>
            <a:endParaRPr lang="en-US" sz="24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In practice, it looks like this: </a:t>
            </a:r>
          </a:p>
          <a:p>
            <a:pPr marL="342900" indent="-342900">
              <a:lnSpc>
                <a:spcPct val="114000"/>
              </a:lnSpc>
              <a:spcBef>
                <a:spcPts val="600"/>
              </a:spcBef>
              <a:spcAft>
                <a:spcPts val="600"/>
              </a:spcAft>
              <a:buClr>
                <a:schemeClr val="tx1"/>
              </a:buClr>
              <a:buSzPct val="100000"/>
              <a:buFont typeface="Arial" panose="020B0604020202020204" pitchFamily="34" charset="0"/>
              <a:buChar char="•"/>
            </a:pPr>
            <a:endParaRPr lang="en-US" sz="2400" dirty="0">
              <a:solidFill>
                <a:schemeClr val="tx1">
                  <a:lumMod val="75000"/>
                  <a:lumOff val="25000"/>
                </a:schemeClr>
              </a:solidFill>
            </a:endParaRP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When we use the </a:t>
            </a:r>
            <a:r>
              <a:rPr lang="en-US" sz="2400" dirty="0" err="1">
                <a:solidFill>
                  <a:schemeClr val="tx1">
                    <a:lumMod val="75000"/>
                    <a:lumOff val="25000"/>
                  </a:schemeClr>
                </a:solidFill>
              </a:rPr>
              <a:t>LinearRegression</a:t>
            </a:r>
            <a:r>
              <a:rPr lang="en-US" sz="2400" dirty="0">
                <a:solidFill>
                  <a:schemeClr val="tx1">
                    <a:lumMod val="75000"/>
                    <a:lumOff val="25000"/>
                  </a:schemeClr>
                </a:solidFill>
              </a:rPr>
              <a:t> function later, we can just use the function as is. Does not require anything before the function (compared to using the </a:t>
            </a:r>
            <a:r>
              <a:rPr lang="en-US" sz="2400" dirty="0" err="1">
                <a:solidFill>
                  <a:schemeClr val="tx1">
                    <a:lumMod val="75000"/>
                    <a:lumOff val="25000"/>
                  </a:schemeClr>
                </a:solidFill>
              </a:rPr>
              <a:t>np.sum</a:t>
            </a:r>
            <a:r>
              <a:rPr lang="en-US" sz="2400" dirty="0">
                <a:solidFill>
                  <a:schemeClr val="tx1">
                    <a:lumMod val="75000"/>
                    <a:lumOff val="25000"/>
                  </a:schemeClr>
                </a:solidFill>
              </a:rPr>
              <a:t> function where the np needs to be specified)</a:t>
            </a:r>
            <a:endParaRPr lang="en-US" sz="3200" dirty="0">
              <a:solidFill>
                <a:schemeClr val="tx1">
                  <a:lumMod val="75000"/>
                  <a:lumOff val="25000"/>
                </a:schemeClr>
              </a:solidFill>
            </a:endParaRPr>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Importing Functions from a Package</a:t>
            </a:r>
          </a:p>
        </p:txBody>
      </p:sp>
      <p:pic>
        <p:nvPicPr>
          <p:cNvPr id="7" name="Picture 6">
            <a:extLst>
              <a:ext uri="{FF2B5EF4-FFF2-40B4-BE49-F238E27FC236}">
                <a16:creationId xmlns:a16="http://schemas.microsoft.com/office/drawing/2014/main" id="{F2B2BC2C-916F-4B30-AC6A-168517418F92}"/>
              </a:ext>
            </a:extLst>
          </p:cNvPr>
          <p:cNvPicPr>
            <a:picLocks noChangeAspect="1"/>
          </p:cNvPicPr>
          <p:nvPr/>
        </p:nvPicPr>
        <p:blipFill>
          <a:blip r:embed="rId3"/>
          <a:stretch>
            <a:fillRect/>
          </a:stretch>
        </p:blipFill>
        <p:spPr>
          <a:xfrm>
            <a:off x="4623117" y="1490426"/>
            <a:ext cx="2867025" cy="379236"/>
          </a:xfrm>
          <a:prstGeom prst="rect">
            <a:avLst/>
          </a:prstGeom>
        </p:spPr>
      </p:pic>
      <p:pic>
        <p:nvPicPr>
          <p:cNvPr id="9" name="Picture 8">
            <a:extLst>
              <a:ext uri="{FF2B5EF4-FFF2-40B4-BE49-F238E27FC236}">
                <a16:creationId xmlns:a16="http://schemas.microsoft.com/office/drawing/2014/main" id="{0A6A38B0-567F-4702-9571-CE2DA2C9F1D8}"/>
              </a:ext>
            </a:extLst>
          </p:cNvPr>
          <p:cNvPicPr>
            <a:picLocks noChangeAspect="1"/>
          </p:cNvPicPr>
          <p:nvPr/>
        </p:nvPicPr>
        <p:blipFill>
          <a:blip r:embed="rId4"/>
          <a:stretch>
            <a:fillRect/>
          </a:stretch>
        </p:blipFill>
        <p:spPr>
          <a:xfrm>
            <a:off x="3942079" y="3069104"/>
            <a:ext cx="4229101" cy="320387"/>
          </a:xfrm>
          <a:prstGeom prst="rect">
            <a:avLst/>
          </a:prstGeom>
        </p:spPr>
      </p:pic>
      <p:pic>
        <p:nvPicPr>
          <p:cNvPr id="11" name="Picture 10">
            <a:extLst>
              <a:ext uri="{FF2B5EF4-FFF2-40B4-BE49-F238E27FC236}">
                <a16:creationId xmlns:a16="http://schemas.microsoft.com/office/drawing/2014/main" id="{DE49C925-A65C-4E7F-872B-6755563F5036}"/>
              </a:ext>
            </a:extLst>
          </p:cNvPr>
          <p:cNvPicPr>
            <a:picLocks noChangeAspect="1"/>
          </p:cNvPicPr>
          <p:nvPr/>
        </p:nvPicPr>
        <p:blipFill rotWithShape="1">
          <a:blip r:embed="rId5"/>
          <a:srcRect t="12379"/>
          <a:stretch/>
        </p:blipFill>
        <p:spPr>
          <a:xfrm>
            <a:off x="3124200" y="4267200"/>
            <a:ext cx="5864857" cy="304800"/>
          </a:xfrm>
          <a:prstGeom prst="rect">
            <a:avLst/>
          </a:prstGeom>
        </p:spPr>
      </p:pic>
    </p:spTree>
    <p:extLst>
      <p:ext uri="{BB962C8B-B14F-4D97-AF65-F5344CB8AC3E}">
        <p14:creationId xmlns:p14="http://schemas.microsoft.com/office/powerpoint/2010/main" val="75881354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6</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Importing Packages (and Functions from Packages)</a:t>
            </a:r>
          </a:p>
        </p:txBody>
      </p:sp>
      <p:pic>
        <p:nvPicPr>
          <p:cNvPr id="12" name="Picture 11">
            <a:extLst>
              <a:ext uri="{FF2B5EF4-FFF2-40B4-BE49-F238E27FC236}">
                <a16:creationId xmlns:a16="http://schemas.microsoft.com/office/drawing/2014/main" id="{044EB9F5-FBA5-4E9C-8FBF-389DCCEF6704}"/>
              </a:ext>
            </a:extLst>
          </p:cNvPr>
          <p:cNvPicPr>
            <a:picLocks noChangeAspect="1"/>
          </p:cNvPicPr>
          <p:nvPr/>
        </p:nvPicPr>
        <p:blipFill>
          <a:blip r:embed="rId3"/>
          <a:stretch>
            <a:fillRect/>
          </a:stretch>
        </p:blipFill>
        <p:spPr>
          <a:xfrm>
            <a:off x="1788465" y="1714500"/>
            <a:ext cx="8615070" cy="3429000"/>
          </a:xfrm>
          <a:prstGeom prst="rect">
            <a:avLst/>
          </a:prstGeom>
        </p:spPr>
      </p:pic>
      <p:sp>
        <p:nvSpPr>
          <p:cNvPr id="7" name="Footer Placeholder 1">
            <a:extLst>
              <a:ext uri="{FF2B5EF4-FFF2-40B4-BE49-F238E27FC236}">
                <a16:creationId xmlns:a16="http://schemas.microsoft.com/office/drawing/2014/main" id="{6545AAAE-65E3-42E9-A6CD-8F66CEDFD2C5}"/>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207269117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CC6CEA1-0796-8E93-8FC9-B1F847D54C8B}"/>
              </a:ext>
            </a:extLst>
          </p:cNvPr>
          <p:cNvSpPr>
            <a:spLocks noGrp="1"/>
          </p:cNvSpPr>
          <p:nvPr>
            <p:ph type="ftr" sz="quarter" idx="11"/>
          </p:nvPr>
        </p:nvSpPr>
        <p:spPr/>
        <p:txBody>
          <a:bodyPr/>
          <a:lstStyle/>
          <a:p>
            <a:r>
              <a:rPr lang="en-US" dirty="0"/>
              <a:t>EVE310 Fall 2025 Lab 5</a:t>
            </a:r>
          </a:p>
        </p:txBody>
      </p:sp>
      <p:sp>
        <p:nvSpPr>
          <p:cNvPr id="4" name="Slide Number Placeholder 3">
            <a:extLst>
              <a:ext uri="{FF2B5EF4-FFF2-40B4-BE49-F238E27FC236}">
                <a16:creationId xmlns:a16="http://schemas.microsoft.com/office/drawing/2014/main" id="{BF46ED47-7E9E-03E8-C234-8FCAF4274D16}"/>
              </a:ext>
            </a:extLst>
          </p:cNvPr>
          <p:cNvSpPr>
            <a:spLocks noGrp="1"/>
          </p:cNvSpPr>
          <p:nvPr>
            <p:ph type="sldNum" sz="quarter" idx="12"/>
          </p:nvPr>
        </p:nvSpPr>
        <p:spPr/>
        <p:txBody>
          <a:bodyPr/>
          <a:lstStyle/>
          <a:p>
            <a:fld id="{2E8848B6-D328-4CC8-99C6-D5689AE94DF4}" type="slidenum">
              <a:rPr lang="en-US" smtClean="0"/>
              <a:t>7</a:t>
            </a:fld>
            <a:endParaRPr lang="en-US" dirty="0"/>
          </a:p>
        </p:txBody>
      </p:sp>
      <p:pic>
        <p:nvPicPr>
          <p:cNvPr id="5" name="Picture 4">
            <a:extLst>
              <a:ext uri="{FF2B5EF4-FFF2-40B4-BE49-F238E27FC236}">
                <a16:creationId xmlns:a16="http://schemas.microsoft.com/office/drawing/2014/main" id="{820F06ED-51E7-37EB-3F0B-C0FA667FEDAA}"/>
              </a:ext>
            </a:extLst>
          </p:cNvPr>
          <p:cNvPicPr>
            <a:picLocks noChangeAspect="1"/>
          </p:cNvPicPr>
          <p:nvPr/>
        </p:nvPicPr>
        <p:blipFill>
          <a:blip r:embed="rId2"/>
          <a:stretch>
            <a:fillRect/>
          </a:stretch>
        </p:blipFill>
        <p:spPr>
          <a:xfrm>
            <a:off x="235464" y="136522"/>
            <a:ext cx="11651736" cy="6160344"/>
          </a:xfrm>
          <a:prstGeom prst="rect">
            <a:avLst/>
          </a:prstGeom>
        </p:spPr>
      </p:pic>
    </p:spTree>
    <p:extLst>
      <p:ext uri="{BB962C8B-B14F-4D97-AF65-F5344CB8AC3E}">
        <p14:creationId xmlns:p14="http://schemas.microsoft.com/office/powerpoint/2010/main" val="624559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8</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Import Data and reshape if necessary</a:t>
            </a:r>
          </a:p>
        </p:txBody>
      </p:sp>
      <p:sp>
        <p:nvSpPr>
          <p:cNvPr id="10" name="Rectangle 9">
            <a:extLst>
              <a:ext uri="{FF2B5EF4-FFF2-40B4-BE49-F238E27FC236}">
                <a16:creationId xmlns:a16="http://schemas.microsoft.com/office/drawing/2014/main" id="{5FB276B7-1A83-431A-A502-77D6501F9D02}"/>
              </a:ext>
            </a:extLst>
          </p:cNvPr>
          <p:cNvSpPr/>
          <p:nvPr/>
        </p:nvSpPr>
        <p:spPr>
          <a:xfrm>
            <a:off x="838200" y="4097097"/>
            <a:ext cx="10668000" cy="48936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If using data from a csv, here is where you would import it to a </a:t>
            </a:r>
            <a:r>
              <a:rPr lang="en-US" sz="2400" dirty="0" err="1">
                <a:solidFill>
                  <a:schemeClr val="tx1">
                    <a:lumMod val="75000"/>
                    <a:lumOff val="25000"/>
                  </a:schemeClr>
                </a:solidFill>
              </a:rPr>
              <a:t>DataFrame</a:t>
            </a:r>
            <a:endParaRPr lang="en-US" sz="3200" dirty="0">
              <a:solidFill>
                <a:schemeClr val="tx1">
                  <a:lumMod val="75000"/>
                  <a:lumOff val="25000"/>
                </a:schemeClr>
              </a:solidFill>
            </a:endParaRPr>
          </a:p>
        </p:txBody>
      </p:sp>
      <p:pic>
        <p:nvPicPr>
          <p:cNvPr id="14" name="Picture 13">
            <a:extLst>
              <a:ext uri="{FF2B5EF4-FFF2-40B4-BE49-F238E27FC236}">
                <a16:creationId xmlns:a16="http://schemas.microsoft.com/office/drawing/2014/main" id="{D281359E-3C76-48D8-8782-45C9ECE2FC97}"/>
              </a:ext>
            </a:extLst>
          </p:cNvPr>
          <p:cNvPicPr>
            <a:picLocks noChangeAspect="1"/>
          </p:cNvPicPr>
          <p:nvPr/>
        </p:nvPicPr>
        <p:blipFill>
          <a:blip r:embed="rId3"/>
          <a:stretch>
            <a:fillRect/>
          </a:stretch>
        </p:blipFill>
        <p:spPr>
          <a:xfrm>
            <a:off x="443193" y="1849905"/>
            <a:ext cx="11458014" cy="1883896"/>
          </a:xfrm>
          <a:prstGeom prst="rect">
            <a:avLst/>
          </a:prstGeom>
        </p:spPr>
      </p:pic>
      <p:sp>
        <p:nvSpPr>
          <p:cNvPr id="7" name="Footer Placeholder 1">
            <a:extLst>
              <a:ext uri="{FF2B5EF4-FFF2-40B4-BE49-F238E27FC236}">
                <a16:creationId xmlns:a16="http://schemas.microsoft.com/office/drawing/2014/main" id="{091A88BE-B087-47C7-9697-F4C8384AE19B}"/>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289020314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09C851-1F5F-384F-80F6-2431688E0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100" y="2179666"/>
            <a:ext cx="10541000" cy="647700"/>
          </a:xfrm>
          <a:prstGeom prst="rect">
            <a:avLst/>
          </a:prstGeom>
        </p:spPr>
      </p:pic>
      <p:sp>
        <p:nvSpPr>
          <p:cNvPr id="3" name="Slide Number Placeholder 2"/>
          <p:cNvSpPr>
            <a:spLocks noGrp="1"/>
          </p:cNvSpPr>
          <p:nvPr>
            <p:ph type="sldNum" sz="quarter" idx="12"/>
          </p:nvPr>
        </p:nvSpPr>
        <p:spPr/>
        <p:txBody>
          <a:bodyPr/>
          <a:lstStyle/>
          <a:p>
            <a:fld id="{2E8848B6-D328-4CC8-99C6-D5689AE94DF4}" type="slidenum">
              <a:rPr lang="en-US" smtClean="0"/>
              <a:t>9</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Split Data between Training and Testing sets</a:t>
            </a:r>
          </a:p>
        </p:txBody>
      </p:sp>
      <p:sp>
        <p:nvSpPr>
          <p:cNvPr id="9" name="TextBox 8">
            <a:extLst>
              <a:ext uri="{FF2B5EF4-FFF2-40B4-BE49-F238E27FC236}">
                <a16:creationId xmlns:a16="http://schemas.microsoft.com/office/drawing/2014/main" id="{DDFBC3F6-43A4-4537-9141-2B1C2AAF828A}"/>
              </a:ext>
            </a:extLst>
          </p:cNvPr>
          <p:cNvSpPr txBox="1"/>
          <p:nvPr/>
        </p:nvSpPr>
        <p:spPr>
          <a:xfrm>
            <a:off x="152400" y="3275598"/>
            <a:ext cx="1676400" cy="338554"/>
          </a:xfrm>
          <a:prstGeom prst="rect">
            <a:avLst/>
          </a:prstGeom>
          <a:noFill/>
        </p:spPr>
        <p:txBody>
          <a:bodyPr wrap="square" rtlCol="0">
            <a:spAutoFit/>
          </a:bodyPr>
          <a:lstStyle/>
          <a:p>
            <a:r>
              <a:rPr lang="en-US" sz="1600" dirty="0">
                <a:solidFill>
                  <a:srgbClr val="FF0000"/>
                </a:solidFill>
              </a:rPr>
              <a:t>70% of x data</a:t>
            </a:r>
          </a:p>
        </p:txBody>
      </p:sp>
      <p:cxnSp>
        <p:nvCxnSpPr>
          <p:cNvPr id="11" name="Straight Arrow Connector 10">
            <a:extLst>
              <a:ext uri="{FF2B5EF4-FFF2-40B4-BE49-F238E27FC236}">
                <a16:creationId xmlns:a16="http://schemas.microsoft.com/office/drawing/2014/main" id="{73F26723-C97E-426E-8121-D2C08BB075F9}"/>
              </a:ext>
            </a:extLst>
          </p:cNvPr>
          <p:cNvCxnSpPr>
            <a:cxnSpLocks/>
          </p:cNvCxnSpPr>
          <p:nvPr/>
        </p:nvCxnSpPr>
        <p:spPr>
          <a:xfrm flipV="1">
            <a:off x="1066800" y="2835275"/>
            <a:ext cx="0" cy="4370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9F3CCC4-914F-4FA8-B89E-E6CF757F4BB4}"/>
              </a:ext>
            </a:extLst>
          </p:cNvPr>
          <p:cNvSpPr txBox="1"/>
          <p:nvPr/>
        </p:nvSpPr>
        <p:spPr>
          <a:xfrm>
            <a:off x="2209800" y="3284065"/>
            <a:ext cx="1981200" cy="584775"/>
          </a:xfrm>
          <a:prstGeom prst="rect">
            <a:avLst/>
          </a:prstGeom>
          <a:noFill/>
        </p:spPr>
        <p:txBody>
          <a:bodyPr wrap="square" rtlCol="0">
            <a:spAutoFit/>
          </a:bodyPr>
          <a:lstStyle/>
          <a:p>
            <a:pPr algn="ctr"/>
            <a:r>
              <a:rPr lang="en-US" sz="1600" dirty="0">
                <a:solidFill>
                  <a:srgbClr val="FF0000"/>
                </a:solidFill>
              </a:rPr>
              <a:t>70% of corresponding y data</a:t>
            </a:r>
          </a:p>
        </p:txBody>
      </p:sp>
      <p:cxnSp>
        <p:nvCxnSpPr>
          <p:cNvPr id="13" name="Straight Arrow Connector 12">
            <a:extLst>
              <a:ext uri="{FF2B5EF4-FFF2-40B4-BE49-F238E27FC236}">
                <a16:creationId xmlns:a16="http://schemas.microsoft.com/office/drawing/2014/main" id="{CB5B3D05-9E47-4B93-BE0A-E0FD1AFCD822}"/>
              </a:ext>
            </a:extLst>
          </p:cNvPr>
          <p:cNvCxnSpPr>
            <a:cxnSpLocks/>
          </p:cNvCxnSpPr>
          <p:nvPr/>
        </p:nvCxnSpPr>
        <p:spPr>
          <a:xfrm flipV="1">
            <a:off x="3200400" y="2843742"/>
            <a:ext cx="0" cy="4370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CAB9710-26C4-41A6-A6B0-1E37C2E14407}"/>
              </a:ext>
            </a:extLst>
          </p:cNvPr>
          <p:cNvSpPr txBox="1"/>
          <p:nvPr/>
        </p:nvSpPr>
        <p:spPr>
          <a:xfrm>
            <a:off x="1299633" y="3853449"/>
            <a:ext cx="1676400" cy="338554"/>
          </a:xfrm>
          <a:prstGeom prst="rect">
            <a:avLst/>
          </a:prstGeom>
          <a:noFill/>
        </p:spPr>
        <p:txBody>
          <a:bodyPr wrap="square" rtlCol="0">
            <a:spAutoFit/>
          </a:bodyPr>
          <a:lstStyle/>
          <a:p>
            <a:r>
              <a:rPr lang="en-US" sz="1600" dirty="0">
                <a:solidFill>
                  <a:srgbClr val="FF0000"/>
                </a:solidFill>
              </a:rPr>
              <a:t>30% of x data</a:t>
            </a:r>
          </a:p>
        </p:txBody>
      </p:sp>
      <p:cxnSp>
        <p:nvCxnSpPr>
          <p:cNvPr id="16" name="Straight Arrow Connector 15">
            <a:extLst>
              <a:ext uri="{FF2B5EF4-FFF2-40B4-BE49-F238E27FC236}">
                <a16:creationId xmlns:a16="http://schemas.microsoft.com/office/drawing/2014/main" id="{327A9374-D1B6-4A48-A24E-EAC535F72721}"/>
              </a:ext>
            </a:extLst>
          </p:cNvPr>
          <p:cNvCxnSpPr>
            <a:cxnSpLocks/>
            <a:stCxn id="15" idx="0"/>
          </p:cNvCxnSpPr>
          <p:nvPr/>
        </p:nvCxnSpPr>
        <p:spPr>
          <a:xfrm flipV="1">
            <a:off x="2137833" y="2835275"/>
            <a:ext cx="0" cy="10181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8A3DE3C-2B87-41A7-8FD2-3304AB90EB82}"/>
              </a:ext>
            </a:extLst>
          </p:cNvPr>
          <p:cNvCxnSpPr>
            <a:cxnSpLocks/>
          </p:cNvCxnSpPr>
          <p:nvPr/>
        </p:nvCxnSpPr>
        <p:spPr>
          <a:xfrm flipV="1">
            <a:off x="4191000" y="2858558"/>
            <a:ext cx="0" cy="10181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3B713D9-AEDB-4FD7-A2A8-E8EBE744D62A}"/>
              </a:ext>
            </a:extLst>
          </p:cNvPr>
          <p:cNvSpPr txBox="1"/>
          <p:nvPr/>
        </p:nvSpPr>
        <p:spPr>
          <a:xfrm>
            <a:off x="3119967" y="3853449"/>
            <a:ext cx="1981200" cy="584775"/>
          </a:xfrm>
          <a:prstGeom prst="rect">
            <a:avLst/>
          </a:prstGeom>
          <a:noFill/>
        </p:spPr>
        <p:txBody>
          <a:bodyPr wrap="square" rtlCol="0">
            <a:spAutoFit/>
          </a:bodyPr>
          <a:lstStyle/>
          <a:p>
            <a:pPr algn="ctr"/>
            <a:r>
              <a:rPr lang="en-US" sz="1600" dirty="0">
                <a:solidFill>
                  <a:srgbClr val="FF0000"/>
                </a:solidFill>
              </a:rPr>
              <a:t>30% of corresponding y data</a:t>
            </a:r>
          </a:p>
        </p:txBody>
      </p:sp>
      <p:sp>
        <p:nvSpPr>
          <p:cNvPr id="21" name="TextBox 20">
            <a:extLst>
              <a:ext uri="{FF2B5EF4-FFF2-40B4-BE49-F238E27FC236}">
                <a16:creationId xmlns:a16="http://schemas.microsoft.com/office/drawing/2014/main" id="{6D4498E3-08DC-4995-8ADC-9AAB7E9A7EEE}"/>
              </a:ext>
            </a:extLst>
          </p:cNvPr>
          <p:cNvSpPr txBox="1"/>
          <p:nvPr/>
        </p:nvSpPr>
        <p:spPr>
          <a:xfrm>
            <a:off x="5943600" y="3242846"/>
            <a:ext cx="1676400" cy="338554"/>
          </a:xfrm>
          <a:prstGeom prst="rect">
            <a:avLst/>
          </a:prstGeom>
          <a:noFill/>
        </p:spPr>
        <p:txBody>
          <a:bodyPr wrap="square" rtlCol="0">
            <a:spAutoFit/>
          </a:bodyPr>
          <a:lstStyle/>
          <a:p>
            <a:r>
              <a:rPr lang="en-US" sz="1600" dirty="0">
                <a:solidFill>
                  <a:srgbClr val="FF0000"/>
                </a:solidFill>
              </a:rPr>
              <a:t>Full x dataset</a:t>
            </a:r>
          </a:p>
        </p:txBody>
      </p:sp>
      <p:cxnSp>
        <p:nvCxnSpPr>
          <p:cNvPr id="22" name="Straight Arrow Connector 21">
            <a:extLst>
              <a:ext uri="{FF2B5EF4-FFF2-40B4-BE49-F238E27FC236}">
                <a16:creationId xmlns:a16="http://schemas.microsoft.com/office/drawing/2014/main" id="{85AB8B29-CCFF-45C2-83FA-773B19AEB060}"/>
              </a:ext>
            </a:extLst>
          </p:cNvPr>
          <p:cNvCxnSpPr>
            <a:cxnSpLocks/>
          </p:cNvCxnSpPr>
          <p:nvPr/>
        </p:nvCxnSpPr>
        <p:spPr>
          <a:xfrm flipV="1">
            <a:off x="6858000" y="2802523"/>
            <a:ext cx="0" cy="4370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2D19DA1-3AE0-4BE6-A0F9-55882A7A02D5}"/>
              </a:ext>
            </a:extLst>
          </p:cNvPr>
          <p:cNvSpPr txBox="1"/>
          <p:nvPr/>
        </p:nvSpPr>
        <p:spPr>
          <a:xfrm>
            <a:off x="6477000" y="3614152"/>
            <a:ext cx="1676400" cy="338554"/>
          </a:xfrm>
          <a:prstGeom prst="rect">
            <a:avLst/>
          </a:prstGeom>
          <a:noFill/>
        </p:spPr>
        <p:txBody>
          <a:bodyPr wrap="square" rtlCol="0">
            <a:spAutoFit/>
          </a:bodyPr>
          <a:lstStyle/>
          <a:p>
            <a:r>
              <a:rPr lang="en-US" sz="1600" dirty="0">
                <a:solidFill>
                  <a:srgbClr val="FF0000"/>
                </a:solidFill>
              </a:rPr>
              <a:t>Full y dataset</a:t>
            </a:r>
          </a:p>
        </p:txBody>
      </p:sp>
      <p:cxnSp>
        <p:nvCxnSpPr>
          <p:cNvPr id="24" name="Straight Arrow Connector 23">
            <a:extLst>
              <a:ext uri="{FF2B5EF4-FFF2-40B4-BE49-F238E27FC236}">
                <a16:creationId xmlns:a16="http://schemas.microsoft.com/office/drawing/2014/main" id="{B6D452AA-16BD-40C6-9188-C79BC1C2068C}"/>
              </a:ext>
            </a:extLst>
          </p:cNvPr>
          <p:cNvCxnSpPr>
            <a:cxnSpLocks/>
          </p:cNvCxnSpPr>
          <p:nvPr/>
        </p:nvCxnSpPr>
        <p:spPr>
          <a:xfrm flipH="1" flipV="1">
            <a:off x="7239000" y="2858558"/>
            <a:ext cx="76200" cy="75559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D50452A-00F3-4967-8D4C-B50C0C88384C}"/>
              </a:ext>
            </a:extLst>
          </p:cNvPr>
          <p:cNvSpPr txBox="1"/>
          <p:nvPr/>
        </p:nvSpPr>
        <p:spPr>
          <a:xfrm>
            <a:off x="8104633" y="3538178"/>
            <a:ext cx="1676400" cy="830997"/>
          </a:xfrm>
          <a:prstGeom prst="rect">
            <a:avLst/>
          </a:prstGeom>
          <a:noFill/>
        </p:spPr>
        <p:txBody>
          <a:bodyPr wrap="square" rtlCol="0">
            <a:spAutoFit/>
          </a:bodyPr>
          <a:lstStyle/>
          <a:p>
            <a:r>
              <a:rPr lang="en-US" sz="1600" dirty="0">
                <a:solidFill>
                  <a:srgbClr val="FF0000"/>
                </a:solidFill>
              </a:rPr>
              <a:t>Proportion of data to be used in testing set</a:t>
            </a:r>
          </a:p>
        </p:txBody>
      </p:sp>
      <p:cxnSp>
        <p:nvCxnSpPr>
          <p:cNvPr id="27" name="Straight Arrow Connector 26">
            <a:extLst>
              <a:ext uri="{FF2B5EF4-FFF2-40B4-BE49-F238E27FC236}">
                <a16:creationId xmlns:a16="http://schemas.microsoft.com/office/drawing/2014/main" id="{23D067C1-8B69-4E38-8211-31C828047EF1}"/>
              </a:ext>
            </a:extLst>
          </p:cNvPr>
          <p:cNvCxnSpPr>
            <a:cxnSpLocks/>
          </p:cNvCxnSpPr>
          <p:nvPr/>
        </p:nvCxnSpPr>
        <p:spPr>
          <a:xfrm flipH="1" flipV="1">
            <a:off x="8866633" y="2782584"/>
            <a:ext cx="76200" cy="75559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61AE03F-39CE-4C9D-B5FF-6D1D4F090445}"/>
              </a:ext>
            </a:extLst>
          </p:cNvPr>
          <p:cNvSpPr txBox="1"/>
          <p:nvPr/>
        </p:nvSpPr>
        <p:spPr>
          <a:xfrm>
            <a:off x="6733033" y="810060"/>
            <a:ext cx="4267200" cy="1077218"/>
          </a:xfrm>
          <a:prstGeom prst="rect">
            <a:avLst/>
          </a:prstGeom>
          <a:noFill/>
        </p:spPr>
        <p:txBody>
          <a:bodyPr wrap="square" rtlCol="0">
            <a:spAutoFit/>
          </a:bodyPr>
          <a:lstStyle/>
          <a:p>
            <a:r>
              <a:rPr lang="en-US" sz="1600" dirty="0">
                <a:solidFill>
                  <a:srgbClr val="FF0000"/>
                </a:solidFill>
              </a:rPr>
              <a:t>Specify a random seed for reproducibility (ensures same split every time). Note: this does not always need to be done. Only when it makes sense in your context.</a:t>
            </a:r>
          </a:p>
        </p:txBody>
      </p:sp>
      <p:cxnSp>
        <p:nvCxnSpPr>
          <p:cNvPr id="29" name="Straight Arrow Connector 28">
            <a:extLst>
              <a:ext uri="{FF2B5EF4-FFF2-40B4-BE49-F238E27FC236}">
                <a16:creationId xmlns:a16="http://schemas.microsoft.com/office/drawing/2014/main" id="{5ADEF234-BDD2-4984-B624-E6895C67F212}"/>
              </a:ext>
            </a:extLst>
          </p:cNvPr>
          <p:cNvCxnSpPr>
            <a:cxnSpLocks/>
          </p:cNvCxnSpPr>
          <p:nvPr/>
        </p:nvCxnSpPr>
        <p:spPr>
          <a:xfrm>
            <a:off x="9019033" y="1739712"/>
            <a:ext cx="963167" cy="722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Footer Placeholder 1">
            <a:extLst>
              <a:ext uri="{FF2B5EF4-FFF2-40B4-BE49-F238E27FC236}">
                <a16:creationId xmlns:a16="http://schemas.microsoft.com/office/drawing/2014/main" id="{DC5E1A93-4506-41DC-B799-67FAB321E821}"/>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307329480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2255B28A-36D3-8D40-97F5-4CE64C312C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100" y="2179666"/>
            <a:ext cx="10541000" cy="647700"/>
          </a:xfrm>
          <a:prstGeom prst="rect">
            <a:avLst/>
          </a:prstGeom>
        </p:spPr>
      </p:pic>
      <p:sp>
        <p:nvSpPr>
          <p:cNvPr id="3" name="Slide Number Placeholder 2"/>
          <p:cNvSpPr>
            <a:spLocks noGrp="1"/>
          </p:cNvSpPr>
          <p:nvPr>
            <p:ph type="sldNum" sz="quarter" idx="12"/>
          </p:nvPr>
        </p:nvSpPr>
        <p:spPr/>
        <p:txBody>
          <a:bodyPr/>
          <a:lstStyle/>
          <a:p>
            <a:fld id="{2E8848B6-D328-4CC8-99C6-D5689AE94DF4}" type="slidenum">
              <a:rPr lang="en-US" smtClean="0"/>
              <a:t>10</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Split Data between Training and Testing sets</a:t>
            </a:r>
          </a:p>
        </p:txBody>
      </p:sp>
      <p:sp>
        <p:nvSpPr>
          <p:cNvPr id="9" name="TextBox 8">
            <a:extLst>
              <a:ext uri="{FF2B5EF4-FFF2-40B4-BE49-F238E27FC236}">
                <a16:creationId xmlns:a16="http://schemas.microsoft.com/office/drawing/2014/main" id="{DDFBC3F6-43A4-4537-9141-2B1C2AAF828A}"/>
              </a:ext>
            </a:extLst>
          </p:cNvPr>
          <p:cNvSpPr txBox="1"/>
          <p:nvPr/>
        </p:nvSpPr>
        <p:spPr>
          <a:xfrm>
            <a:off x="152400" y="3275598"/>
            <a:ext cx="1676400" cy="338554"/>
          </a:xfrm>
          <a:prstGeom prst="rect">
            <a:avLst/>
          </a:prstGeom>
          <a:noFill/>
        </p:spPr>
        <p:txBody>
          <a:bodyPr wrap="square" rtlCol="0">
            <a:spAutoFit/>
          </a:bodyPr>
          <a:lstStyle/>
          <a:p>
            <a:r>
              <a:rPr lang="en-US" sz="1600" dirty="0">
                <a:solidFill>
                  <a:srgbClr val="FF0000"/>
                </a:solidFill>
              </a:rPr>
              <a:t>70% of x data</a:t>
            </a:r>
          </a:p>
        </p:txBody>
      </p:sp>
      <p:cxnSp>
        <p:nvCxnSpPr>
          <p:cNvPr id="11" name="Straight Arrow Connector 10">
            <a:extLst>
              <a:ext uri="{FF2B5EF4-FFF2-40B4-BE49-F238E27FC236}">
                <a16:creationId xmlns:a16="http://schemas.microsoft.com/office/drawing/2014/main" id="{73F26723-C97E-426E-8121-D2C08BB075F9}"/>
              </a:ext>
            </a:extLst>
          </p:cNvPr>
          <p:cNvCxnSpPr>
            <a:cxnSpLocks/>
          </p:cNvCxnSpPr>
          <p:nvPr/>
        </p:nvCxnSpPr>
        <p:spPr>
          <a:xfrm flipV="1">
            <a:off x="1066800" y="2835275"/>
            <a:ext cx="0" cy="4370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9F3CCC4-914F-4FA8-B89E-E6CF757F4BB4}"/>
              </a:ext>
            </a:extLst>
          </p:cNvPr>
          <p:cNvSpPr txBox="1"/>
          <p:nvPr/>
        </p:nvSpPr>
        <p:spPr>
          <a:xfrm>
            <a:off x="2209800" y="3284065"/>
            <a:ext cx="1981200" cy="584775"/>
          </a:xfrm>
          <a:prstGeom prst="rect">
            <a:avLst/>
          </a:prstGeom>
          <a:noFill/>
        </p:spPr>
        <p:txBody>
          <a:bodyPr wrap="square" rtlCol="0">
            <a:spAutoFit/>
          </a:bodyPr>
          <a:lstStyle/>
          <a:p>
            <a:pPr algn="ctr"/>
            <a:r>
              <a:rPr lang="en-US" sz="1600" dirty="0">
                <a:solidFill>
                  <a:srgbClr val="FF0000"/>
                </a:solidFill>
              </a:rPr>
              <a:t>70% of corresponding y data</a:t>
            </a:r>
          </a:p>
        </p:txBody>
      </p:sp>
      <p:cxnSp>
        <p:nvCxnSpPr>
          <p:cNvPr id="13" name="Straight Arrow Connector 12">
            <a:extLst>
              <a:ext uri="{FF2B5EF4-FFF2-40B4-BE49-F238E27FC236}">
                <a16:creationId xmlns:a16="http://schemas.microsoft.com/office/drawing/2014/main" id="{CB5B3D05-9E47-4B93-BE0A-E0FD1AFCD822}"/>
              </a:ext>
            </a:extLst>
          </p:cNvPr>
          <p:cNvCxnSpPr>
            <a:cxnSpLocks/>
          </p:cNvCxnSpPr>
          <p:nvPr/>
        </p:nvCxnSpPr>
        <p:spPr>
          <a:xfrm flipV="1">
            <a:off x="3200400" y="2843742"/>
            <a:ext cx="0" cy="4370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CAB9710-26C4-41A6-A6B0-1E37C2E14407}"/>
              </a:ext>
            </a:extLst>
          </p:cNvPr>
          <p:cNvSpPr txBox="1"/>
          <p:nvPr/>
        </p:nvSpPr>
        <p:spPr>
          <a:xfrm>
            <a:off x="1299633" y="3853449"/>
            <a:ext cx="1676400" cy="338554"/>
          </a:xfrm>
          <a:prstGeom prst="rect">
            <a:avLst/>
          </a:prstGeom>
          <a:noFill/>
        </p:spPr>
        <p:txBody>
          <a:bodyPr wrap="square" rtlCol="0">
            <a:spAutoFit/>
          </a:bodyPr>
          <a:lstStyle/>
          <a:p>
            <a:r>
              <a:rPr lang="en-US" sz="1600" dirty="0">
                <a:solidFill>
                  <a:srgbClr val="FF0000"/>
                </a:solidFill>
              </a:rPr>
              <a:t>30% of x data</a:t>
            </a:r>
          </a:p>
        </p:txBody>
      </p:sp>
      <p:cxnSp>
        <p:nvCxnSpPr>
          <p:cNvPr id="16" name="Straight Arrow Connector 15">
            <a:extLst>
              <a:ext uri="{FF2B5EF4-FFF2-40B4-BE49-F238E27FC236}">
                <a16:creationId xmlns:a16="http://schemas.microsoft.com/office/drawing/2014/main" id="{327A9374-D1B6-4A48-A24E-EAC535F72721}"/>
              </a:ext>
            </a:extLst>
          </p:cNvPr>
          <p:cNvCxnSpPr>
            <a:cxnSpLocks/>
            <a:stCxn id="15" idx="0"/>
          </p:cNvCxnSpPr>
          <p:nvPr/>
        </p:nvCxnSpPr>
        <p:spPr>
          <a:xfrm flipV="1">
            <a:off x="2137833" y="2835275"/>
            <a:ext cx="0" cy="10181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8A3DE3C-2B87-41A7-8FD2-3304AB90EB82}"/>
              </a:ext>
            </a:extLst>
          </p:cNvPr>
          <p:cNvCxnSpPr>
            <a:cxnSpLocks/>
          </p:cNvCxnSpPr>
          <p:nvPr/>
        </p:nvCxnSpPr>
        <p:spPr>
          <a:xfrm flipV="1">
            <a:off x="4191000" y="2858558"/>
            <a:ext cx="0" cy="101817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3B713D9-AEDB-4FD7-A2A8-E8EBE744D62A}"/>
              </a:ext>
            </a:extLst>
          </p:cNvPr>
          <p:cNvSpPr txBox="1"/>
          <p:nvPr/>
        </p:nvSpPr>
        <p:spPr>
          <a:xfrm>
            <a:off x="3119967" y="3853449"/>
            <a:ext cx="1981200" cy="584775"/>
          </a:xfrm>
          <a:prstGeom prst="rect">
            <a:avLst/>
          </a:prstGeom>
          <a:noFill/>
        </p:spPr>
        <p:txBody>
          <a:bodyPr wrap="square" rtlCol="0">
            <a:spAutoFit/>
          </a:bodyPr>
          <a:lstStyle/>
          <a:p>
            <a:pPr algn="ctr"/>
            <a:r>
              <a:rPr lang="en-US" sz="1600" dirty="0">
                <a:solidFill>
                  <a:srgbClr val="FF0000"/>
                </a:solidFill>
              </a:rPr>
              <a:t>30% of corresponding y data</a:t>
            </a:r>
          </a:p>
        </p:txBody>
      </p:sp>
      <p:sp>
        <p:nvSpPr>
          <p:cNvPr id="21" name="TextBox 20">
            <a:extLst>
              <a:ext uri="{FF2B5EF4-FFF2-40B4-BE49-F238E27FC236}">
                <a16:creationId xmlns:a16="http://schemas.microsoft.com/office/drawing/2014/main" id="{6D4498E3-08DC-4995-8ADC-9AAB7E9A7EEE}"/>
              </a:ext>
            </a:extLst>
          </p:cNvPr>
          <p:cNvSpPr txBox="1"/>
          <p:nvPr/>
        </p:nvSpPr>
        <p:spPr>
          <a:xfrm>
            <a:off x="5943600" y="3242846"/>
            <a:ext cx="1676400" cy="338554"/>
          </a:xfrm>
          <a:prstGeom prst="rect">
            <a:avLst/>
          </a:prstGeom>
          <a:noFill/>
        </p:spPr>
        <p:txBody>
          <a:bodyPr wrap="square" rtlCol="0">
            <a:spAutoFit/>
          </a:bodyPr>
          <a:lstStyle/>
          <a:p>
            <a:r>
              <a:rPr lang="en-US" sz="1600" dirty="0">
                <a:solidFill>
                  <a:srgbClr val="FF0000"/>
                </a:solidFill>
              </a:rPr>
              <a:t>Full x dataset</a:t>
            </a:r>
          </a:p>
        </p:txBody>
      </p:sp>
      <p:cxnSp>
        <p:nvCxnSpPr>
          <p:cNvPr id="22" name="Straight Arrow Connector 21">
            <a:extLst>
              <a:ext uri="{FF2B5EF4-FFF2-40B4-BE49-F238E27FC236}">
                <a16:creationId xmlns:a16="http://schemas.microsoft.com/office/drawing/2014/main" id="{85AB8B29-CCFF-45C2-83FA-773B19AEB060}"/>
              </a:ext>
            </a:extLst>
          </p:cNvPr>
          <p:cNvCxnSpPr>
            <a:cxnSpLocks/>
          </p:cNvCxnSpPr>
          <p:nvPr/>
        </p:nvCxnSpPr>
        <p:spPr>
          <a:xfrm flipV="1">
            <a:off x="6858000" y="2802523"/>
            <a:ext cx="0" cy="4370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2D19DA1-3AE0-4BE6-A0F9-55882A7A02D5}"/>
              </a:ext>
            </a:extLst>
          </p:cNvPr>
          <p:cNvSpPr txBox="1"/>
          <p:nvPr/>
        </p:nvSpPr>
        <p:spPr>
          <a:xfrm>
            <a:off x="6477000" y="3614152"/>
            <a:ext cx="1676400" cy="338554"/>
          </a:xfrm>
          <a:prstGeom prst="rect">
            <a:avLst/>
          </a:prstGeom>
          <a:noFill/>
        </p:spPr>
        <p:txBody>
          <a:bodyPr wrap="square" rtlCol="0">
            <a:spAutoFit/>
          </a:bodyPr>
          <a:lstStyle/>
          <a:p>
            <a:r>
              <a:rPr lang="en-US" sz="1600" dirty="0">
                <a:solidFill>
                  <a:srgbClr val="FF0000"/>
                </a:solidFill>
              </a:rPr>
              <a:t>Full y dataset</a:t>
            </a:r>
          </a:p>
        </p:txBody>
      </p:sp>
      <p:cxnSp>
        <p:nvCxnSpPr>
          <p:cNvPr id="24" name="Straight Arrow Connector 23">
            <a:extLst>
              <a:ext uri="{FF2B5EF4-FFF2-40B4-BE49-F238E27FC236}">
                <a16:creationId xmlns:a16="http://schemas.microsoft.com/office/drawing/2014/main" id="{B6D452AA-16BD-40C6-9188-C79BC1C2068C}"/>
              </a:ext>
            </a:extLst>
          </p:cNvPr>
          <p:cNvCxnSpPr>
            <a:cxnSpLocks/>
          </p:cNvCxnSpPr>
          <p:nvPr/>
        </p:nvCxnSpPr>
        <p:spPr>
          <a:xfrm flipH="1" flipV="1">
            <a:off x="7239000" y="2858558"/>
            <a:ext cx="76200" cy="75559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D50452A-00F3-4967-8D4C-B50C0C88384C}"/>
              </a:ext>
            </a:extLst>
          </p:cNvPr>
          <p:cNvSpPr txBox="1"/>
          <p:nvPr/>
        </p:nvSpPr>
        <p:spPr>
          <a:xfrm>
            <a:off x="8104633" y="3538178"/>
            <a:ext cx="1676400" cy="830997"/>
          </a:xfrm>
          <a:prstGeom prst="rect">
            <a:avLst/>
          </a:prstGeom>
          <a:noFill/>
        </p:spPr>
        <p:txBody>
          <a:bodyPr wrap="square" rtlCol="0">
            <a:spAutoFit/>
          </a:bodyPr>
          <a:lstStyle/>
          <a:p>
            <a:r>
              <a:rPr lang="en-US" sz="1600" dirty="0">
                <a:solidFill>
                  <a:srgbClr val="FF0000"/>
                </a:solidFill>
              </a:rPr>
              <a:t>Proportion of data to be used in testing set</a:t>
            </a:r>
          </a:p>
        </p:txBody>
      </p:sp>
      <p:cxnSp>
        <p:nvCxnSpPr>
          <p:cNvPr id="27" name="Straight Arrow Connector 26">
            <a:extLst>
              <a:ext uri="{FF2B5EF4-FFF2-40B4-BE49-F238E27FC236}">
                <a16:creationId xmlns:a16="http://schemas.microsoft.com/office/drawing/2014/main" id="{23D067C1-8B69-4E38-8211-31C828047EF1}"/>
              </a:ext>
            </a:extLst>
          </p:cNvPr>
          <p:cNvCxnSpPr>
            <a:cxnSpLocks/>
          </p:cNvCxnSpPr>
          <p:nvPr/>
        </p:nvCxnSpPr>
        <p:spPr>
          <a:xfrm flipH="1" flipV="1">
            <a:off x="8866633" y="2782584"/>
            <a:ext cx="76200" cy="75559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ADEF234-BDD2-4984-B624-E6895C67F212}"/>
              </a:ext>
            </a:extLst>
          </p:cNvPr>
          <p:cNvCxnSpPr>
            <a:cxnSpLocks/>
          </p:cNvCxnSpPr>
          <p:nvPr/>
        </p:nvCxnSpPr>
        <p:spPr>
          <a:xfrm>
            <a:off x="9019033" y="1739712"/>
            <a:ext cx="963167" cy="722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5C003F9-5C75-47A2-9DFF-72094D068E8B}"/>
              </a:ext>
            </a:extLst>
          </p:cNvPr>
          <p:cNvPicPr>
            <a:picLocks noChangeAspect="1"/>
          </p:cNvPicPr>
          <p:nvPr/>
        </p:nvPicPr>
        <p:blipFill>
          <a:blip r:embed="rId4"/>
          <a:stretch>
            <a:fillRect/>
          </a:stretch>
        </p:blipFill>
        <p:spPr>
          <a:xfrm>
            <a:off x="2406230" y="4899140"/>
            <a:ext cx="7074740" cy="1403350"/>
          </a:xfrm>
          <a:prstGeom prst="rect">
            <a:avLst/>
          </a:prstGeom>
        </p:spPr>
      </p:pic>
      <p:sp>
        <p:nvSpPr>
          <p:cNvPr id="25" name="TextBox 24">
            <a:extLst>
              <a:ext uri="{FF2B5EF4-FFF2-40B4-BE49-F238E27FC236}">
                <a16:creationId xmlns:a16="http://schemas.microsoft.com/office/drawing/2014/main" id="{5BD15D98-FC00-4D48-8CA9-BE766E843761}"/>
              </a:ext>
            </a:extLst>
          </p:cNvPr>
          <p:cNvSpPr txBox="1"/>
          <p:nvPr/>
        </p:nvSpPr>
        <p:spPr>
          <a:xfrm>
            <a:off x="6733033" y="810060"/>
            <a:ext cx="4267200" cy="1077218"/>
          </a:xfrm>
          <a:prstGeom prst="rect">
            <a:avLst/>
          </a:prstGeom>
          <a:noFill/>
        </p:spPr>
        <p:txBody>
          <a:bodyPr wrap="square" rtlCol="0">
            <a:spAutoFit/>
          </a:bodyPr>
          <a:lstStyle/>
          <a:p>
            <a:r>
              <a:rPr lang="en-US" sz="1600" dirty="0">
                <a:solidFill>
                  <a:srgbClr val="FF0000"/>
                </a:solidFill>
              </a:rPr>
              <a:t>Specify a random seed for reproducibility (ensures same split every time). Note: this does not always need to be done. Only when it makes sense in your context.</a:t>
            </a:r>
          </a:p>
        </p:txBody>
      </p:sp>
      <p:sp>
        <p:nvSpPr>
          <p:cNvPr id="28" name="Footer Placeholder 1">
            <a:extLst>
              <a:ext uri="{FF2B5EF4-FFF2-40B4-BE49-F238E27FC236}">
                <a16:creationId xmlns:a16="http://schemas.microsoft.com/office/drawing/2014/main" id="{56797BF0-3754-4753-BA0D-60DE9215C454}"/>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282489652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11</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Create Model, Fit to Training Data, and Predict</a:t>
            </a:r>
          </a:p>
        </p:txBody>
      </p:sp>
      <p:pic>
        <p:nvPicPr>
          <p:cNvPr id="7" name="Picture 6">
            <a:extLst>
              <a:ext uri="{FF2B5EF4-FFF2-40B4-BE49-F238E27FC236}">
                <a16:creationId xmlns:a16="http://schemas.microsoft.com/office/drawing/2014/main" id="{A422BB90-454D-4AEC-85CE-94CCC9502260}"/>
              </a:ext>
            </a:extLst>
          </p:cNvPr>
          <p:cNvPicPr>
            <a:picLocks noChangeAspect="1"/>
          </p:cNvPicPr>
          <p:nvPr/>
        </p:nvPicPr>
        <p:blipFill>
          <a:blip r:embed="rId3"/>
          <a:stretch>
            <a:fillRect/>
          </a:stretch>
        </p:blipFill>
        <p:spPr>
          <a:xfrm>
            <a:off x="4556051" y="1600200"/>
            <a:ext cx="2770878" cy="1295400"/>
          </a:xfrm>
          <a:prstGeom prst="rect">
            <a:avLst/>
          </a:prstGeom>
        </p:spPr>
      </p:pic>
      <p:sp>
        <p:nvSpPr>
          <p:cNvPr id="8" name="TextBox 7">
            <a:extLst>
              <a:ext uri="{FF2B5EF4-FFF2-40B4-BE49-F238E27FC236}">
                <a16:creationId xmlns:a16="http://schemas.microsoft.com/office/drawing/2014/main" id="{D6F2E9E7-5B03-4D14-849F-41C1936C70D1}"/>
              </a:ext>
            </a:extLst>
          </p:cNvPr>
          <p:cNvSpPr txBox="1"/>
          <p:nvPr/>
        </p:nvSpPr>
        <p:spPr>
          <a:xfrm>
            <a:off x="2681176" y="3348335"/>
            <a:ext cx="6416749" cy="923330"/>
          </a:xfrm>
          <a:prstGeom prst="rect">
            <a:avLst/>
          </a:prstGeom>
          <a:noFill/>
        </p:spPr>
        <p:txBody>
          <a:bodyPr wrap="square" rtlCol="0">
            <a:spAutoFit/>
          </a:bodyPr>
          <a:lstStyle/>
          <a:p>
            <a:r>
              <a:rPr lang="en-US" dirty="0"/>
              <a:t>Note: Later in the course, we will be using other types of models. The same process applies, but instead of using </a:t>
            </a:r>
            <a:r>
              <a:rPr lang="en-US" dirty="0" err="1"/>
              <a:t>LinearRegression</a:t>
            </a:r>
            <a:r>
              <a:rPr lang="en-US" dirty="0"/>
              <a:t>(), it will be a different type of model.</a:t>
            </a:r>
          </a:p>
        </p:txBody>
      </p:sp>
      <p:pic>
        <p:nvPicPr>
          <p:cNvPr id="14" name="Picture 13">
            <a:extLst>
              <a:ext uri="{FF2B5EF4-FFF2-40B4-BE49-F238E27FC236}">
                <a16:creationId xmlns:a16="http://schemas.microsoft.com/office/drawing/2014/main" id="{39E0DAD0-8B23-4ED8-9835-581EA77C015C}"/>
              </a:ext>
            </a:extLst>
          </p:cNvPr>
          <p:cNvPicPr>
            <a:picLocks noChangeAspect="1"/>
          </p:cNvPicPr>
          <p:nvPr/>
        </p:nvPicPr>
        <p:blipFill>
          <a:blip r:embed="rId4"/>
          <a:stretch>
            <a:fillRect/>
          </a:stretch>
        </p:blipFill>
        <p:spPr>
          <a:xfrm>
            <a:off x="3641650" y="4692254"/>
            <a:ext cx="4495800" cy="565546"/>
          </a:xfrm>
          <a:prstGeom prst="rect">
            <a:avLst/>
          </a:prstGeom>
        </p:spPr>
      </p:pic>
      <p:pic>
        <p:nvPicPr>
          <p:cNvPr id="9" name="Picture 8" descr="Text&#10;&#10;Description automatically generated">
            <a:extLst>
              <a:ext uri="{FF2B5EF4-FFF2-40B4-BE49-F238E27FC236}">
                <a16:creationId xmlns:a16="http://schemas.microsoft.com/office/drawing/2014/main" id="{AE19F36E-B9FE-E042-8F43-0146BDDBBB1F}"/>
              </a:ext>
            </a:extLst>
          </p:cNvPr>
          <p:cNvPicPr>
            <a:picLocks noChangeAspect="1"/>
          </p:cNvPicPr>
          <p:nvPr/>
        </p:nvPicPr>
        <p:blipFill rotWithShape="1">
          <a:blip r:embed="rId5">
            <a:extLst>
              <a:ext uri="{28A0092B-C50C-407E-A947-70E740481C1C}">
                <a14:useLocalDpi xmlns:a14="http://schemas.microsoft.com/office/drawing/2010/main" val="0"/>
              </a:ext>
            </a:extLst>
          </a:blip>
          <a:srcRect t="51392" r="20975" b="34854"/>
          <a:stretch/>
        </p:blipFill>
        <p:spPr>
          <a:xfrm>
            <a:off x="3641651" y="5410201"/>
            <a:ext cx="4495800" cy="727438"/>
          </a:xfrm>
          <a:prstGeom prst="rect">
            <a:avLst/>
          </a:prstGeom>
        </p:spPr>
      </p:pic>
      <p:sp>
        <p:nvSpPr>
          <p:cNvPr id="10" name="Footer Placeholder 1">
            <a:extLst>
              <a:ext uri="{FF2B5EF4-FFF2-40B4-BE49-F238E27FC236}">
                <a16:creationId xmlns:a16="http://schemas.microsoft.com/office/drawing/2014/main" id="{09338E98-8B84-42A3-85F0-19E7D4FBD4B8}"/>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219711340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12</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Quantify Model Error</a:t>
            </a:r>
          </a:p>
        </p:txBody>
      </p:sp>
      <p:cxnSp>
        <p:nvCxnSpPr>
          <p:cNvPr id="10" name="Straight Arrow Connector 9">
            <a:extLst>
              <a:ext uri="{FF2B5EF4-FFF2-40B4-BE49-F238E27FC236}">
                <a16:creationId xmlns:a16="http://schemas.microsoft.com/office/drawing/2014/main" id="{C5E3BCB2-A782-4D3C-AC13-626D875F2878}"/>
              </a:ext>
            </a:extLst>
          </p:cNvPr>
          <p:cNvCxnSpPr>
            <a:cxnSpLocks/>
          </p:cNvCxnSpPr>
          <p:nvPr/>
        </p:nvCxnSpPr>
        <p:spPr>
          <a:xfrm flipV="1">
            <a:off x="2514600" y="3048000"/>
            <a:ext cx="2133600" cy="9906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6279DC6-7AED-4A4E-B72C-8DC2DE30488D}"/>
              </a:ext>
            </a:extLst>
          </p:cNvPr>
          <p:cNvSpPr txBox="1"/>
          <p:nvPr/>
        </p:nvSpPr>
        <p:spPr>
          <a:xfrm>
            <a:off x="533400" y="3708400"/>
            <a:ext cx="1981200" cy="830997"/>
          </a:xfrm>
          <a:prstGeom prst="rect">
            <a:avLst/>
          </a:prstGeom>
          <a:noFill/>
        </p:spPr>
        <p:txBody>
          <a:bodyPr wrap="square" rtlCol="0">
            <a:spAutoFit/>
          </a:bodyPr>
          <a:lstStyle/>
          <a:p>
            <a:pPr algn="ctr"/>
            <a:r>
              <a:rPr lang="en-US" sz="1600" dirty="0">
                <a:solidFill>
                  <a:srgbClr val="FF0000"/>
                </a:solidFill>
              </a:rPr>
              <a:t>Adjusted R</a:t>
            </a:r>
            <a:r>
              <a:rPr lang="en-US" sz="1600" baseline="30000" dirty="0">
                <a:solidFill>
                  <a:srgbClr val="FF0000"/>
                </a:solidFill>
              </a:rPr>
              <a:t>2</a:t>
            </a:r>
            <a:r>
              <a:rPr lang="en-US" sz="1600" dirty="0">
                <a:solidFill>
                  <a:srgbClr val="FF0000"/>
                </a:solidFill>
              </a:rPr>
              <a:t>, see lecture slides for formula</a:t>
            </a:r>
          </a:p>
        </p:txBody>
      </p:sp>
      <p:cxnSp>
        <p:nvCxnSpPr>
          <p:cNvPr id="13" name="Straight Arrow Connector 12">
            <a:extLst>
              <a:ext uri="{FF2B5EF4-FFF2-40B4-BE49-F238E27FC236}">
                <a16:creationId xmlns:a16="http://schemas.microsoft.com/office/drawing/2014/main" id="{9EFFBC5A-4BB5-47A4-9B0F-2CA7D7C78D14}"/>
              </a:ext>
            </a:extLst>
          </p:cNvPr>
          <p:cNvCxnSpPr>
            <a:cxnSpLocks/>
          </p:cNvCxnSpPr>
          <p:nvPr/>
        </p:nvCxnSpPr>
        <p:spPr>
          <a:xfrm>
            <a:off x="2514600" y="4012469"/>
            <a:ext cx="2282825" cy="14739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5F1A972-F68E-7A4F-BEE9-59B58B363298}"/>
              </a:ext>
            </a:extLst>
          </p:cNvPr>
          <p:cNvCxnSpPr>
            <a:cxnSpLocks/>
          </p:cNvCxnSpPr>
          <p:nvPr/>
        </p:nvCxnSpPr>
        <p:spPr>
          <a:xfrm>
            <a:off x="2514600" y="1371600"/>
            <a:ext cx="228282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7A2D03D-967F-7346-8681-299CDE20B3F6}"/>
              </a:ext>
            </a:extLst>
          </p:cNvPr>
          <p:cNvCxnSpPr>
            <a:cxnSpLocks/>
          </p:cNvCxnSpPr>
          <p:nvPr/>
        </p:nvCxnSpPr>
        <p:spPr>
          <a:xfrm>
            <a:off x="2514600" y="1371600"/>
            <a:ext cx="2282825" cy="28194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545733F-69D4-B146-8430-BBD326A6A624}"/>
              </a:ext>
            </a:extLst>
          </p:cNvPr>
          <p:cNvSpPr txBox="1"/>
          <p:nvPr/>
        </p:nvSpPr>
        <p:spPr>
          <a:xfrm>
            <a:off x="533400" y="1048603"/>
            <a:ext cx="1981200" cy="584775"/>
          </a:xfrm>
          <a:prstGeom prst="rect">
            <a:avLst/>
          </a:prstGeom>
          <a:noFill/>
        </p:spPr>
        <p:txBody>
          <a:bodyPr wrap="square" rtlCol="0">
            <a:spAutoFit/>
          </a:bodyPr>
          <a:lstStyle/>
          <a:p>
            <a:pPr algn="ctr"/>
            <a:r>
              <a:rPr lang="en-US" sz="1600" dirty="0">
                <a:solidFill>
                  <a:srgbClr val="FF0000"/>
                </a:solidFill>
              </a:rPr>
              <a:t>Predict values from training, test datasets</a:t>
            </a:r>
          </a:p>
        </p:txBody>
      </p:sp>
      <p:cxnSp>
        <p:nvCxnSpPr>
          <p:cNvPr id="33" name="Straight Arrow Connector 32">
            <a:extLst>
              <a:ext uri="{FF2B5EF4-FFF2-40B4-BE49-F238E27FC236}">
                <a16:creationId xmlns:a16="http://schemas.microsoft.com/office/drawing/2014/main" id="{215C50B0-C714-9C4B-8A33-ACC47EEA6916}"/>
              </a:ext>
            </a:extLst>
          </p:cNvPr>
          <p:cNvCxnSpPr>
            <a:cxnSpLocks/>
            <a:stCxn id="34" idx="3"/>
          </p:cNvCxnSpPr>
          <p:nvPr/>
        </p:nvCxnSpPr>
        <p:spPr>
          <a:xfrm flipV="1">
            <a:off x="2579860" y="1996181"/>
            <a:ext cx="2188733" cy="78975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F42D85B-B927-F044-B545-D64EA379D748}"/>
              </a:ext>
            </a:extLst>
          </p:cNvPr>
          <p:cNvSpPr txBox="1"/>
          <p:nvPr/>
        </p:nvSpPr>
        <p:spPr>
          <a:xfrm>
            <a:off x="598660" y="2370438"/>
            <a:ext cx="1981200" cy="830997"/>
          </a:xfrm>
          <a:prstGeom prst="rect">
            <a:avLst/>
          </a:prstGeom>
          <a:noFill/>
        </p:spPr>
        <p:txBody>
          <a:bodyPr wrap="square" rtlCol="0">
            <a:spAutoFit/>
          </a:bodyPr>
          <a:lstStyle/>
          <a:p>
            <a:pPr algn="ctr"/>
            <a:r>
              <a:rPr lang="en-US" sz="1600" dirty="0">
                <a:solidFill>
                  <a:srgbClr val="FF0000"/>
                </a:solidFill>
              </a:rPr>
              <a:t>R</a:t>
            </a:r>
            <a:r>
              <a:rPr lang="en-US" sz="1600" baseline="30000" dirty="0">
                <a:solidFill>
                  <a:srgbClr val="FF0000"/>
                </a:solidFill>
              </a:rPr>
              <a:t>2 </a:t>
            </a:r>
            <a:r>
              <a:rPr lang="en-US" sz="1600" dirty="0">
                <a:solidFill>
                  <a:srgbClr val="FF0000"/>
                </a:solidFill>
              </a:rPr>
              <a:t> using r2_score function that we previously imported</a:t>
            </a:r>
          </a:p>
        </p:txBody>
      </p:sp>
      <p:cxnSp>
        <p:nvCxnSpPr>
          <p:cNvPr id="35" name="Straight Arrow Connector 34">
            <a:extLst>
              <a:ext uri="{FF2B5EF4-FFF2-40B4-BE49-F238E27FC236}">
                <a16:creationId xmlns:a16="http://schemas.microsoft.com/office/drawing/2014/main" id="{1AF2B5A1-3986-7841-906F-80799C92592C}"/>
              </a:ext>
            </a:extLst>
          </p:cNvPr>
          <p:cNvCxnSpPr>
            <a:cxnSpLocks/>
            <a:stCxn id="34" idx="3"/>
          </p:cNvCxnSpPr>
          <p:nvPr/>
        </p:nvCxnSpPr>
        <p:spPr>
          <a:xfrm>
            <a:off x="2579860" y="2785937"/>
            <a:ext cx="2217565" cy="18622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8D14F0FB-D72B-FD47-B9EC-82902999B1A3}"/>
              </a:ext>
            </a:extLst>
          </p:cNvPr>
          <p:cNvPicPr>
            <a:picLocks noChangeAspect="1"/>
          </p:cNvPicPr>
          <p:nvPr/>
        </p:nvPicPr>
        <p:blipFill rotWithShape="1">
          <a:blip r:embed="rId3">
            <a:extLst>
              <a:ext uri="{28A0092B-C50C-407E-A947-70E740481C1C}">
                <a14:useLocalDpi xmlns:a14="http://schemas.microsoft.com/office/drawing/2010/main" val="0"/>
              </a:ext>
            </a:extLst>
          </a:blip>
          <a:srcRect t="17939"/>
          <a:stretch/>
        </p:blipFill>
        <p:spPr>
          <a:xfrm>
            <a:off x="5105400" y="955784"/>
            <a:ext cx="5141375" cy="5251231"/>
          </a:xfrm>
          <a:prstGeom prst="rect">
            <a:avLst/>
          </a:prstGeom>
        </p:spPr>
      </p:pic>
      <p:sp>
        <p:nvSpPr>
          <p:cNvPr id="15" name="Footer Placeholder 1">
            <a:extLst>
              <a:ext uri="{FF2B5EF4-FFF2-40B4-BE49-F238E27FC236}">
                <a16:creationId xmlns:a16="http://schemas.microsoft.com/office/drawing/2014/main" id="{132FAA3A-18A7-4592-BCCA-D4487D2D4FBF}"/>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90506514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13</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Adjusted R-Squared</a:t>
            </a:r>
          </a:p>
        </p:txBody>
      </p:sp>
      <p:sp>
        <p:nvSpPr>
          <p:cNvPr id="11" name="TextBox 10">
            <a:extLst>
              <a:ext uri="{FF2B5EF4-FFF2-40B4-BE49-F238E27FC236}">
                <a16:creationId xmlns:a16="http://schemas.microsoft.com/office/drawing/2014/main" id="{86279DC6-7AED-4A4E-B72C-8DC2DE30488D}"/>
              </a:ext>
            </a:extLst>
          </p:cNvPr>
          <p:cNvSpPr txBox="1"/>
          <p:nvPr/>
        </p:nvSpPr>
        <p:spPr>
          <a:xfrm>
            <a:off x="381000" y="2307959"/>
            <a:ext cx="5558499"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tx1">
                    <a:lumMod val="75000"/>
                    <a:lumOff val="25000"/>
                  </a:schemeClr>
                </a:solidFill>
              </a:rPr>
              <a:t>Adjusted R</a:t>
            </a:r>
            <a:r>
              <a:rPr lang="en-US" sz="2000" baseline="30000" dirty="0">
                <a:solidFill>
                  <a:schemeClr val="tx1">
                    <a:lumMod val="75000"/>
                    <a:lumOff val="25000"/>
                  </a:schemeClr>
                </a:solidFill>
              </a:rPr>
              <a:t>2 (</a:t>
            </a:r>
            <a:r>
              <a:rPr lang="en-US" sz="2000" dirty="0">
                <a:solidFill>
                  <a:schemeClr val="tx1">
                    <a:lumMod val="75000"/>
                    <a:lumOff val="25000"/>
                  </a:schemeClr>
                </a:solidFill>
              </a:rPr>
              <a:t>see lecture slides for formula)</a:t>
            </a:r>
          </a:p>
          <a:p>
            <a:endParaRPr lang="en-US" sz="2000" dirty="0">
              <a:solidFill>
                <a:schemeClr val="tx1">
                  <a:lumMod val="75000"/>
                  <a:lumOff val="25000"/>
                </a:schemeClr>
              </a:solidFill>
            </a:endParaRPr>
          </a:p>
          <a:p>
            <a:pPr marL="342900" indent="-342900">
              <a:buFont typeface="Arial" panose="020B0604020202020204" pitchFamily="34" charset="0"/>
              <a:buChar char="•"/>
            </a:pPr>
            <a:r>
              <a:rPr lang="en-US" sz="2000" dirty="0">
                <a:solidFill>
                  <a:schemeClr val="tx1">
                    <a:lumMod val="75000"/>
                    <a:lumOff val="25000"/>
                  </a:schemeClr>
                </a:solidFill>
              </a:rPr>
              <a:t>Remember the .shape function and indexing</a:t>
            </a:r>
          </a:p>
          <a:p>
            <a:endParaRPr lang="en-US" sz="2000" dirty="0">
              <a:solidFill>
                <a:schemeClr val="tx1">
                  <a:lumMod val="75000"/>
                  <a:lumOff val="25000"/>
                </a:schemeClr>
              </a:solidFill>
            </a:endParaRPr>
          </a:p>
          <a:p>
            <a:pPr marL="342900" indent="-342900">
              <a:buFont typeface="Arial" panose="020B0604020202020204" pitchFamily="34" charset="0"/>
              <a:buChar char="•"/>
            </a:pPr>
            <a:r>
              <a:rPr lang="en-US" sz="2000" dirty="0">
                <a:solidFill>
                  <a:schemeClr val="tx1">
                    <a:lumMod val="75000"/>
                    <a:lumOff val="25000"/>
                  </a:schemeClr>
                </a:solidFill>
              </a:rPr>
              <a:t>n = 12, p = 1 </a:t>
            </a:r>
          </a:p>
        </p:txBody>
      </p:sp>
      <p:pic>
        <p:nvPicPr>
          <p:cNvPr id="6" name="Picture 5" descr="Text&#10;&#10;Description automatically generated">
            <a:extLst>
              <a:ext uri="{FF2B5EF4-FFF2-40B4-BE49-F238E27FC236}">
                <a16:creationId xmlns:a16="http://schemas.microsoft.com/office/drawing/2014/main" id="{8D14F0FB-D72B-FD47-B9EC-82902999B1A3}"/>
              </a:ext>
            </a:extLst>
          </p:cNvPr>
          <p:cNvPicPr>
            <a:picLocks noChangeAspect="1"/>
          </p:cNvPicPr>
          <p:nvPr/>
        </p:nvPicPr>
        <p:blipFill rotWithShape="1">
          <a:blip r:embed="rId3">
            <a:extLst>
              <a:ext uri="{28A0092B-C50C-407E-A947-70E740481C1C}">
                <a14:useLocalDpi xmlns:a14="http://schemas.microsoft.com/office/drawing/2010/main" val="0"/>
              </a:ext>
            </a:extLst>
          </a:blip>
          <a:srcRect t="36345" b="44603"/>
          <a:stretch/>
        </p:blipFill>
        <p:spPr>
          <a:xfrm>
            <a:off x="6553200" y="3314226"/>
            <a:ext cx="5141375" cy="1219201"/>
          </a:xfrm>
          <a:prstGeom prst="rect">
            <a:avLst/>
          </a:prstGeom>
        </p:spPr>
      </p:pic>
      <p:pic>
        <p:nvPicPr>
          <p:cNvPr id="7" name="Picture 6">
            <a:extLst>
              <a:ext uri="{FF2B5EF4-FFF2-40B4-BE49-F238E27FC236}">
                <a16:creationId xmlns:a16="http://schemas.microsoft.com/office/drawing/2014/main" id="{E67814D1-E38D-A647-9098-18A152418D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0" y="2057905"/>
            <a:ext cx="2759212" cy="819568"/>
          </a:xfrm>
          <a:prstGeom prst="rect">
            <a:avLst/>
          </a:prstGeom>
        </p:spPr>
      </p:pic>
      <p:sp>
        <p:nvSpPr>
          <p:cNvPr id="8" name="Footer Placeholder 1">
            <a:extLst>
              <a:ext uri="{FF2B5EF4-FFF2-40B4-BE49-F238E27FC236}">
                <a16:creationId xmlns:a16="http://schemas.microsoft.com/office/drawing/2014/main" id="{E55C44B9-DDC3-4A46-8591-091A946A6602}"/>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5678377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14</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Quantify Model Error</a:t>
            </a:r>
          </a:p>
        </p:txBody>
      </p:sp>
      <p:pic>
        <p:nvPicPr>
          <p:cNvPr id="7" name="Picture 6">
            <a:extLst>
              <a:ext uri="{FF2B5EF4-FFF2-40B4-BE49-F238E27FC236}">
                <a16:creationId xmlns:a16="http://schemas.microsoft.com/office/drawing/2014/main" id="{F8B264E4-05C8-42AE-B94A-7ABFB59CE792}"/>
              </a:ext>
            </a:extLst>
          </p:cNvPr>
          <p:cNvPicPr>
            <a:picLocks noChangeAspect="1"/>
          </p:cNvPicPr>
          <p:nvPr/>
        </p:nvPicPr>
        <p:blipFill>
          <a:blip r:embed="rId3"/>
          <a:stretch>
            <a:fillRect/>
          </a:stretch>
        </p:blipFill>
        <p:spPr>
          <a:xfrm>
            <a:off x="4767368" y="1981200"/>
            <a:ext cx="7124830" cy="2915856"/>
          </a:xfrm>
          <a:prstGeom prst="rect">
            <a:avLst/>
          </a:prstGeom>
        </p:spPr>
      </p:pic>
      <p:pic>
        <p:nvPicPr>
          <p:cNvPr id="6" name="Picture 5" descr="Chart, scatter chart&#10;&#10;Description automatically generated">
            <a:extLst>
              <a:ext uri="{FF2B5EF4-FFF2-40B4-BE49-F238E27FC236}">
                <a16:creationId xmlns:a16="http://schemas.microsoft.com/office/drawing/2014/main" id="{5A1B76EF-4555-CF45-8B1F-35D421CA80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752600"/>
            <a:ext cx="3975100" cy="3937000"/>
          </a:xfrm>
          <a:prstGeom prst="rect">
            <a:avLst/>
          </a:prstGeom>
        </p:spPr>
      </p:pic>
      <p:sp>
        <p:nvSpPr>
          <p:cNvPr id="8" name="Footer Placeholder 1">
            <a:extLst>
              <a:ext uri="{FF2B5EF4-FFF2-40B4-BE49-F238E27FC236}">
                <a16:creationId xmlns:a16="http://schemas.microsoft.com/office/drawing/2014/main" id="{3E9F8FEC-A187-4E4F-A033-63B9B8675915}"/>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264847714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15</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Quantify Model Error</a:t>
            </a:r>
          </a:p>
        </p:txBody>
      </p:sp>
      <p:pic>
        <p:nvPicPr>
          <p:cNvPr id="6" name="Picture 5">
            <a:extLst>
              <a:ext uri="{FF2B5EF4-FFF2-40B4-BE49-F238E27FC236}">
                <a16:creationId xmlns:a16="http://schemas.microsoft.com/office/drawing/2014/main" id="{E26B3C0C-3B8C-4729-9BA4-50A026831CF9}"/>
              </a:ext>
            </a:extLst>
          </p:cNvPr>
          <p:cNvPicPr>
            <a:picLocks noChangeAspect="1"/>
          </p:cNvPicPr>
          <p:nvPr/>
        </p:nvPicPr>
        <p:blipFill>
          <a:blip r:embed="rId3"/>
          <a:stretch>
            <a:fillRect/>
          </a:stretch>
        </p:blipFill>
        <p:spPr>
          <a:xfrm>
            <a:off x="4572000" y="2057400"/>
            <a:ext cx="7443117" cy="2209800"/>
          </a:xfrm>
          <a:prstGeom prst="rect">
            <a:avLst/>
          </a:prstGeom>
        </p:spPr>
      </p:pic>
      <p:pic>
        <p:nvPicPr>
          <p:cNvPr id="7" name="Picture 6" descr="Chart, scatter chart&#10;&#10;Description automatically generated">
            <a:extLst>
              <a:ext uri="{FF2B5EF4-FFF2-40B4-BE49-F238E27FC236}">
                <a16:creationId xmlns:a16="http://schemas.microsoft.com/office/drawing/2014/main" id="{F3CCA84E-AC34-CF4A-8569-8228A27BC6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665" y="1936750"/>
            <a:ext cx="4471692" cy="2984500"/>
          </a:xfrm>
          <a:prstGeom prst="rect">
            <a:avLst/>
          </a:prstGeom>
        </p:spPr>
      </p:pic>
      <p:sp>
        <p:nvSpPr>
          <p:cNvPr id="8" name="Footer Placeholder 1">
            <a:extLst>
              <a:ext uri="{FF2B5EF4-FFF2-40B4-BE49-F238E27FC236}">
                <a16:creationId xmlns:a16="http://schemas.microsoft.com/office/drawing/2014/main" id="{C617090F-9D4B-42A8-999A-9272331D471A}"/>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282280414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16</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Creating a New Model to Include Categorical Variables</a:t>
            </a:r>
          </a:p>
        </p:txBody>
      </p:sp>
      <p:pic>
        <p:nvPicPr>
          <p:cNvPr id="7" name="Picture 6">
            <a:extLst>
              <a:ext uri="{FF2B5EF4-FFF2-40B4-BE49-F238E27FC236}">
                <a16:creationId xmlns:a16="http://schemas.microsoft.com/office/drawing/2014/main" id="{9CDE517C-D861-4E84-B31E-3BF7AE81F8CD}"/>
              </a:ext>
            </a:extLst>
          </p:cNvPr>
          <p:cNvPicPr>
            <a:picLocks noChangeAspect="1"/>
          </p:cNvPicPr>
          <p:nvPr/>
        </p:nvPicPr>
        <p:blipFill>
          <a:blip r:embed="rId3"/>
          <a:stretch>
            <a:fillRect/>
          </a:stretch>
        </p:blipFill>
        <p:spPr>
          <a:xfrm>
            <a:off x="2476500" y="2094396"/>
            <a:ext cx="7239000" cy="1723724"/>
          </a:xfrm>
          <a:prstGeom prst="rect">
            <a:avLst/>
          </a:prstGeom>
        </p:spPr>
      </p:pic>
      <p:pic>
        <p:nvPicPr>
          <p:cNvPr id="9" name="Picture 8">
            <a:extLst>
              <a:ext uri="{FF2B5EF4-FFF2-40B4-BE49-F238E27FC236}">
                <a16:creationId xmlns:a16="http://schemas.microsoft.com/office/drawing/2014/main" id="{F396B95D-6C02-4EC2-9596-BEDDD88E8727}"/>
              </a:ext>
            </a:extLst>
          </p:cNvPr>
          <p:cNvPicPr>
            <a:picLocks noChangeAspect="1"/>
          </p:cNvPicPr>
          <p:nvPr/>
        </p:nvPicPr>
        <p:blipFill>
          <a:blip r:embed="rId4"/>
          <a:stretch>
            <a:fillRect/>
          </a:stretch>
        </p:blipFill>
        <p:spPr>
          <a:xfrm>
            <a:off x="3581400" y="3962400"/>
            <a:ext cx="5029200" cy="2226039"/>
          </a:xfrm>
          <a:prstGeom prst="rect">
            <a:avLst/>
          </a:prstGeom>
        </p:spPr>
      </p:pic>
      <p:sp>
        <p:nvSpPr>
          <p:cNvPr id="11" name="TextBox 10">
            <a:extLst>
              <a:ext uri="{FF2B5EF4-FFF2-40B4-BE49-F238E27FC236}">
                <a16:creationId xmlns:a16="http://schemas.microsoft.com/office/drawing/2014/main" id="{BB65F43B-9545-4DF4-AC8E-72E5F69719B9}"/>
              </a:ext>
            </a:extLst>
          </p:cNvPr>
          <p:cNvSpPr txBox="1"/>
          <p:nvPr/>
        </p:nvSpPr>
        <p:spPr>
          <a:xfrm>
            <a:off x="800100" y="1235558"/>
            <a:ext cx="3352800" cy="369332"/>
          </a:xfrm>
          <a:prstGeom prst="rect">
            <a:avLst/>
          </a:prstGeom>
          <a:noFill/>
        </p:spPr>
        <p:txBody>
          <a:bodyPr wrap="square" rtlCol="0">
            <a:spAutoFit/>
          </a:bodyPr>
          <a:lstStyle/>
          <a:p>
            <a:r>
              <a:rPr lang="en-US" dirty="0"/>
              <a:t>Step 1: Input the categorical array </a:t>
            </a:r>
          </a:p>
        </p:txBody>
      </p:sp>
      <p:sp>
        <p:nvSpPr>
          <p:cNvPr id="8" name="Footer Placeholder 1">
            <a:extLst>
              <a:ext uri="{FF2B5EF4-FFF2-40B4-BE49-F238E27FC236}">
                <a16:creationId xmlns:a16="http://schemas.microsoft.com/office/drawing/2014/main" id="{04627FA3-8106-4AD3-AA5C-9AECDD52FB86}"/>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428706720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E8848B6-D328-4CC8-99C6-D5689AE94DF4}" type="slidenum">
              <a:rPr lang="en-US" smtClean="0"/>
              <a:t>17</a:t>
            </a:fld>
            <a:endParaRPr lang="en-US" dirty="0"/>
          </a:p>
        </p:txBody>
      </p:sp>
      <p:sp>
        <p:nvSpPr>
          <p:cNvPr id="20" name="Rectangle 1"/>
          <p:cNvSpPr txBox="1">
            <a:spLocks noChangeArrowheads="1"/>
          </p:cNvSpPr>
          <p:nvPr/>
        </p:nvSpPr>
        <p:spPr>
          <a:xfrm>
            <a:off x="0" y="1"/>
            <a:ext cx="12192000" cy="685799"/>
          </a:xfrm>
          <a:prstGeom prst="rect">
            <a:avLst/>
          </a:prstGeom>
          <a:solidFill>
            <a:srgbClr val="92D05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sym typeface="Gill Sans" charset="0"/>
              </a:rPr>
              <a:t>Dummy coding</a:t>
            </a:r>
            <a:endParaRPr lang="en-US" baseline="30000" dirty="0">
              <a:sym typeface="Gill Sans" charset="0"/>
            </a:endParaRPr>
          </a:p>
        </p:txBody>
      </p:sp>
      <p:graphicFrame>
        <p:nvGraphicFramePr>
          <p:cNvPr id="5" name="Table 4"/>
          <p:cNvGraphicFramePr>
            <a:graphicFrameLocks noGrp="1"/>
          </p:cNvGraphicFramePr>
          <p:nvPr/>
        </p:nvGraphicFramePr>
        <p:xfrm>
          <a:off x="1066800" y="3657600"/>
          <a:ext cx="6001735" cy="2433320"/>
        </p:xfrm>
        <a:graphic>
          <a:graphicData uri="http://schemas.openxmlformats.org/drawingml/2006/table">
            <a:tbl>
              <a:tblPr firstRow="1" bandRow="1">
                <a:tableStyleId>{5940675A-B579-460E-94D1-54222C63F5DA}</a:tableStyleId>
              </a:tblPr>
              <a:tblGrid>
                <a:gridCol w="1085420">
                  <a:extLst>
                    <a:ext uri="{9D8B030D-6E8A-4147-A177-3AD203B41FA5}">
                      <a16:colId xmlns:a16="http://schemas.microsoft.com/office/drawing/2014/main" val="442993704"/>
                    </a:ext>
                  </a:extLst>
                </a:gridCol>
                <a:gridCol w="983263">
                  <a:extLst>
                    <a:ext uri="{9D8B030D-6E8A-4147-A177-3AD203B41FA5}">
                      <a16:colId xmlns:a16="http://schemas.microsoft.com/office/drawing/2014/main" val="4128615779"/>
                    </a:ext>
                  </a:extLst>
                </a:gridCol>
                <a:gridCol w="983263">
                  <a:extLst>
                    <a:ext uri="{9D8B030D-6E8A-4147-A177-3AD203B41FA5}">
                      <a16:colId xmlns:a16="http://schemas.microsoft.com/office/drawing/2014/main" val="1701499692"/>
                    </a:ext>
                  </a:extLst>
                </a:gridCol>
                <a:gridCol w="983263">
                  <a:extLst>
                    <a:ext uri="{9D8B030D-6E8A-4147-A177-3AD203B41FA5}">
                      <a16:colId xmlns:a16="http://schemas.microsoft.com/office/drawing/2014/main" val="3233308719"/>
                    </a:ext>
                  </a:extLst>
                </a:gridCol>
                <a:gridCol w="983263">
                  <a:extLst>
                    <a:ext uri="{9D8B030D-6E8A-4147-A177-3AD203B41FA5}">
                      <a16:colId xmlns:a16="http://schemas.microsoft.com/office/drawing/2014/main" val="2797125826"/>
                    </a:ext>
                  </a:extLst>
                </a:gridCol>
                <a:gridCol w="983263">
                  <a:extLst>
                    <a:ext uri="{9D8B030D-6E8A-4147-A177-3AD203B41FA5}">
                      <a16:colId xmlns:a16="http://schemas.microsoft.com/office/drawing/2014/main" val="3966736977"/>
                    </a:ext>
                  </a:extLst>
                </a:gridCol>
              </a:tblGrid>
              <a:tr h="370840">
                <a:tc>
                  <a:txBody>
                    <a:bodyPr/>
                    <a:lstStyle/>
                    <a:p>
                      <a:pPr algn="ctr"/>
                      <a:r>
                        <a:rPr lang="en-US" sz="1600" b="1" dirty="0"/>
                        <a:t>Student</a:t>
                      </a:r>
                      <a:r>
                        <a:rPr lang="en-US" sz="1600" b="1" baseline="0" dirty="0"/>
                        <a:t> </a:t>
                      </a:r>
                      <a:endParaRPr lang="en-US" sz="1600" b="1" dirty="0"/>
                    </a:p>
                  </a:txBody>
                  <a:tcPr anchor="ctr">
                    <a:solidFill>
                      <a:schemeClr val="bg1">
                        <a:lumMod val="75000"/>
                      </a:schemeClr>
                    </a:solidFill>
                  </a:tcPr>
                </a:tc>
                <a:tc>
                  <a:txBody>
                    <a:bodyPr/>
                    <a:lstStyle/>
                    <a:p>
                      <a:pPr algn="ctr"/>
                      <a:r>
                        <a:rPr lang="en-US" sz="1600" b="1" dirty="0"/>
                        <a:t>Favorite class</a:t>
                      </a:r>
                    </a:p>
                  </a:txBody>
                  <a:tcPr anchor="ctr">
                    <a:lnR w="12700" cap="flat" cmpd="sng" algn="ctr">
                      <a:solidFill>
                        <a:schemeClr val="tx1"/>
                      </a:solidFill>
                      <a:prstDash val="solid"/>
                      <a:round/>
                      <a:headEnd type="none" w="med" len="med"/>
                      <a:tailEnd type="none" w="med" len="med"/>
                    </a:lnR>
                    <a:solidFill>
                      <a:schemeClr val="bg1">
                        <a:lumMod val="75000"/>
                      </a:schemeClr>
                    </a:solidFill>
                  </a:tcPr>
                </a:tc>
                <a:tc>
                  <a:txBody>
                    <a:bodyPr/>
                    <a:lstStyle/>
                    <a:p>
                      <a:pPr algn="ct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1600" b="1" dirty="0"/>
                        <a:t>Student</a:t>
                      </a:r>
                      <a:r>
                        <a:rPr lang="en-US" sz="1600" b="1" baseline="0" dirty="0"/>
                        <a:t> </a:t>
                      </a:r>
                      <a:endParaRPr 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US" sz="1600" b="1" dirty="0"/>
                        <a:t>Science</a:t>
                      </a:r>
                    </a:p>
                  </a:txBody>
                  <a:tcPr anchor="ctr">
                    <a:lnL w="12700" cap="flat" cmpd="sng" algn="ctr">
                      <a:solidFill>
                        <a:schemeClr val="tx1"/>
                      </a:solidFill>
                      <a:prstDash val="solid"/>
                      <a:round/>
                      <a:headEnd type="none" w="med" len="med"/>
                      <a:tailEnd type="none" w="med" len="med"/>
                    </a:lnL>
                    <a:solidFill>
                      <a:schemeClr val="bg1">
                        <a:lumMod val="75000"/>
                      </a:schemeClr>
                    </a:solidFill>
                  </a:tcPr>
                </a:tc>
                <a:tc>
                  <a:txBody>
                    <a:bodyPr/>
                    <a:lstStyle/>
                    <a:p>
                      <a:pPr algn="ctr"/>
                      <a:r>
                        <a:rPr lang="en-US" sz="1600" b="1" dirty="0"/>
                        <a:t>Math</a:t>
                      </a:r>
                    </a:p>
                  </a:txBody>
                  <a:tcPr anchor="ctr">
                    <a:solidFill>
                      <a:schemeClr val="bg1">
                        <a:lumMod val="75000"/>
                      </a:schemeClr>
                    </a:solidFill>
                  </a:tcPr>
                </a:tc>
                <a:extLst>
                  <a:ext uri="{0D108BD9-81ED-4DB2-BD59-A6C34878D82A}">
                    <a16:rowId xmlns:a16="http://schemas.microsoft.com/office/drawing/2014/main" val="1341452496"/>
                  </a:ext>
                </a:extLst>
              </a:tr>
              <a:tr h="370840">
                <a:tc>
                  <a:txBody>
                    <a:bodyPr/>
                    <a:lstStyle/>
                    <a:p>
                      <a:pPr algn="ctr"/>
                      <a:r>
                        <a:rPr lang="en-US" sz="1600" dirty="0"/>
                        <a:t>1</a:t>
                      </a:r>
                    </a:p>
                  </a:txBody>
                  <a:tcPr/>
                </a:tc>
                <a:tc>
                  <a:txBody>
                    <a:bodyPr/>
                    <a:lstStyle/>
                    <a:p>
                      <a:pPr marL="0" algn="ctr" defTabSz="914400" rtl="0" eaLnBrk="1" fontAlgn="b" latinLnBrk="0" hangingPunct="1"/>
                      <a:r>
                        <a:rPr lang="en-US" sz="1600" kern="1200" dirty="0">
                          <a:solidFill>
                            <a:schemeClr val="tx1"/>
                          </a:solidFill>
                          <a:latin typeface="+mn-lt"/>
                          <a:ea typeface="+mn-ea"/>
                          <a:cs typeface="+mn-cs"/>
                        </a:rPr>
                        <a:t>Science</a:t>
                      </a:r>
                    </a:p>
                  </a:txBody>
                  <a:tcPr marL="7620" marR="7620" marT="7620" marB="0" anchor="b">
                    <a:lnR w="12700" cap="flat" cmpd="sng" algn="ctr">
                      <a:solidFill>
                        <a:schemeClr val="tx1"/>
                      </a:solidFill>
                      <a:prstDash val="solid"/>
                      <a:round/>
                      <a:headEnd type="none" w="med" len="med"/>
                      <a:tailEnd type="none" w="med" len="med"/>
                    </a:lnR>
                  </a:tcPr>
                </a:tc>
                <a:tc>
                  <a:txBody>
                    <a:bodyPr/>
                    <a:lstStyle/>
                    <a:p>
                      <a:pPr marL="0" algn="ctr" defTabSz="914400" rtl="0" eaLnBrk="1" fontAlgn="b" latinLnBrk="0" hangingPunct="1"/>
                      <a:endParaRPr lang="en-US" sz="1600" kern="1200" dirty="0">
                        <a:solidFill>
                          <a:schemeClr val="tx1"/>
                        </a:solidFill>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sz="1600" kern="1200" dirty="0">
                          <a:solidFill>
                            <a:schemeClr val="tx1"/>
                          </a:solidFill>
                          <a:latin typeface="+mn-lt"/>
                          <a:ea typeface="+mn-ea"/>
                          <a:cs typeface="+mn-cs"/>
                        </a:rPr>
                        <a:t>1</a:t>
                      </a:r>
                    </a:p>
                  </a:txBody>
                  <a:tcPr marL="7620" marR="7620" marT="7620" marB="0" anchor="b">
                    <a:lnL w="12700" cap="flat" cmpd="sng" algn="ctr">
                      <a:solidFill>
                        <a:schemeClr val="tx1"/>
                      </a:solidFill>
                      <a:prstDash val="solid"/>
                      <a:round/>
                      <a:headEnd type="none" w="med" len="med"/>
                      <a:tailEnd type="none" w="med" len="med"/>
                    </a:lnL>
                  </a:tcPr>
                </a:tc>
                <a:tc>
                  <a:txBody>
                    <a:bodyPr/>
                    <a:lstStyle/>
                    <a:p>
                      <a:pPr marL="0" algn="ctr" defTabSz="914400" rtl="0" eaLnBrk="1" fontAlgn="b" latinLnBrk="0" hangingPunct="1"/>
                      <a:r>
                        <a:rPr lang="en-US" sz="1600" kern="1200" dirty="0">
                          <a:solidFill>
                            <a:schemeClr val="tx1"/>
                          </a:solidFill>
                          <a:latin typeface="+mn-lt"/>
                          <a:ea typeface="+mn-ea"/>
                          <a:cs typeface="+mn-cs"/>
                        </a:rPr>
                        <a:t>0</a:t>
                      </a:r>
                    </a:p>
                  </a:txBody>
                  <a:tcPr marL="7620" marR="7620" marT="7620" marB="0" anchor="b"/>
                </a:tc>
                <a:extLst>
                  <a:ext uri="{0D108BD9-81ED-4DB2-BD59-A6C34878D82A}">
                    <a16:rowId xmlns:a16="http://schemas.microsoft.com/office/drawing/2014/main" val="399270342"/>
                  </a:ext>
                </a:extLst>
              </a:tr>
              <a:tr h="370840">
                <a:tc>
                  <a:txBody>
                    <a:bodyPr/>
                    <a:lstStyle/>
                    <a:p>
                      <a:pPr algn="ctr"/>
                      <a:r>
                        <a:rPr lang="en-US" sz="1600" dirty="0"/>
                        <a:t>2</a:t>
                      </a:r>
                    </a:p>
                  </a:txBody>
                  <a:tcPr/>
                </a:tc>
                <a:tc>
                  <a:txBody>
                    <a:bodyPr/>
                    <a:lstStyle/>
                    <a:p>
                      <a:pPr marL="0" algn="ctr" defTabSz="914400" rtl="0" eaLnBrk="1" fontAlgn="b" latinLnBrk="0" hangingPunct="1"/>
                      <a:r>
                        <a:rPr lang="en-US" sz="1600" kern="1200" dirty="0">
                          <a:solidFill>
                            <a:schemeClr val="tx1"/>
                          </a:solidFill>
                          <a:latin typeface="+mn-lt"/>
                          <a:ea typeface="+mn-ea"/>
                          <a:cs typeface="+mn-cs"/>
                        </a:rPr>
                        <a:t>Math</a:t>
                      </a:r>
                      <a:r>
                        <a:rPr lang="en-US" sz="1600" kern="1200" baseline="0" dirty="0">
                          <a:solidFill>
                            <a:schemeClr val="tx1"/>
                          </a:solidFill>
                          <a:latin typeface="+mn-lt"/>
                          <a:ea typeface="+mn-ea"/>
                          <a:cs typeface="+mn-cs"/>
                        </a:rPr>
                        <a:t> </a:t>
                      </a:r>
                      <a:endParaRPr lang="en-US" sz="1600" kern="1200" dirty="0">
                        <a:solidFill>
                          <a:schemeClr val="tx1"/>
                        </a:solidFill>
                        <a:latin typeface="+mn-lt"/>
                        <a:ea typeface="+mn-ea"/>
                        <a:cs typeface="+mn-cs"/>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marL="0" algn="ctr" defTabSz="914400" rtl="0" eaLnBrk="1" fontAlgn="b" latinLnBrk="0" hangingPunct="1"/>
                      <a:endParaRPr lang="en-US" sz="1600" kern="1200" dirty="0">
                        <a:solidFill>
                          <a:schemeClr val="tx1"/>
                        </a:solidFill>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sz="1600" kern="1200" dirty="0">
                          <a:solidFill>
                            <a:schemeClr val="tx1"/>
                          </a:solidFill>
                          <a:latin typeface="+mn-lt"/>
                          <a:ea typeface="+mn-ea"/>
                          <a:cs typeface="+mn-cs"/>
                        </a:rPr>
                        <a:t>0</a:t>
                      </a:r>
                    </a:p>
                  </a:txBody>
                  <a:tcPr marL="7620" marR="7620" marT="7620" marB="0" anchor="b">
                    <a:lnL w="12700" cap="flat" cmpd="sng" algn="ctr">
                      <a:solidFill>
                        <a:schemeClr val="tx1"/>
                      </a:solidFill>
                      <a:prstDash val="solid"/>
                      <a:round/>
                      <a:headEnd type="none" w="med" len="med"/>
                      <a:tailEnd type="none" w="med" len="med"/>
                    </a:lnL>
                  </a:tcPr>
                </a:tc>
                <a:tc>
                  <a:txBody>
                    <a:bodyPr/>
                    <a:lstStyle/>
                    <a:p>
                      <a:pPr marL="0" algn="ctr" defTabSz="914400" rtl="0" eaLnBrk="1" fontAlgn="b" latinLnBrk="0" hangingPunct="1"/>
                      <a:r>
                        <a:rPr lang="en-US" sz="1600" kern="1200" dirty="0">
                          <a:solidFill>
                            <a:schemeClr val="tx1"/>
                          </a:solidFill>
                          <a:latin typeface="+mn-lt"/>
                          <a:ea typeface="+mn-ea"/>
                          <a:cs typeface="+mn-cs"/>
                        </a:rPr>
                        <a:t>1</a:t>
                      </a:r>
                    </a:p>
                  </a:txBody>
                  <a:tcPr marL="7620" marR="7620" marT="7620" marB="0" anchor="b"/>
                </a:tc>
                <a:extLst>
                  <a:ext uri="{0D108BD9-81ED-4DB2-BD59-A6C34878D82A}">
                    <a16:rowId xmlns:a16="http://schemas.microsoft.com/office/drawing/2014/main" val="3407306074"/>
                  </a:ext>
                </a:extLst>
              </a:tr>
              <a:tr h="370840">
                <a:tc>
                  <a:txBody>
                    <a:bodyPr/>
                    <a:lstStyle/>
                    <a:p>
                      <a:pPr algn="ctr"/>
                      <a:r>
                        <a:rPr lang="en-US" sz="1600" dirty="0"/>
                        <a:t>3</a:t>
                      </a:r>
                    </a:p>
                  </a:txBody>
                  <a:tcPr/>
                </a:tc>
                <a:tc>
                  <a:txBody>
                    <a:bodyPr/>
                    <a:lstStyle/>
                    <a:p>
                      <a:pPr marL="0" algn="ctr" defTabSz="914400" rtl="0" eaLnBrk="1" fontAlgn="b" latinLnBrk="0" hangingPunct="1"/>
                      <a:r>
                        <a:rPr lang="en-US" sz="1600" kern="1200" dirty="0">
                          <a:solidFill>
                            <a:schemeClr val="tx1"/>
                          </a:solidFill>
                          <a:latin typeface="+mn-lt"/>
                          <a:ea typeface="+mn-ea"/>
                          <a:cs typeface="+mn-cs"/>
                        </a:rPr>
                        <a:t>Science</a:t>
                      </a:r>
                    </a:p>
                  </a:txBody>
                  <a:tcPr marL="7620" marR="7620" marT="7620" marB="0" anchor="b">
                    <a:lnR w="12700" cap="flat" cmpd="sng" algn="ctr">
                      <a:solidFill>
                        <a:schemeClr val="tx1"/>
                      </a:solidFill>
                      <a:prstDash val="solid"/>
                      <a:round/>
                      <a:headEnd type="none" w="med" len="med"/>
                      <a:tailEnd type="none" w="med" len="med"/>
                    </a:lnR>
                  </a:tcPr>
                </a:tc>
                <a:tc>
                  <a:txBody>
                    <a:bodyPr/>
                    <a:lstStyle/>
                    <a:p>
                      <a:pPr marL="0" algn="ctr" defTabSz="914400" rtl="0" eaLnBrk="1" fontAlgn="b" latinLnBrk="0" hangingPunct="1"/>
                      <a:endParaRPr lang="en-US" sz="1600" kern="1200" dirty="0">
                        <a:solidFill>
                          <a:schemeClr val="tx1"/>
                        </a:solidFill>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sz="1600" kern="1200" dirty="0">
                          <a:solidFill>
                            <a:schemeClr val="tx1"/>
                          </a:solidFill>
                          <a:latin typeface="+mn-lt"/>
                          <a:ea typeface="+mn-ea"/>
                          <a:cs typeface="+mn-cs"/>
                        </a:rPr>
                        <a:t>1</a:t>
                      </a:r>
                    </a:p>
                  </a:txBody>
                  <a:tcPr marL="7620" marR="7620" marT="7620" marB="0" anchor="b">
                    <a:lnL w="12700" cap="flat" cmpd="sng" algn="ctr">
                      <a:solidFill>
                        <a:schemeClr val="tx1"/>
                      </a:solidFill>
                      <a:prstDash val="solid"/>
                      <a:round/>
                      <a:headEnd type="none" w="med" len="med"/>
                      <a:tailEnd type="none" w="med" len="med"/>
                    </a:lnL>
                  </a:tcPr>
                </a:tc>
                <a:tc>
                  <a:txBody>
                    <a:bodyPr/>
                    <a:lstStyle/>
                    <a:p>
                      <a:pPr marL="0" algn="ctr" defTabSz="914400" rtl="0" eaLnBrk="1" fontAlgn="b" latinLnBrk="0" hangingPunct="1"/>
                      <a:r>
                        <a:rPr lang="en-US" sz="1600" kern="1200" dirty="0">
                          <a:solidFill>
                            <a:schemeClr val="tx1"/>
                          </a:solidFill>
                          <a:latin typeface="+mn-lt"/>
                          <a:ea typeface="+mn-ea"/>
                          <a:cs typeface="+mn-cs"/>
                        </a:rPr>
                        <a:t>0</a:t>
                      </a:r>
                    </a:p>
                  </a:txBody>
                  <a:tcPr marL="7620" marR="7620" marT="7620" marB="0" anchor="b"/>
                </a:tc>
                <a:extLst>
                  <a:ext uri="{0D108BD9-81ED-4DB2-BD59-A6C34878D82A}">
                    <a16:rowId xmlns:a16="http://schemas.microsoft.com/office/drawing/2014/main" val="2288783567"/>
                  </a:ext>
                </a:extLst>
              </a:tr>
              <a:tr h="370840">
                <a:tc>
                  <a:txBody>
                    <a:bodyPr/>
                    <a:lstStyle/>
                    <a:p>
                      <a:pPr algn="ctr"/>
                      <a:r>
                        <a:rPr lang="en-US" sz="1600" dirty="0"/>
                        <a:t>4</a:t>
                      </a:r>
                    </a:p>
                  </a:txBody>
                  <a:tcPr/>
                </a:tc>
                <a:tc>
                  <a:txBody>
                    <a:bodyPr/>
                    <a:lstStyle/>
                    <a:p>
                      <a:pPr marL="0" algn="ctr" defTabSz="914400" rtl="0" eaLnBrk="1" fontAlgn="b" latinLnBrk="0" hangingPunct="1"/>
                      <a:r>
                        <a:rPr lang="en-US" sz="1600" kern="1200" dirty="0">
                          <a:solidFill>
                            <a:schemeClr val="tx1"/>
                          </a:solidFill>
                          <a:latin typeface="+mn-lt"/>
                          <a:ea typeface="+mn-ea"/>
                          <a:cs typeface="+mn-cs"/>
                        </a:rPr>
                        <a:t>Language</a:t>
                      </a:r>
                      <a:r>
                        <a:rPr lang="en-US" sz="1600" kern="1200" baseline="0" dirty="0">
                          <a:solidFill>
                            <a:schemeClr val="tx1"/>
                          </a:solidFill>
                          <a:latin typeface="+mn-lt"/>
                          <a:ea typeface="+mn-ea"/>
                          <a:cs typeface="+mn-cs"/>
                        </a:rPr>
                        <a:t> </a:t>
                      </a:r>
                      <a:endParaRPr lang="en-US" sz="1600" kern="1200" dirty="0">
                        <a:solidFill>
                          <a:schemeClr val="tx1"/>
                        </a:solidFill>
                        <a:latin typeface="+mn-lt"/>
                        <a:ea typeface="+mn-ea"/>
                        <a:cs typeface="+mn-cs"/>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marL="0" algn="ctr" defTabSz="914400" rtl="0" eaLnBrk="1" fontAlgn="b" latinLnBrk="0" hangingPunct="1"/>
                      <a:endParaRPr lang="en-US" sz="1600" kern="1200" dirty="0">
                        <a:solidFill>
                          <a:schemeClr val="tx1"/>
                        </a:solidFill>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sz="1600" kern="1200" dirty="0">
                          <a:solidFill>
                            <a:schemeClr val="tx1"/>
                          </a:solidFill>
                          <a:latin typeface="+mn-lt"/>
                          <a:ea typeface="+mn-ea"/>
                          <a:cs typeface="+mn-cs"/>
                        </a:rPr>
                        <a:t>0</a:t>
                      </a:r>
                    </a:p>
                  </a:txBody>
                  <a:tcPr marL="7620" marR="7620" marT="7620" marB="0" anchor="b">
                    <a:lnL w="12700" cap="flat" cmpd="sng" algn="ctr">
                      <a:solidFill>
                        <a:schemeClr val="tx1"/>
                      </a:solidFill>
                      <a:prstDash val="solid"/>
                      <a:round/>
                      <a:headEnd type="none" w="med" len="med"/>
                      <a:tailEnd type="none" w="med" len="med"/>
                    </a:lnL>
                  </a:tcPr>
                </a:tc>
                <a:tc>
                  <a:txBody>
                    <a:bodyPr/>
                    <a:lstStyle/>
                    <a:p>
                      <a:pPr marL="0" algn="ctr" defTabSz="914400" rtl="0" eaLnBrk="1" fontAlgn="b" latinLnBrk="0" hangingPunct="1"/>
                      <a:r>
                        <a:rPr lang="en-US" sz="1600" kern="1200" dirty="0">
                          <a:solidFill>
                            <a:schemeClr val="tx1"/>
                          </a:solidFill>
                          <a:latin typeface="+mn-lt"/>
                          <a:ea typeface="+mn-ea"/>
                          <a:cs typeface="+mn-cs"/>
                        </a:rPr>
                        <a:t>0</a:t>
                      </a:r>
                    </a:p>
                  </a:txBody>
                  <a:tcPr marL="7620" marR="7620" marT="7620" marB="0" anchor="b"/>
                </a:tc>
                <a:extLst>
                  <a:ext uri="{0D108BD9-81ED-4DB2-BD59-A6C34878D82A}">
                    <a16:rowId xmlns:a16="http://schemas.microsoft.com/office/drawing/2014/main" val="1262419552"/>
                  </a:ext>
                </a:extLst>
              </a:tr>
              <a:tr h="370840">
                <a:tc>
                  <a:txBody>
                    <a:bodyPr/>
                    <a:lstStyle/>
                    <a:p>
                      <a:pPr algn="ctr"/>
                      <a:r>
                        <a:rPr lang="en-US" sz="1600" dirty="0"/>
                        <a:t>5</a:t>
                      </a:r>
                    </a:p>
                  </a:txBody>
                  <a:tcPr/>
                </a:tc>
                <a:tc>
                  <a:txBody>
                    <a:bodyPr/>
                    <a:lstStyle/>
                    <a:p>
                      <a:pPr marL="0" algn="ctr" defTabSz="914400" rtl="0" eaLnBrk="1" fontAlgn="b" latinLnBrk="0" hangingPunct="1"/>
                      <a:r>
                        <a:rPr lang="en-US" sz="1600" kern="1200" dirty="0">
                          <a:solidFill>
                            <a:schemeClr val="tx1"/>
                          </a:solidFill>
                          <a:latin typeface="+mn-lt"/>
                          <a:ea typeface="+mn-ea"/>
                          <a:cs typeface="+mn-cs"/>
                        </a:rPr>
                        <a:t>Math </a:t>
                      </a:r>
                    </a:p>
                  </a:txBody>
                  <a:tcPr marL="7620" marR="7620" marT="7620" marB="0" anchor="b">
                    <a:lnR w="12700" cap="flat" cmpd="sng" algn="ctr">
                      <a:solidFill>
                        <a:schemeClr val="tx1"/>
                      </a:solidFill>
                      <a:prstDash val="solid"/>
                      <a:round/>
                      <a:headEnd type="none" w="med" len="med"/>
                      <a:tailEnd type="none" w="med" len="med"/>
                    </a:lnR>
                  </a:tcPr>
                </a:tc>
                <a:tc>
                  <a:txBody>
                    <a:bodyPr/>
                    <a:lstStyle/>
                    <a:p>
                      <a:pPr marL="0" algn="ctr" defTabSz="914400" rtl="0" eaLnBrk="1" fontAlgn="b" latinLnBrk="0" hangingPunct="1"/>
                      <a:endParaRPr lang="en-US" sz="1600" kern="1200" dirty="0">
                        <a:solidFill>
                          <a:schemeClr val="tx1"/>
                        </a:solidFill>
                        <a:latin typeface="+mn-lt"/>
                        <a:ea typeface="+mn-ea"/>
                        <a:cs typeface="+mn-cs"/>
                      </a:endParaRP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6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b" latinLnBrk="0" hangingPunct="1"/>
                      <a:r>
                        <a:rPr lang="en-US" sz="1600" kern="1200" dirty="0">
                          <a:solidFill>
                            <a:schemeClr val="tx1"/>
                          </a:solidFill>
                          <a:latin typeface="+mn-lt"/>
                          <a:ea typeface="+mn-ea"/>
                          <a:cs typeface="+mn-cs"/>
                        </a:rPr>
                        <a:t>0</a:t>
                      </a:r>
                    </a:p>
                  </a:txBody>
                  <a:tcPr marL="7620" marR="7620" marT="7620" marB="0" anchor="b">
                    <a:lnL w="12700" cap="flat" cmpd="sng" algn="ctr">
                      <a:solidFill>
                        <a:schemeClr val="tx1"/>
                      </a:solidFill>
                      <a:prstDash val="solid"/>
                      <a:round/>
                      <a:headEnd type="none" w="med" len="med"/>
                      <a:tailEnd type="none" w="med" len="med"/>
                    </a:lnL>
                  </a:tcPr>
                </a:tc>
                <a:tc>
                  <a:txBody>
                    <a:bodyPr/>
                    <a:lstStyle/>
                    <a:p>
                      <a:pPr marL="0" algn="ctr" defTabSz="914400" rtl="0" eaLnBrk="1" fontAlgn="b" latinLnBrk="0" hangingPunct="1"/>
                      <a:r>
                        <a:rPr lang="en-US" sz="1600" kern="1200" dirty="0">
                          <a:solidFill>
                            <a:schemeClr val="tx1"/>
                          </a:solidFill>
                          <a:latin typeface="+mn-lt"/>
                          <a:ea typeface="+mn-ea"/>
                          <a:cs typeface="+mn-cs"/>
                        </a:rPr>
                        <a:t>1</a:t>
                      </a:r>
                    </a:p>
                  </a:txBody>
                  <a:tcPr marL="7620" marR="7620" marT="7620" marB="0" anchor="b"/>
                </a:tc>
                <a:extLst>
                  <a:ext uri="{0D108BD9-81ED-4DB2-BD59-A6C34878D82A}">
                    <a16:rowId xmlns:a16="http://schemas.microsoft.com/office/drawing/2014/main" val="3387342325"/>
                  </a:ext>
                </a:extLst>
              </a:tr>
            </a:tbl>
          </a:graphicData>
        </a:graphic>
      </p:graphicFrame>
      <p:sp>
        <p:nvSpPr>
          <p:cNvPr id="6" name="TextBox 5"/>
          <p:cNvSpPr txBox="1"/>
          <p:nvPr/>
        </p:nvSpPr>
        <p:spPr>
          <a:xfrm>
            <a:off x="8236527" y="2709561"/>
            <a:ext cx="2895600" cy="1200329"/>
          </a:xfrm>
          <a:prstGeom prst="rect">
            <a:avLst/>
          </a:prstGeom>
          <a:noFill/>
        </p:spPr>
        <p:txBody>
          <a:bodyPr wrap="square" rtlCol="0">
            <a:spAutoFit/>
          </a:bodyPr>
          <a:lstStyle/>
          <a:p>
            <a:r>
              <a:rPr lang="en-US" sz="2400" dirty="0">
                <a:solidFill>
                  <a:srgbClr val="C00000"/>
                </a:solidFill>
              </a:rPr>
              <a:t>Remove dependent variable</a:t>
            </a:r>
          </a:p>
          <a:p>
            <a:r>
              <a:rPr lang="en-US" sz="2400" dirty="0">
                <a:solidFill>
                  <a:srgbClr val="C00000"/>
                </a:solidFill>
              </a:rPr>
              <a:t>Recall: </a:t>
            </a:r>
            <a:r>
              <a:rPr lang="en-US" sz="2400" dirty="0" err="1">
                <a:solidFill>
                  <a:srgbClr val="C00000"/>
                </a:solidFill>
              </a:rPr>
              <a:t>i.i.d</a:t>
            </a:r>
            <a:r>
              <a:rPr lang="en-US" sz="2400" dirty="0">
                <a:solidFill>
                  <a:srgbClr val="C00000"/>
                </a:solidFill>
              </a:rPr>
              <a:t>.</a:t>
            </a:r>
          </a:p>
        </p:txBody>
      </p:sp>
      <p:sp>
        <p:nvSpPr>
          <p:cNvPr id="8" name="Rectangle 7"/>
          <p:cNvSpPr/>
          <p:nvPr/>
        </p:nvSpPr>
        <p:spPr>
          <a:xfrm>
            <a:off x="533400" y="1009733"/>
            <a:ext cx="11083636" cy="2238049"/>
          </a:xfrm>
          <a:prstGeom prst="rect">
            <a:avLst/>
          </a:prstGeom>
        </p:spPr>
        <p:txBody>
          <a:bodyPr wrap="square">
            <a:spAutoFit/>
          </a:bodyPr>
          <a:lstStyle/>
          <a:p>
            <a:pPr marL="342900" indent="-342900">
              <a:lnSpc>
                <a:spcPct val="114000"/>
              </a:lnSpc>
              <a:spcBef>
                <a:spcPts val="1200"/>
              </a:spcBef>
              <a:buSzPct val="100000"/>
              <a:buFont typeface="Arial" panose="020B0604020202020204" pitchFamily="34" charset="0"/>
              <a:buChar char="•"/>
            </a:pPr>
            <a:r>
              <a:rPr lang="en-US" sz="2400" b="1" dirty="0">
                <a:solidFill>
                  <a:schemeClr val="tx1">
                    <a:lumMod val="75000"/>
                    <a:lumOff val="25000"/>
                  </a:schemeClr>
                </a:solidFill>
                <a:latin typeface="+mj-lt"/>
                <a:cs typeface="Calibri Light" panose="020F0302020204030204" pitchFamily="34" charset="0"/>
              </a:rPr>
              <a:t>Example: </a:t>
            </a:r>
          </a:p>
          <a:p>
            <a:pPr marL="342900" indent="-342900">
              <a:lnSpc>
                <a:spcPct val="114000"/>
              </a:lnSpc>
              <a:spcBef>
                <a:spcPts val="1200"/>
              </a:spcBef>
              <a:buSzPct val="100000"/>
              <a:buFont typeface="Arial" panose="020B0604020202020204" pitchFamily="34" charset="0"/>
              <a:buChar char="•"/>
            </a:pPr>
            <a:r>
              <a:rPr lang="en-US" sz="2400" dirty="0">
                <a:solidFill>
                  <a:schemeClr val="tx1">
                    <a:lumMod val="75000"/>
                    <a:lumOff val="25000"/>
                  </a:schemeClr>
                </a:solidFill>
                <a:latin typeface="+mj-lt"/>
                <a:cs typeface="Calibri Light" panose="020F0302020204030204" pitchFamily="34" charset="0"/>
              </a:rPr>
              <a:t>Science = 1 &amp; Math = 0, then Language = 0</a:t>
            </a:r>
          </a:p>
          <a:p>
            <a:pPr marL="342900" indent="-342900">
              <a:lnSpc>
                <a:spcPct val="114000"/>
              </a:lnSpc>
              <a:spcBef>
                <a:spcPts val="1200"/>
              </a:spcBef>
              <a:buSzPct val="100000"/>
              <a:buFont typeface="Arial" panose="020B0604020202020204" pitchFamily="34" charset="0"/>
              <a:buChar char="•"/>
            </a:pPr>
            <a:r>
              <a:rPr lang="en-US" sz="2400" dirty="0">
                <a:solidFill>
                  <a:schemeClr val="tx1">
                    <a:lumMod val="75000"/>
                    <a:lumOff val="25000"/>
                  </a:schemeClr>
                </a:solidFill>
                <a:latin typeface="+mj-lt"/>
                <a:cs typeface="Calibri Light" panose="020F0302020204030204" pitchFamily="34" charset="0"/>
              </a:rPr>
              <a:t>Science = 0 and Math = 1, then Language = 0</a:t>
            </a:r>
          </a:p>
          <a:p>
            <a:pPr marL="342900" indent="-342900">
              <a:lnSpc>
                <a:spcPct val="114000"/>
              </a:lnSpc>
              <a:spcBef>
                <a:spcPts val="1200"/>
              </a:spcBef>
              <a:buSzPct val="100000"/>
              <a:buFont typeface="Arial" panose="020B0604020202020204" pitchFamily="34" charset="0"/>
              <a:buChar char="•"/>
            </a:pPr>
            <a:r>
              <a:rPr lang="en-US" sz="2400" dirty="0">
                <a:solidFill>
                  <a:schemeClr val="tx1">
                    <a:lumMod val="75000"/>
                    <a:lumOff val="25000"/>
                  </a:schemeClr>
                </a:solidFill>
                <a:cs typeface="Calibri Light" panose="020F0302020204030204" pitchFamily="34" charset="0"/>
              </a:rPr>
              <a:t>Science = 0 and Math = 0, then Language = 1</a:t>
            </a:r>
            <a:endParaRPr lang="en-US" sz="2400" dirty="0">
              <a:solidFill>
                <a:schemeClr val="tx1">
                  <a:lumMod val="75000"/>
                  <a:lumOff val="25000"/>
                </a:schemeClr>
              </a:solidFill>
              <a:latin typeface="+mj-lt"/>
              <a:cs typeface="Calibri Light" panose="020F0302020204030204" pitchFamily="34" charset="0"/>
            </a:endParaRPr>
          </a:p>
        </p:txBody>
      </p:sp>
      <mc:AlternateContent xmlns:mc="http://schemas.openxmlformats.org/markup-compatibility/2006" xmlns:a14="http://schemas.microsoft.com/office/drawing/2010/main">
        <mc:Choice Requires="a14">
          <p:sp>
            <p:nvSpPr>
              <p:cNvPr id="9" name="TextBox 8"/>
              <p:cNvSpPr txBox="1"/>
              <p:nvPr/>
            </p:nvSpPr>
            <p:spPr>
              <a:xfrm>
                <a:off x="8019472" y="4317345"/>
                <a:ext cx="3791527" cy="1509259"/>
              </a:xfrm>
              <a:prstGeom prst="rect">
                <a:avLst/>
              </a:prstGeom>
              <a:noFill/>
            </p:spPr>
            <p:txBody>
              <a:bodyPr wrap="square" rtlCol="0">
                <a:spAutoFit/>
              </a:bodyPr>
              <a:lstStyle/>
              <a:p>
                <a:pPr marL="342900" indent="-342900">
                  <a:lnSpc>
                    <a:spcPct val="114000"/>
                  </a:lnSpc>
                  <a:spcBef>
                    <a:spcPts val="1200"/>
                  </a:spcBef>
                  <a:buSzPct val="100000"/>
                  <a:buFont typeface="Arial" panose="020B0604020202020204" pitchFamily="34" charset="0"/>
                  <a:buChar char="•"/>
                </a:pPr>
                <a14:m>
                  <m:oMath xmlns:m="http://schemas.openxmlformats.org/officeDocument/2006/math">
                    <m:r>
                      <a:rPr lang="en-US" sz="2400" i="1" dirty="0" smtClean="0">
                        <a:solidFill>
                          <a:schemeClr val="tx1">
                            <a:lumMod val="75000"/>
                            <a:lumOff val="25000"/>
                          </a:schemeClr>
                        </a:solidFill>
                        <a:latin typeface="Cambria Math" panose="02040503050406030204" pitchFamily="18" charset="0"/>
                        <a:cs typeface="Calibri Light" panose="020F0302020204030204" pitchFamily="34" charset="0"/>
                      </a:rPr>
                      <m:t>𝑘</m:t>
                    </m:r>
                  </m:oMath>
                </a14:m>
                <a:r>
                  <a:rPr lang="en-US" sz="2400" dirty="0">
                    <a:solidFill>
                      <a:schemeClr val="tx1">
                        <a:lumMod val="75000"/>
                        <a:lumOff val="25000"/>
                      </a:schemeClr>
                    </a:solidFill>
                    <a:latin typeface="+mj-lt"/>
                    <a:cs typeface="Calibri Light" panose="020F0302020204030204" pitchFamily="34" charset="0"/>
                  </a:rPr>
                  <a:t> categories</a:t>
                </a:r>
              </a:p>
              <a:p>
                <a:pPr marL="342900" indent="-342900">
                  <a:lnSpc>
                    <a:spcPct val="114000"/>
                  </a:lnSpc>
                  <a:spcBef>
                    <a:spcPts val="1200"/>
                  </a:spcBef>
                  <a:buSzPct val="100000"/>
                  <a:buFont typeface="Arial" panose="020B0604020202020204" pitchFamily="34" charset="0"/>
                  <a:buChar char="•"/>
                </a:pPr>
                <a14:m>
                  <m:oMath xmlns:m="http://schemas.openxmlformats.org/officeDocument/2006/math">
                    <m:r>
                      <a:rPr lang="en-US" sz="2400" i="1" dirty="0" smtClean="0">
                        <a:solidFill>
                          <a:schemeClr val="tx1">
                            <a:lumMod val="75000"/>
                            <a:lumOff val="25000"/>
                          </a:schemeClr>
                        </a:solidFill>
                        <a:latin typeface="Cambria Math" panose="02040503050406030204" pitchFamily="18" charset="0"/>
                        <a:cs typeface="Calibri Light" panose="020F0302020204030204" pitchFamily="34" charset="0"/>
                      </a:rPr>
                      <m:t>𝑘</m:t>
                    </m:r>
                    <m:r>
                      <a:rPr lang="en-US" sz="2400" i="1" dirty="0" smtClean="0">
                        <a:solidFill>
                          <a:schemeClr val="tx1">
                            <a:lumMod val="75000"/>
                            <a:lumOff val="25000"/>
                          </a:schemeClr>
                        </a:solidFill>
                        <a:latin typeface="Cambria Math" panose="02040503050406030204" pitchFamily="18" charset="0"/>
                        <a:cs typeface="Calibri Light" panose="020F0302020204030204" pitchFamily="34" charset="0"/>
                      </a:rPr>
                      <m:t>−1</m:t>
                    </m:r>
                  </m:oMath>
                </a14:m>
                <a:r>
                  <a:rPr lang="en-US" sz="2400" dirty="0">
                    <a:solidFill>
                      <a:schemeClr val="tx1">
                        <a:lumMod val="75000"/>
                        <a:lumOff val="25000"/>
                      </a:schemeClr>
                    </a:solidFill>
                    <a:latin typeface="+mj-lt"/>
                    <a:cs typeface="Calibri Light" panose="020F0302020204030204" pitchFamily="34" charset="0"/>
                  </a:rPr>
                  <a:t> dummy binary (0,1) variables</a:t>
                </a:r>
              </a:p>
            </p:txBody>
          </p:sp>
        </mc:Choice>
        <mc:Fallback xmlns="">
          <p:sp>
            <p:nvSpPr>
              <p:cNvPr id="9" name="TextBox 8"/>
              <p:cNvSpPr txBox="1">
                <a:spLocks noRot="1" noChangeAspect="1" noMove="1" noResize="1" noEditPoints="1" noAdjustHandles="1" noChangeArrowheads="1" noChangeShapeType="1" noTextEdit="1"/>
              </p:cNvSpPr>
              <p:nvPr/>
            </p:nvSpPr>
            <p:spPr>
              <a:xfrm>
                <a:off x="8019472" y="4317345"/>
                <a:ext cx="3791527" cy="1509259"/>
              </a:xfrm>
              <a:prstGeom prst="rect">
                <a:avLst/>
              </a:prstGeom>
              <a:blipFill>
                <a:blip r:embed="rId3"/>
                <a:stretch>
                  <a:fillRect l="-2254" t="-1613" r="-2576" b="-6452"/>
                </a:stretch>
              </a:blipFill>
            </p:spPr>
            <p:txBody>
              <a:bodyPr/>
              <a:lstStyle/>
              <a:p>
                <a:r>
                  <a:rPr lang="en-US">
                    <a:noFill/>
                  </a:rPr>
                  <a:t> </a:t>
                </a:r>
              </a:p>
            </p:txBody>
          </p:sp>
        </mc:Fallback>
      </mc:AlternateContent>
      <p:sp>
        <p:nvSpPr>
          <p:cNvPr id="10" name="Footer Placeholder 1">
            <a:extLst>
              <a:ext uri="{FF2B5EF4-FFF2-40B4-BE49-F238E27FC236}">
                <a16:creationId xmlns:a16="http://schemas.microsoft.com/office/drawing/2014/main" id="{3DD78DF9-74E1-4B3B-A73A-AB7FCCBA53C1}"/>
              </a:ext>
            </a:extLst>
          </p:cNvPr>
          <p:cNvSpPr txBox="1">
            <a:spLocks/>
          </p:cNvSpPr>
          <p:nvPr/>
        </p:nvSpPr>
        <p:spPr>
          <a:xfrm>
            <a:off x="8534400" y="6477000"/>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EVE310 Fall 2025 Lab 5</a:t>
            </a:r>
          </a:p>
        </p:txBody>
      </p:sp>
    </p:spTree>
    <p:extLst>
      <p:ext uri="{BB962C8B-B14F-4D97-AF65-F5344CB8AC3E}">
        <p14:creationId xmlns:p14="http://schemas.microsoft.com/office/powerpoint/2010/main" val="603792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 application&#10;&#10;Description automatically generated">
            <a:extLst>
              <a:ext uri="{FF2B5EF4-FFF2-40B4-BE49-F238E27FC236}">
                <a16:creationId xmlns:a16="http://schemas.microsoft.com/office/drawing/2014/main" id="{4569C73B-771C-ED46-93C0-55C467C9B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4471" y="1423587"/>
            <a:ext cx="6223000" cy="2832100"/>
          </a:xfrm>
          <a:prstGeom prst="rect">
            <a:avLst/>
          </a:prstGeom>
        </p:spPr>
      </p:pic>
      <p:sp>
        <p:nvSpPr>
          <p:cNvPr id="3" name="Slide Number Placeholder 2"/>
          <p:cNvSpPr>
            <a:spLocks noGrp="1"/>
          </p:cNvSpPr>
          <p:nvPr>
            <p:ph type="sldNum" sz="quarter" idx="12"/>
          </p:nvPr>
        </p:nvSpPr>
        <p:spPr/>
        <p:txBody>
          <a:bodyPr/>
          <a:lstStyle/>
          <a:p>
            <a:fld id="{2E8848B6-D328-4CC8-99C6-D5689AE94DF4}" type="slidenum">
              <a:rPr lang="en-US" smtClean="0"/>
              <a:t>18</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Introduce Dummy Variables</a:t>
            </a:r>
          </a:p>
        </p:txBody>
      </p:sp>
      <p:sp>
        <p:nvSpPr>
          <p:cNvPr id="11" name="TextBox 10">
            <a:extLst>
              <a:ext uri="{FF2B5EF4-FFF2-40B4-BE49-F238E27FC236}">
                <a16:creationId xmlns:a16="http://schemas.microsoft.com/office/drawing/2014/main" id="{BB65F43B-9545-4DF4-AC8E-72E5F69719B9}"/>
              </a:ext>
            </a:extLst>
          </p:cNvPr>
          <p:cNvSpPr txBox="1"/>
          <p:nvPr/>
        </p:nvSpPr>
        <p:spPr>
          <a:xfrm>
            <a:off x="571500" y="915755"/>
            <a:ext cx="5715000" cy="369332"/>
          </a:xfrm>
          <a:prstGeom prst="rect">
            <a:avLst/>
          </a:prstGeom>
          <a:noFill/>
        </p:spPr>
        <p:txBody>
          <a:bodyPr wrap="square" rtlCol="0">
            <a:spAutoFit/>
          </a:bodyPr>
          <a:lstStyle/>
          <a:p>
            <a:r>
              <a:rPr lang="en-US" dirty="0"/>
              <a:t>Step 2: Use 1-Hot encoding to create dummy variables </a:t>
            </a:r>
          </a:p>
        </p:txBody>
      </p:sp>
      <p:pic>
        <p:nvPicPr>
          <p:cNvPr id="10" name="Picture 9">
            <a:extLst>
              <a:ext uri="{FF2B5EF4-FFF2-40B4-BE49-F238E27FC236}">
                <a16:creationId xmlns:a16="http://schemas.microsoft.com/office/drawing/2014/main" id="{7913982D-84F8-4B04-8328-B22759276EAD}"/>
              </a:ext>
            </a:extLst>
          </p:cNvPr>
          <p:cNvPicPr>
            <a:picLocks noChangeAspect="1"/>
          </p:cNvPicPr>
          <p:nvPr/>
        </p:nvPicPr>
        <p:blipFill>
          <a:blip r:embed="rId4"/>
          <a:stretch>
            <a:fillRect/>
          </a:stretch>
        </p:blipFill>
        <p:spPr>
          <a:xfrm>
            <a:off x="8229600" y="1905000"/>
            <a:ext cx="1623160" cy="3852065"/>
          </a:xfrm>
          <a:prstGeom prst="rect">
            <a:avLst/>
          </a:prstGeom>
        </p:spPr>
      </p:pic>
      <p:pic>
        <p:nvPicPr>
          <p:cNvPr id="13" name="Picture 12">
            <a:extLst>
              <a:ext uri="{FF2B5EF4-FFF2-40B4-BE49-F238E27FC236}">
                <a16:creationId xmlns:a16="http://schemas.microsoft.com/office/drawing/2014/main" id="{FC6731A5-39A4-4D58-997C-B033D1582832}"/>
              </a:ext>
            </a:extLst>
          </p:cNvPr>
          <p:cNvPicPr>
            <a:picLocks noChangeAspect="1"/>
          </p:cNvPicPr>
          <p:nvPr/>
        </p:nvPicPr>
        <p:blipFill>
          <a:blip r:embed="rId5"/>
          <a:stretch>
            <a:fillRect/>
          </a:stretch>
        </p:blipFill>
        <p:spPr>
          <a:xfrm>
            <a:off x="571500" y="4572000"/>
            <a:ext cx="7239000" cy="1723724"/>
          </a:xfrm>
          <a:prstGeom prst="rect">
            <a:avLst/>
          </a:prstGeom>
        </p:spPr>
      </p:pic>
      <p:sp>
        <p:nvSpPr>
          <p:cNvPr id="14" name="Left Brace 13">
            <a:extLst>
              <a:ext uri="{FF2B5EF4-FFF2-40B4-BE49-F238E27FC236}">
                <a16:creationId xmlns:a16="http://schemas.microsoft.com/office/drawing/2014/main" id="{A6BF0BBA-5F66-492E-9D93-416553ACF93B}"/>
              </a:ext>
            </a:extLst>
          </p:cNvPr>
          <p:cNvSpPr/>
          <p:nvPr/>
        </p:nvSpPr>
        <p:spPr>
          <a:xfrm rot="5400000">
            <a:off x="8856514" y="1163181"/>
            <a:ext cx="369332" cy="1130300"/>
          </a:xfrm>
          <a:prstGeom prst="leftBrace">
            <a:avLst/>
          </a:prstGeom>
          <a:noFill/>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D62CFBA3-8C46-4C47-8F08-A9E117F34A3C}"/>
              </a:ext>
            </a:extLst>
          </p:cNvPr>
          <p:cNvSpPr txBox="1"/>
          <p:nvPr/>
        </p:nvSpPr>
        <p:spPr>
          <a:xfrm>
            <a:off x="8077200" y="777256"/>
            <a:ext cx="2165350" cy="646331"/>
          </a:xfrm>
          <a:prstGeom prst="rect">
            <a:avLst/>
          </a:prstGeom>
          <a:noFill/>
        </p:spPr>
        <p:txBody>
          <a:bodyPr wrap="square" rtlCol="0">
            <a:spAutoFit/>
          </a:bodyPr>
          <a:lstStyle/>
          <a:p>
            <a:r>
              <a:rPr lang="en-US" dirty="0">
                <a:solidFill>
                  <a:srgbClr val="FF0000"/>
                </a:solidFill>
              </a:rPr>
              <a:t>We only need 2 of the 3 columns</a:t>
            </a:r>
          </a:p>
        </p:txBody>
      </p:sp>
      <p:cxnSp>
        <p:nvCxnSpPr>
          <p:cNvPr id="17" name="Straight Arrow Connector 16">
            <a:extLst>
              <a:ext uri="{FF2B5EF4-FFF2-40B4-BE49-F238E27FC236}">
                <a16:creationId xmlns:a16="http://schemas.microsoft.com/office/drawing/2014/main" id="{6CAEBA5D-47D3-431B-91AE-CF70707FD2BE}"/>
              </a:ext>
            </a:extLst>
          </p:cNvPr>
          <p:cNvCxnSpPr>
            <a:cxnSpLocks/>
          </p:cNvCxnSpPr>
          <p:nvPr/>
        </p:nvCxnSpPr>
        <p:spPr>
          <a:xfrm>
            <a:off x="2743200" y="3886200"/>
            <a:ext cx="553685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Footer Placeholder 1">
            <a:extLst>
              <a:ext uri="{FF2B5EF4-FFF2-40B4-BE49-F238E27FC236}">
                <a16:creationId xmlns:a16="http://schemas.microsoft.com/office/drawing/2014/main" id="{E9DD811E-D978-474B-84B5-BD6EF7B0993A}"/>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114005977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logo&#10;&#10;Description automatically generated">
            <a:extLst>
              <a:ext uri="{FF2B5EF4-FFF2-40B4-BE49-F238E27FC236}">
                <a16:creationId xmlns:a16="http://schemas.microsoft.com/office/drawing/2014/main" id="{CB88142A-0DB2-BC44-BAD3-69DBEE4533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1012" y="924433"/>
            <a:ext cx="6206351" cy="1150918"/>
          </a:xfrm>
          <a:prstGeom prst="rect">
            <a:avLst/>
          </a:prstGeom>
        </p:spPr>
      </p:pic>
      <p:sp>
        <p:nvSpPr>
          <p:cNvPr id="3" name="Slide Number Placeholder 2"/>
          <p:cNvSpPr>
            <a:spLocks noGrp="1"/>
          </p:cNvSpPr>
          <p:nvPr>
            <p:ph type="sldNum" sz="quarter" idx="12"/>
          </p:nvPr>
        </p:nvSpPr>
        <p:spPr/>
        <p:txBody>
          <a:bodyPr/>
          <a:lstStyle/>
          <a:p>
            <a:fld id="{2E8848B6-D328-4CC8-99C6-D5689AE94DF4}" type="slidenum">
              <a:rPr lang="en-US" smtClean="0"/>
              <a:t>19</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Concatenate Dummy Variables with Continuous Variables</a:t>
            </a:r>
          </a:p>
        </p:txBody>
      </p:sp>
      <p:pic>
        <p:nvPicPr>
          <p:cNvPr id="9" name="Picture 8">
            <a:extLst>
              <a:ext uri="{FF2B5EF4-FFF2-40B4-BE49-F238E27FC236}">
                <a16:creationId xmlns:a16="http://schemas.microsoft.com/office/drawing/2014/main" id="{1843C85D-8D49-42D4-8D03-D537813FF8FD}"/>
              </a:ext>
            </a:extLst>
          </p:cNvPr>
          <p:cNvPicPr>
            <a:picLocks noChangeAspect="1"/>
          </p:cNvPicPr>
          <p:nvPr/>
        </p:nvPicPr>
        <p:blipFill rotWithShape="1">
          <a:blip r:embed="rId4"/>
          <a:srcRect t="1538"/>
          <a:stretch/>
        </p:blipFill>
        <p:spPr>
          <a:xfrm>
            <a:off x="2471012" y="2268460"/>
            <a:ext cx="1274802" cy="3276598"/>
          </a:xfrm>
          <a:prstGeom prst="rect">
            <a:avLst/>
          </a:prstGeom>
        </p:spPr>
      </p:pic>
      <p:sp>
        <p:nvSpPr>
          <p:cNvPr id="15" name="TextBox 14">
            <a:extLst>
              <a:ext uri="{FF2B5EF4-FFF2-40B4-BE49-F238E27FC236}">
                <a16:creationId xmlns:a16="http://schemas.microsoft.com/office/drawing/2014/main" id="{00B41572-7C90-4EBE-A2A2-294BBB3000AB}"/>
              </a:ext>
            </a:extLst>
          </p:cNvPr>
          <p:cNvSpPr txBox="1"/>
          <p:nvPr/>
        </p:nvSpPr>
        <p:spPr>
          <a:xfrm>
            <a:off x="5586544" y="2015179"/>
            <a:ext cx="2218040" cy="1200329"/>
          </a:xfrm>
          <a:prstGeom prst="rect">
            <a:avLst/>
          </a:prstGeom>
          <a:noFill/>
        </p:spPr>
        <p:txBody>
          <a:bodyPr wrap="square" rtlCol="0">
            <a:spAutoFit/>
          </a:bodyPr>
          <a:lstStyle/>
          <a:p>
            <a:r>
              <a:rPr lang="en-US" dirty="0">
                <a:solidFill>
                  <a:srgbClr val="FF0000"/>
                </a:solidFill>
              </a:rPr>
              <a:t>Use only the first and second columns of </a:t>
            </a:r>
            <a:r>
              <a:rPr lang="en-US" dirty="0" err="1">
                <a:solidFill>
                  <a:srgbClr val="FF0000"/>
                </a:solidFill>
              </a:rPr>
              <a:t>cat_array</a:t>
            </a:r>
            <a:r>
              <a:rPr lang="en-US" dirty="0">
                <a:solidFill>
                  <a:srgbClr val="FF0000"/>
                </a:solidFill>
              </a:rPr>
              <a:t>, not all 3 (see previous slide)</a:t>
            </a:r>
          </a:p>
        </p:txBody>
      </p:sp>
      <p:sp>
        <p:nvSpPr>
          <p:cNvPr id="21" name="TextBox 20">
            <a:extLst>
              <a:ext uri="{FF2B5EF4-FFF2-40B4-BE49-F238E27FC236}">
                <a16:creationId xmlns:a16="http://schemas.microsoft.com/office/drawing/2014/main" id="{8AFC8823-3CE3-4AF8-879C-71E9177D8031}"/>
              </a:ext>
            </a:extLst>
          </p:cNvPr>
          <p:cNvSpPr txBox="1"/>
          <p:nvPr/>
        </p:nvSpPr>
        <p:spPr>
          <a:xfrm>
            <a:off x="2438400" y="5866374"/>
            <a:ext cx="8153400" cy="369332"/>
          </a:xfrm>
          <a:prstGeom prst="rect">
            <a:avLst/>
          </a:prstGeom>
          <a:noFill/>
        </p:spPr>
        <p:txBody>
          <a:bodyPr wrap="square" rtlCol="0">
            <a:spAutoFit/>
          </a:bodyPr>
          <a:lstStyle/>
          <a:p>
            <a:r>
              <a:rPr lang="en-US" dirty="0">
                <a:solidFill>
                  <a:srgbClr val="FF0000"/>
                </a:solidFill>
              </a:rPr>
              <a:t>Here is an example of using indexing that we learned earlier in the class!</a:t>
            </a:r>
          </a:p>
        </p:txBody>
      </p:sp>
      <p:cxnSp>
        <p:nvCxnSpPr>
          <p:cNvPr id="13" name="Straight Arrow Connector 12">
            <a:extLst>
              <a:ext uri="{FF2B5EF4-FFF2-40B4-BE49-F238E27FC236}">
                <a16:creationId xmlns:a16="http://schemas.microsoft.com/office/drawing/2014/main" id="{DC6FA82E-BA68-9649-A9AE-D3FB09A67AD0}"/>
              </a:ext>
            </a:extLst>
          </p:cNvPr>
          <p:cNvCxnSpPr>
            <a:cxnSpLocks/>
          </p:cNvCxnSpPr>
          <p:nvPr/>
        </p:nvCxnSpPr>
        <p:spPr>
          <a:xfrm>
            <a:off x="6585386" y="1451495"/>
            <a:ext cx="0" cy="56368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Footer Placeholder 1">
            <a:extLst>
              <a:ext uri="{FF2B5EF4-FFF2-40B4-BE49-F238E27FC236}">
                <a16:creationId xmlns:a16="http://schemas.microsoft.com/office/drawing/2014/main" id="{4EFF991A-CA3D-4BF6-90DD-1B4BFCF22820}"/>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49914963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20</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fontScale="55000" lnSpcReduction="20000"/>
          </a:bodyPr>
          <a:lstStyle>
            <a:defPPr>
              <a:defRPr lang="en-US"/>
            </a:defPPr>
            <a:lvl1pPr marL="182880">
              <a:spcBef>
                <a:spcPct val="0"/>
              </a:spcBef>
              <a:buNone/>
              <a:defRPr sz="4000">
                <a:solidFill>
                  <a:schemeClr val="bg1"/>
                </a:solidFill>
                <a:latin typeface="+mj-lt"/>
                <a:ea typeface="+mj-ea"/>
                <a:cs typeface="+mj-cs"/>
              </a:defRPr>
            </a:lvl1pPr>
          </a:lstStyle>
          <a:p>
            <a:r>
              <a:rPr lang="en-US" dirty="0"/>
              <a:t>Repeat all previous steps with x-data which includes dummy variables for categorical variables</a:t>
            </a:r>
          </a:p>
        </p:txBody>
      </p:sp>
      <p:pic>
        <p:nvPicPr>
          <p:cNvPr id="7" name="Picture 6" descr="Chart, scatter chart&#10;&#10;Description automatically generated">
            <a:extLst>
              <a:ext uri="{FF2B5EF4-FFF2-40B4-BE49-F238E27FC236}">
                <a16:creationId xmlns:a16="http://schemas.microsoft.com/office/drawing/2014/main" id="{2706D45A-813D-D243-B4DA-CCEA3E0D5A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1605950"/>
            <a:ext cx="4025900" cy="3797300"/>
          </a:xfrm>
          <a:prstGeom prst="rect">
            <a:avLst/>
          </a:prstGeom>
        </p:spPr>
      </p:pic>
      <p:pic>
        <p:nvPicPr>
          <p:cNvPr id="9" name="Picture 8" descr="Chart, scatter chart&#10;&#10;Description automatically generated">
            <a:extLst>
              <a:ext uri="{FF2B5EF4-FFF2-40B4-BE49-F238E27FC236}">
                <a16:creationId xmlns:a16="http://schemas.microsoft.com/office/drawing/2014/main" id="{B1B1B758-06FE-A14F-89F4-9DD321232E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400" y="1574803"/>
            <a:ext cx="5791200" cy="3771900"/>
          </a:xfrm>
          <a:prstGeom prst="rect">
            <a:avLst/>
          </a:prstGeom>
        </p:spPr>
      </p:pic>
      <p:sp>
        <p:nvSpPr>
          <p:cNvPr id="8" name="Footer Placeholder 1">
            <a:extLst>
              <a:ext uri="{FF2B5EF4-FFF2-40B4-BE49-F238E27FC236}">
                <a16:creationId xmlns:a16="http://schemas.microsoft.com/office/drawing/2014/main" id="{DFC8C2C8-1BFA-4020-8250-72A1B266EFCE}"/>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399802467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21</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Compare R Squared Values</a:t>
            </a:r>
          </a:p>
        </p:txBody>
      </p:sp>
      <p:pic>
        <p:nvPicPr>
          <p:cNvPr id="8" name="Picture 7" descr="Text&#10;&#10;Description automatically generated with medium confidence">
            <a:extLst>
              <a:ext uri="{FF2B5EF4-FFF2-40B4-BE49-F238E27FC236}">
                <a16:creationId xmlns:a16="http://schemas.microsoft.com/office/drawing/2014/main" id="{D3407C2C-E1AA-104C-9EE4-A65D5076E4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810" y="1063628"/>
            <a:ext cx="10676379" cy="4914897"/>
          </a:xfrm>
          <a:prstGeom prst="rect">
            <a:avLst/>
          </a:prstGeom>
        </p:spPr>
      </p:pic>
      <p:sp>
        <p:nvSpPr>
          <p:cNvPr id="6" name="Footer Placeholder 1">
            <a:extLst>
              <a:ext uri="{FF2B5EF4-FFF2-40B4-BE49-F238E27FC236}">
                <a16:creationId xmlns:a16="http://schemas.microsoft.com/office/drawing/2014/main" id="{AD2F2D91-2AC1-475B-A9CE-EBD4CDC23030}"/>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185584477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22</a:t>
            </a:fld>
            <a:endParaRPr lang="en-US"/>
          </a:p>
        </p:txBody>
      </p:sp>
      <p:sp>
        <p:nvSpPr>
          <p:cNvPr id="4" name="TextBox 3">
            <a:extLst>
              <a:ext uri="{FF2B5EF4-FFF2-40B4-BE49-F238E27FC236}">
                <a16:creationId xmlns:a16="http://schemas.microsoft.com/office/drawing/2014/main" id="{4128EDB2-8E91-A749-A087-DBE204F09F3B}"/>
              </a:ext>
            </a:extLst>
          </p:cNvPr>
          <p:cNvSpPr txBox="1"/>
          <p:nvPr/>
        </p:nvSpPr>
        <p:spPr>
          <a:xfrm>
            <a:off x="4000500" y="2659559"/>
            <a:ext cx="4191000" cy="769441"/>
          </a:xfrm>
          <a:prstGeom prst="rect">
            <a:avLst/>
          </a:prstGeom>
          <a:noFill/>
        </p:spPr>
        <p:txBody>
          <a:bodyPr wrap="square" rtlCol="0">
            <a:spAutoFit/>
          </a:bodyPr>
          <a:lstStyle/>
          <a:p>
            <a:pPr algn="ctr"/>
            <a:r>
              <a:rPr lang="en-US" sz="4400" dirty="0">
                <a:solidFill>
                  <a:schemeClr val="tx1">
                    <a:lumMod val="75000"/>
                    <a:lumOff val="25000"/>
                  </a:schemeClr>
                </a:solidFill>
              </a:rPr>
              <a:t>Activity</a:t>
            </a:r>
          </a:p>
        </p:txBody>
      </p:sp>
      <p:sp>
        <p:nvSpPr>
          <p:cNvPr id="5" name="Footer Placeholder 1">
            <a:extLst>
              <a:ext uri="{FF2B5EF4-FFF2-40B4-BE49-F238E27FC236}">
                <a16:creationId xmlns:a16="http://schemas.microsoft.com/office/drawing/2014/main" id="{ED144412-5F60-44A3-B172-1C5C9EFE630B}"/>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62222997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E8848B6-D328-4CC8-99C6-D5689AE94DF4}" type="slidenum">
              <a:rPr lang="en-US" smtClean="0"/>
              <a:t>23</a:t>
            </a:fld>
            <a:endParaRPr lang="en-US"/>
          </a:p>
        </p:txBody>
      </p:sp>
      <p:sp>
        <p:nvSpPr>
          <p:cNvPr id="5" name="Rectangle 1"/>
          <p:cNvSpPr txBox="1">
            <a:spLocks noChangeArrowheads="1"/>
          </p:cNvSpPr>
          <p:nvPr/>
        </p:nvSpPr>
        <p:spPr>
          <a:xfrm>
            <a:off x="0" y="1"/>
            <a:ext cx="12192000" cy="685799"/>
          </a:xfrm>
          <a:prstGeom prst="rect">
            <a:avLst/>
          </a:prstGeom>
          <a:solidFill>
            <a:srgbClr val="BF5700"/>
          </a:solidFill>
        </p:spPr>
        <p:txBody>
          <a:bodyPr vert="horz" lIns="91440" tIns="45720" rIns="91440" bIns="45720" rtlCol="0" anchor="ctr">
            <a:normAutofit lnSpcReduction="10000"/>
          </a:bodyPr>
          <a:lstStyle>
            <a:defPPr>
              <a:defRPr lang="en-US"/>
            </a:defPPr>
            <a:lvl1pPr marL="182880">
              <a:spcBef>
                <a:spcPct val="0"/>
              </a:spcBef>
              <a:buNone/>
              <a:defRPr sz="4000">
                <a:solidFill>
                  <a:schemeClr val="bg1"/>
                </a:solidFill>
                <a:latin typeface="+mj-lt"/>
                <a:ea typeface="+mj-ea"/>
                <a:cs typeface="+mj-cs"/>
              </a:defRPr>
            </a:lvl1pPr>
          </a:lstStyle>
          <a:p>
            <a:r>
              <a:rPr lang="en-US" dirty="0"/>
              <a:t>Recap</a:t>
            </a:r>
          </a:p>
        </p:txBody>
      </p:sp>
      <p:sp>
        <p:nvSpPr>
          <p:cNvPr id="4" name="Rectangle 3">
            <a:extLst>
              <a:ext uri="{FF2B5EF4-FFF2-40B4-BE49-F238E27FC236}">
                <a16:creationId xmlns:a16="http://schemas.microsoft.com/office/drawing/2014/main" id="{2F463ACC-4CAA-41D0-A28E-E07B64D4ECD5}"/>
              </a:ext>
            </a:extLst>
          </p:cNvPr>
          <p:cNvSpPr/>
          <p:nvPr/>
        </p:nvSpPr>
        <p:spPr>
          <a:xfrm>
            <a:off x="1104900" y="1722200"/>
            <a:ext cx="9982200" cy="2902205"/>
          </a:xfrm>
          <a:prstGeom prst="rect">
            <a:avLst/>
          </a:prstGeom>
          <a:noFill/>
        </p:spPr>
        <p:txBody>
          <a:bodyPr wrap="square" rtlCol="0">
            <a:spAutoFit/>
          </a:bodyPr>
          <a:lstStyle/>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Today’s lab was about the mechanics of making a model and interpreting results - next week will be an extension of this. </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tx1">
                    <a:lumMod val="75000"/>
                    <a:lumOff val="25000"/>
                  </a:schemeClr>
                </a:solidFill>
              </a:rPr>
              <a:t>Next week, we will learn how to implement scaling, outlier removal, and interaction terms.</a:t>
            </a:r>
          </a:p>
          <a:p>
            <a:pPr marL="342900" indent="-342900">
              <a:lnSpc>
                <a:spcPct val="114000"/>
              </a:lnSpc>
              <a:spcBef>
                <a:spcPts val="600"/>
              </a:spcBef>
              <a:spcAft>
                <a:spcPts val="600"/>
              </a:spcAft>
              <a:buClr>
                <a:schemeClr val="tx1"/>
              </a:buClr>
              <a:buSzPct val="100000"/>
              <a:buFont typeface="Arial" panose="020B0604020202020204" pitchFamily="34" charset="0"/>
              <a:buChar char="•"/>
            </a:pPr>
            <a:r>
              <a:rPr lang="en-US" sz="2400" dirty="0">
                <a:solidFill>
                  <a:schemeClr val="accent6">
                    <a:lumMod val="75000"/>
                  </a:schemeClr>
                </a:solidFill>
              </a:rPr>
              <a:t>Review these slides, the tutorial, activity, and activity answer key for next week.</a:t>
            </a:r>
            <a:endParaRPr lang="en-US" sz="3200" dirty="0">
              <a:solidFill>
                <a:schemeClr val="accent6">
                  <a:lumMod val="75000"/>
                </a:schemeClr>
              </a:solidFill>
            </a:endParaRPr>
          </a:p>
        </p:txBody>
      </p:sp>
      <p:sp>
        <p:nvSpPr>
          <p:cNvPr id="6" name="Footer Placeholder 1">
            <a:extLst>
              <a:ext uri="{FF2B5EF4-FFF2-40B4-BE49-F238E27FC236}">
                <a16:creationId xmlns:a16="http://schemas.microsoft.com/office/drawing/2014/main" id="{EF29F52D-FB3F-46A4-8978-0FDDD854F7F8}"/>
              </a:ext>
            </a:extLst>
          </p:cNvPr>
          <p:cNvSpPr>
            <a:spLocks noGrp="1"/>
          </p:cNvSpPr>
          <p:nvPr>
            <p:ph type="ftr" sz="quarter" idx="11"/>
          </p:nvPr>
        </p:nvSpPr>
        <p:spPr>
          <a:xfrm>
            <a:off x="8534400" y="6477000"/>
            <a:ext cx="3860800" cy="365125"/>
          </a:xfrm>
        </p:spPr>
        <p:txBody>
          <a:bodyPr/>
          <a:lstStyle/>
          <a:p>
            <a:r>
              <a:rPr lang="en-US" dirty="0"/>
              <a:t>EVE310 Fall 2025 Lab 5</a:t>
            </a:r>
          </a:p>
        </p:txBody>
      </p:sp>
    </p:spTree>
    <p:extLst>
      <p:ext uri="{BB962C8B-B14F-4D97-AF65-F5344CB8AC3E}">
        <p14:creationId xmlns:p14="http://schemas.microsoft.com/office/powerpoint/2010/main" val="3396900179"/>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50768</TotalTime>
  <Words>1371</Words>
  <Application>Microsoft Macintosh PowerPoint</Application>
  <PresentationFormat>Widescreen</PresentationFormat>
  <Paragraphs>187</Paragraphs>
  <Slides>23</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Cambria Math</vt:lpstr>
      <vt:lpstr>Gill Sans</vt:lpstr>
      <vt:lpstr>Office Theme</vt:lpstr>
      <vt:lpstr>EVE310 Lab 5</vt:lpstr>
      <vt:lpstr>PowerPoint Presentation</vt:lpstr>
      <vt:lpstr>PowerPoint Presentation</vt:lpstr>
      <vt:lpstr>This lab is a direct extension of what you learned in Lecture 10 and the traffic example code you ran.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 356 Elements of Hydraulic Engineering</dc:title>
  <dc:creator>lina</dc:creator>
  <cp:lastModifiedBy>Gupta, Priyanshu R</cp:lastModifiedBy>
  <cp:revision>1008</cp:revision>
  <cp:lastPrinted>2018-01-30T16:12:33Z</cp:lastPrinted>
  <dcterms:created xsi:type="dcterms:W3CDTF">2016-07-06T18:20:35Z</dcterms:created>
  <dcterms:modified xsi:type="dcterms:W3CDTF">2025-10-09T17:19:59Z</dcterms:modified>
</cp:coreProperties>
</file>