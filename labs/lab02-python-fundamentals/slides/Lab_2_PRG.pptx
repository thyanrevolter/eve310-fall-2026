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765" r:id="rId2"/>
    <p:sldId id="889" r:id="rId3"/>
    <p:sldId id="981" r:id="rId4"/>
    <p:sldId id="968" r:id="rId5"/>
    <p:sldId id="977" r:id="rId6"/>
    <p:sldId id="998" r:id="rId7"/>
    <p:sldId id="954" r:id="rId8"/>
    <p:sldId id="999" r:id="rId9"/>
    <p:sldId id="979" r:id="rId10"/>
    <p:sldId id="953" r:id="rId11"/>
    <p:sldId id="980" r:id="rId12"/>
    <p:sldId id="962" r:id="rId13"/>
    <p:sldId id="933" r:id="rId14"/>
    <p:sldId id="969" r:id="rId15"/>
    <p:sldId id="970" r:id="rId16"/>
    <p:sldId id="963" r:id="rId17"/>
    <p:sldId id="971" r:id="rId18"/>
    <p:sldId id="973" r:id="rId19"/>
    <p:sldId id="966" r:id="rId20"/>
    <p:sldId id="983" r:id="rId21"/>
    <p:sldId id="967" r:id="rId22"/>
    <p:sldId id="974" r:id="rId23"/>
    <p:sldId id="952" r:id="rId24"/>
    <p:sldId id="997" r:id="rId25"/>
    <p:sldId id="975" r:id="rId26"/>
    <p:sldId id="976" r:id="rId27"/>
    <p:sldId id="978" r:id="rId28"/>
    <p:sldId id="982" r:id="rId29"/>
    <p:sldId id="943" r:id="rId3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99"/>
    <a:srgbClr val="BF5700"/>
    <a:srgbClr val="1D4371"/>
    <a:srgbClr val="003399"/>
    <a:srgbClr val="385D8A"/>
    <a:srgbClr val="0070C0"/>
    <a:srgbClr val="990000"/>
    <a:srgbClr val="99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32" autoAdjust="0"/>
    <p:restoredTop sz="82449" autoAdjust="0"/>
  </p:normalViewPr>
  <p:slideViewPr>
    <p:cSldViewPr>
      <p:cViewPr varScale="1">
        <p:scale>
          <a:sx n="104" d="100"/>
          <a:sy n="104" d="100"/>
        </p:scale>
        <p:origin x="1784" y="20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2AF32567-CE0A-411B-A193-274813F6AC70}" type="datetimeFigureOut">
              <a:rPr lang="en-US" smtClean="0"/>
              <a:t>9/4/25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58AE2663-530C-4834-9F93-457B710879FD}" type="slidenum">
              <a:rPr lang="en-US" smtClean="0"/>
              <a:t>‹#›</a:t>
            </a:fld>
            <a:endParaRPr lang="en-US"/>
          </a:p>
        </p:txBody>
      </p:sp>
    </p:spTree>
    <p:extLst>
      <p:ext uri="{BB962C8B-B14F-4D97-AF65-F5344CB8AC3E}">
        <p14:creationId xmlns:p14="http://schemas.microsoft.com/office/powerpoint/2010/main" val="3313531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5C2C7CE7-C9CA-47EF-8702-BBFECB6E221C}" type="datetimeFigureOut">
              <a:rPr lang="en-US" smtClean="0"/>
              <a:t>9/4/25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F447469E-A8B3-4EDF-ACC8-6B5423908F78}" type="slidenum">
              <a:rPr lang="en-US" smtClean="0"/>
              <a:t>‹#›</a:t>
            </a:fld>
            <a:endParaRPr lang="en-US"/>
          </a:p>
        </p:txBody>
      </p:sp>
    </p:spTree>
    <p:extLst>
      <p:ext uri="{BB962C8B-B14F-4D97-AF65-F5344CB8AC3E}">
        <p14:creationId xmlns:p14="http://schemas.microsoft.com/office/powerpoint/2010/main" val="1501627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47469E-A8B3-4EDF-ACC8-6B5423908F78}" type="slidenum">
              <a:rPr lang="en-US" smtClean="0"/>
              <a:t>1</a:t>
            </a:fld>
            <a:endParaRPr lang="en-US"/>
          </a:p>
        </p:txBody>
      </p:sp>
    </p:spTree>
    <p:extLst>
      <p:ext uri="{BB962C8B-B14F-4D97-AF65-F5344CB8AC3E}">
        <p14:creationId xmlns:p14="http://schemas.microsoft.com/office/powerpoint/2010/main" val="3407782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a:t>
            </a:fld>
            <a:endParaRPr lang="en-US"/>
          </a:p>
        </p:txBody>
      </p:sp>
    </p:spTree>
    <p:extLst>
      <p:ext uri="{BB962C8B-B14F-4D97-AF65-F5344CB8AC3E}">
        <p14:creationId xmlns:p14="http://schemas.microsoft.com/office/powerpoint/2010/main" val="4236969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3</a:t>
            </a:fld>
            <a:endParaRPr lang="en-US"/>
          </a:p>
        </p:txBody>
      </p:sp>
    </p:spTree>
    <p:extLst>
      <p:ext uri="{BB962C8B-B14F-4D97-AF65-F5344CB8AC3E}">
        <p14:creationId xmlns:p14="http://schemas.microsoft.com/office/powerpoint/2010/main" val="3053012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You need to use # to use comment. </a:t>
            </a:r>
          </a:p>
          <a:p>
            <a:r>
              <a:rPr lang="en-US" sz="1200" b="0" i="0" kern="1200" dirty="0">
                <a:solidFill>
                  <a:schemeClr val="tx1"/>
                </a:solidFill>
                <a:effectLst/>
                <a:latin typeface="+mn-lt"/>
                <a:ea typeface="+mn-ea"/>
                <a:cs typeface="+mn-cs"/>
              </a:rPr>
              <a:t>Comments are especially important when creating a script in </a:t>
            </a:r>
            <a:r>
              <a:rPr lang="en-US" sz="1200" b="0" i="0" kern="1200" dirty="0" err="1">
                <a:solidFill>
                  <a:schemeClr val="tx1"/>
                </a:solidFill>
                <a:effectLst/>
                <a:latin typeface="+mn-lt"/>
                <a:ea typeface="+mn-ea"/>
                <a:cs typeface="+mn-cs"/>
              </a:rPr>
              <a:t>spyder</a:t>
            </a:r>
            <a:r>
              <a:rPr lang="en-US" sz="1200" b="0" i="0" kern="1200" dirty="0">
                <a:solidFill>
                  <a:schemeClr val="tx1"/>
                </a:solidFill>
                <a:effectLst/>
                <a:latin typeface="+mn-lt"/>
                <a:ea typeface="+mn-ea"/>
                <a:cs typeface="+mn-cs"/>
              </a:rPr>
              <a:t> since there are no nice markdown cells like </a:t>
            </a:r>
            <a:r>
              <a:rPr lang="en-US" sz="1200" b="0" i="0" kern="1200" dirty="0" err="1">
                <a:solidFill>
                  <a:schemeClr val="tx1"/>
                </a:solidFill>
                <a:effectLst/>
                <a:latin typeface="+mn-lt"/>
                <a:ea typeface="+mn-ea"/>
                <a:cs typeface="+mn-cs"/>
              </a:rPr>
              <a:t>Jupyter</a:t>
            </a:r>
            <a:r>
              <a:rPr lang="en-US" sz="1200" b="0" i="0" kern="1200" dirty="0">
                <a:solidFill>
                  <a:schemeClr val="tx1"/>
                </a:solidFill>
                <a:effectLst/>
                <a:latin typeface="+mn-lt"/>
                <a:ea typeface="+mn-ea"/>
                <a:cs typeface="+mn-cs"/>
              </a:rPr>
              <a:t> Notebook.</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4</a:t>
            </a:fld>
            <a:endParaRPr lang="en-US"/>
          </a:p>
        </p:txBody>
      </p:sp>
    </p:spTree>
    <p:extLst>
      <p:ext uri="{BB962C8B-B14F-4D97-AF65-F5344CB8AC3E}">
        <p14:creationId xmlns:p14="http://schemas.microsoft.com/office/powerpoint/2010/main" val="2243228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endParaRPr lang="en-US" sz="1000" b="1" i="0" kern="1200" dirty="0">
              <a:solidFill>
                <a:schemeClr val="tx1"/>
              </a:solidFill>
              <a:effectLst/>
              <a:latin typeface="+mn-lt"/>
              <a:ea typeface="+mn-ea"/>
              <a:cs typeface="+mn-cs"/>
            </a:endParaRPr>
          </a:p>
          <a:p>
            <a:endParaRPr lang="en-US" sz="1000" b="1" i="0" kern="1200" dirty="0">
              <a:solidFill>
                <a:schemeClr val="tx1"/>
              </a:solidFill>
              <a:effectLst/>
              <a:latin typeface="+mn-lt"/>
              <a:ea typeface="+mn-ea"/>
              <a:cs typeface="+mn-cs"/>
            </a:endParaRPr>
          </a:p>
          <a:p>
            <a:endParaRPr lang="en-US" sz="1000" b="1" i="0" kern="1200" dirty="0">
              <a:solidFill>
                <a:schemeClr val="tx1"/>
              </a:solidFill>
              <a:effectLst/>
              <a:latin typeface="+mn-lt"/>
              <a:ea typeface="+mn-ea"/>
              <a:cs typeface="+mn-cs"/>
            </a:endParaRPr>
          </a:p>
          <a:p>
            <a:endParaRPr lang="en-US" sz="1000" b="1" i="0" kern="1200" dirty="0">
              <a:solidFill>
                <a:schemeClr val="tx1"/>
              </a:solidFill>
              <a:effectLst/>
              <a:latin typeface="+mn-lt"/>
              <a:ea typeface="+mn-ea"/>
              <a:cs typeface="+mn-cs"/>
            </a:endParaRPr>
          </a:p>
          <a:p>
            <a:r>
              <a:rPr lang="en-US" sz="1000" b="1" i="0" kern="1200" dirty="0">
                <a:solidFill>
                  <a:schemeClr val="tx1"/>
                </a:solidFill>
                <a:effectLst/>
                <a:latin typeface="+mn-lt"/>
                <a:ea typeface="+mn-ea"/>
                <a:cs typeface="+mn-cs"/>
              </a:rPr>
              <a:t>NumPy</a:t>
            </a:r>
            <a:r>
              <a:rPr lang="en-US" sz="1000" b="0" i="0" kern="1200" dirty="0">
                <a:solidFill>
                  <a:schemeClr val="tx1"/>
                </a:solidFill>
                <a:effectLst/>
                <a:latin typeface="+mn-lt"/>
                <a:ea typeface="+mn-ea"/>
                <a:cs typeface="+mn-cs"/>
              </a:rPr>
              <a:t>: NumPy (Numerical Python) is a fundamental package for numerical computations in Python. It provides support for large, multi-dimensional arrays and matrices, along with a wide range of mathematical functions to operate on these arrays efficiently. NumPy forms the foundation for many other scientific computing and data analysis libraries in Python.</a:t>
            </a:r>
          </a:p>
          <a:p>
            <a:r>
              <a:rPr lang="en-US" sz="1000" b="1" i="0" kern="1200" dirty="0">
                <a:solidFill>
                  <a:schemeClr val="tx1"/>
                </a:solidFill>
                <a:effectLst/>
                <a:latin typeface="+mn-lt"/>
                <a:ea typeface="+mn-ea"/>
                <a:cs typeface="+mn-cs"/>
              </a:rPr>
              <a:t>Pandas</a:t>
            </a:r>
            <a:r>
              <a:rPr lang="en-US" sz="1000" b="0" i="0" kern="1200" dirty="0">
                <a:solidFill>
                  <a:schemeClr val="tx1"/>
                </a:solidFill>
                <a:effectLst/>
                <a:latin typeface="+mn-lt"/>
                <a:ea typeface="+mn-ea"/>
                <a:cs typeface="+mn-cs"/>
              </a:rPr>
              <a:t>: Pandas is a powerful library for data manipulation and analysis. It provides data structures like </a:t>
            </a:r>
            <a:r>
              <a:rPr lang="en-US" sz="1000" b="0" i="0" kern="1200" dirty="0" err="1">
                <a:solidFill>
                  <a:schemeClr val="tx1"/>
                </a:solidFill>
                <a:effectLst/>
                <a:latin typeface="+mn-lt"/>
                <a:ea typeface="+mn-ea"/>
                <a:cs typeface="+mn-cs"/>
              </a:rPr>
              <a:t>DataFrames</a:t>
            </a:r>
            <a:r>
              <a:rPr lang="en-US" sz="1000" b="0" i="0" kern="1200" dirty="0">
                <a:solidFill>
                  <a:schemeClr val="tx1"/>
                </a:solidFill>
                <a:effectLst/>
                <a:latin typeface="+mn-lt"/>
                <a:ea typeface="+mn-ea"/>
                <a:cs typeface="+mn-cs"/>
              </a:rPr>
              <a:t> and Series, which allow you to work with structured data easily. Pandas simplifies tasks such as data cleaning, transformation, aggregation, and exploration. It's widely used for data preprocessing and analysis in data science workflows.</a:t>
            </a:r>
          </a:p>
          <a:p>
            <a:r>
              <a:rPr lang="en-US" sz="1000" b="1" i="0" kern="1200" dirty="0">
                <a:solidFill>
                  <a:schemeClr val="tx1"/>
                </a:solidFill>
                <a:effectLst/>
                <a:latin typeface="+mn-lt"/>
                <a:ea typeface="+mn-ea"/>
                <a:cs typeface="+mn-cs"/>
              </a:rPr>
              <a:t>Matplotlib</a:t>
            </a:r>
            <a:r>
              <a:rPr lang="en-US" sz="1000" b="0" i="0" kern="1200" dirty="0">
                <a:solidFill>
                  <a:schemeClr val="tx1"/>
                </a:solidFill>
                <a:effectLst/>
                <a:latin typeface="+mn-lt"/>
                <a:ea typeface="+mn-ea"/>
                <a:cs typeface="+mn-cs"/>
              </a:rPr>
              <a:t>: Matplotlib is a popular plotting library that enables you to create a wide variety of static, interactive, and animated visualizations in Python. It provides a flexible interface for creating charts, graphs, histograms, and other types of visualizations. Matplotlib is often used in combination with other libraries for data analysis and presentation.</a:t>
            </a:r>
          </a:p>
          <a:p>
            <a:r>
              <a:rPr lang="en-US" sz="1000" b="1" i="0" kern="1200" dirty="0">
                <a:solidFill>
                  <a:schemeClr val="tx1"/>
                </a:solidFill>
                <a:effectLst/>
                <a:latin typeface="+mn-lt"/>
                <a:ea typeface="+mn-ea"/>
                <a:cs typeface="+mn-cs"/>
              </a:rPr>
              <a:t>Seaborn</a:t>
            </a:r>
            <a:r>
              <a:rPr lang="en-US" sz="1000" b="0" i="0" kern="1200" dirty="0">
                <a:solidFill>
                  <a:schemeClr val="tx1"/>
                </a:solidFill>
                <a:effectLst/>
                <a:latin typeface="+mn-lt"/>
                <a:ea typeface="+mn-ea"/>
                <a:cs typeface="+mn-cs"/>
              </a:rPr>
              <a:t>: Seaborn is a statistical data visualization library built on top of Matplotlib. It provides a higher-level interface for creating attractive and informative statistical graphics. Seaborn comes with several built-in themes and color palettes that make it easy to create visually appealing visualizations for exploring data relationships.</a:t>
            </a:r>
          </a:p>
          <a:p>
            <a:r>
              <a:rPr lang="en-US" sz="1000" b="1" i="0" kern="1200" dirty="0">
                <a:solidFill>
                  <a:schemeClr val="tx1"/>
                </a:solidFill>
                <a:effectLst/>
                <a:latin typeface="+mn-lt"/>
                <a:ea typeface="+mn-ea"/>
                <a:cs typeface="+mn-cs"/>
              </a:rPr>
              <a:t>SciPy</a:t>
            </a:r>
            <a:r>
              <a:rPr lang="en-US" sz="1000" b="0" i="0" kern="1200" dirty="0">
                <a:solidFill>
                  <a:schemeClr val="tx1"/>
                </a:solidFill>
                <a:effectLst/>
                <a:latin typeface="+mn-lt"/>
                <a:ea typeface="+mn-ea"/>
                <a:cs typeface="+mn-cs"/>
              </a:rPr>
              <a:t>: SciPy is an open-source library for mathematics, science, and engineering. It builds on top of NumPy and provides additional functionalities such as optimization, signal processing, linear algebra, integration, and more. SciPy is particularly useful for scientific and engineering applications where advanced mathematical and scientific algorithms are needed.</a:t>
            </a:r>
          </a:p>
          <a:p>
            <a:r>
              <a:rPr lang="en-US" sz="1000" b="1" i="0" kern="1200" dirty="0" err="1">
                <a:solidFill>
                  <a:schemeClr val="tx1"/>
                </a:solidFill>
                <a:effectLst/>
                <a:latin typeface="+mn-lt"/>
                <a:ea typeface="+mn-ea"/>
                <a:cs typeface="+mn-cs"/>
              </a:rPr>
              <a:t>Scikit</a:t>
            </a:r>
            <a:r>
              <a:rPr lang="en-US" sz="1000" b="1" i="0" kern="1200" dirty="0">
                <a:solidFill>
                  <a:schemeClr val="tx1"/>
                </a:solidFill>
                <a:effectLst/>
                <a:latin typeface="+mn-lt"/>
                <a:ea typeface="+mn-ea"/>
                <a:cs typeface="+mn-cs"/>
              </a:rPr>
              <a:t>-Learn</a:t>
            </a:r>
            <a:r>
              <a:rPr lang="en-US" sz="1000" b="0" i="0" kern="1200" dirty="0">
                <a:solidFill>
                  <a:schemeClr val="tx1"/>
                </a:solidFill>
                <a:effectLst/>
                <a:latin typeface="+mn-lt"/>
                <a:ea typeface="+mn-ea"/>
                <a:cs typeface="+mn-cs"/>
              </a:rPr>
              <a:t> (also known as </a:t>
            </a:r>
            <a:r>
              <a:rPr lang="en-US" sz="1000" b="0" i="0" kern="1200" dirty="0" err="1">
                <a:solidFill>
                  <a:schemeClr val="tx1"/>
                </a:solidFill>
                <a:effectLst/>
                <a:latin typeface="+mn-lt"/>
                <a:ea typeface="+mn-ea"/>
                <a:cs typeface="+mn-cs"/>
              </a:rPr>
              <a:t>sklearn</a:t>
            </a:r>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Scikit</a:t>
            </a:r>
            <a:r>
              <a:rPr lang="en-US" sz="1000" b="0" i="0" kern="1200" dirty="0">
                <a:solidFill>
                  <a:schemeClr val="tx1"/>
                </a:solidFill>
                <a:effectLst/>
                <a:latin typeface="+mn-lt"/>
                <a:ea typeface="+mn-ea"/>
                <a:cs typeface="+mn-cs"/>
              </a:rPr>
              <a:t>-Learn is a machine learning library that provides a wide range of tools for various machine learning tasks, including classification, regression, clustering, dimensionality reduction, and more. It's designed to be user-friendly and follows a consistent API, making it easy to experiment with different machine learning algorithms and models.</a:t>
            </a:r>
            <a:endParaRPr lang="en-US" sz="10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5</a:t>
            </a:fld>
            <a:endParaRPr lang="en-US"/>
          </a:p>
        </p:txBody>
      </p:sp>
    </p:spTree>
    <p:extLst>
      <p:ext uri="{BB962C8B-B14F-4D97-AF65-F5344CB8AC3E}">
        <p14:creationId xmlns:p14="http://schemas.microsoft.com/office/powerpoint/2010/main" val="3563455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B83F-EFD1-2078-6ECF-E3483DE6D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FDDAC-F952-B510-839F-7A7D0EB93DB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EFA864-8EE4-A182-8A84-3EFE6B2A79EA}"/>
              </a:ext>
            </a:extLst>
          </p:cNvPr>
          <p:cNvSpPr>
            <a:spLocks noGrp="1"/>
          </p:cNvSpPr>
          <p:nvPr>
            <p:ph type="body" idx="1"/>
          </p:nvPr>
        </p:nvSpPr>
        <p:spPr/>
        <p:txBody>
          <a:bodyPr>
            <a:normAutofit lnSpcReduction="10000"/>
          </a:bodyPr>
          <a:lstStyle/>
          <a:p>
            <a:endParaRPr lang="en-US" sz="1000" b="1" i="0" kern="1200" dirty="0">
              <a:solidFill>
                <a:schemeClr val="tx1"/>
              </a:solidFill>
              <a:effectLst/>
              <a:latin typeface="+mn-lt"/>
              <a:ea typeface="+mn-ea"/>
              <a:cs typeface="+mn-cs"/>
            </a:endParaRPr>
          </a:p>
          <a:p>
            <a:endParaRPr lang="en-US" sz="1000" b="1" i="0" kern="1200" dirty="0">
              <a:solidFill>
                <a:schemeClr val="tx1"/>
              </a:solidFill>
              <a:effectLst/>
              <a:latin typeface="+mn-lt"/>
              <a:ea typeface="+mn-ea"/>
              <a:cs typeface="+mn-cs"/>
            </a:endParaRPr>
          </a:p>
          <a:p>
            <a:endParaRPr lang="en-US" sz="1000" b="1" i="0" kern="1200" dirty="0">
              <a:solidFill>
                <a:schemeClr val="tx1"/>
              </a:solidFill>
              <a:effectLst/>
              <a:latin typeface="+mn-lt"/>
              <a:ea typeface="+mn-ea"/>
              <a:cs typeface="+mn-cs"/>
            </a:endParaRPr>
          </a:p>
          <a:p>
            <a:endParaRPr lang="en-US" sz="1000" b="1" i="0" kern="1200" dirty="0">
              <a:solidFill>
                <a:schemeClr val="tx1"/>
              </a:solidFill>
              <a:effectLst/>
              <a:latin typeface="+mn-lt"/>
              <a:ea typeface="+mn-ea"/>
              <a:cs typeface="+mn-cs"/>
            </a:endParaRPr>
          </a:p>
          <a:p>
            <a:r>
              <a:rPr lang="en-US" sz="1000" b="1" i="0" kern="1200" dirty="0">
                <a:solidFill>
                  <a:schemeClr val="tx1"/>
                </a:solidFill>
                <a:effectLst/>
                <a:latin typeface="+mn-lt"/>
                <a:ea typeface="+mn-ea"/>
                <a:cs typeface="+mn-cs"/>
              </a:rPr>
              <a:t>NumPy</a:t>
            </a:r>
            <a:r>
              <a:rPr lang="en-US" sz="1000" b="0" i="0" kern="1200" dirty="0">
                <a:solidFill>
                  <a:schemeClr val="tx1"/>
                </a:solidFill>
                <a:effectLst/>
                <a:latin typeface="+mn-lt"/>
                <a:ea typeface="+mn-ea"/>
                <a:cs typeface="+mn-cs"/>
              </a:rPr>
              <a:t>: NumPy (Numerical Python) is a fundamental package for numerical computations in Python. It provides support for large, multi-dimensional arrays and matrices, along with a wide range of mathematical functions to operate on these arrays efficiently. NumPy forms the foundation for many other scientific computing and data analysis libraries in Python.</a:t>
            </a:r>
          </a:p>
          <a:p>
            <a:r>
              <a:rPr lang="en-US" sz="1000" b="1" i="0" kern="1200" dirty="0">
                <a:solidFill>
                  <a:schemeClr val="tx1"/>
                </a:solidFill>
                <a:effectLst/>
                <a:latin typeface="+mn-lt"/>
                <a:ea typeface="+mn-ea"/>
                <a:cs typeface="+mn-cs"/>
              </a:rPr>
              <a:t>Pandas</a:t>
            </a:r>
            <a:r>
              <a:rPr lang="en-US" sz="1000" b="0" i="0" kern="1200" dirty="0">
                <a:solidFill>
                  <a:schemeClr val="tx1"/>
                </a:solidFill>
                <a:effectLst/>
                <a:latin typeface="+mn-lt"/>
                <a:ea typeface="+mn-ea"/>
                <a:cs typeface="+mn-cs"/>
              </a:rPr>
              <a:t>: Pandas is a powerful library for data manipulation and analysis. It provides data structures like </a:t>
            </a:r>
            <a:r>
              <a:rPr lang="en-US" sz="1000" b="0" i="0" kern="1200" dirty="0" err="1">
                <a:solidFill>
                  <a:schemeClr val="tx1"/>
                </a:solidFill>
                <a:effectLst/>
                <a:latin typeface="+mn-lt"/>
                <a:ea typeface="+mn-ea"/>
                <a:cs typeface="+mn-cs"/>
              </a:rPr>
              <a:t>DataFrames</a:t>
            </a:r>
            <a:r>
              <a:rPr lang="en-US" sz="1000" b="0" i="0" kern="1200" dirty="0">
                <a:solidFill>
                  <a:schemeClr val="tx1"/>
                </a:solidFill>
                <a:effectLst/>
                <a:latin typeface="+mn-lt"/>
                <a:ea typeface="+mn-ea"/>
                <a:cs typeface="+mn-cs"/>
              </a:rPr>
              <a:t> and Series, which allow you to work with structured data easily. Pandas simplifies tasks such as data cleaning, transformation, aggregation, and exploration. It's widely used for data preprocessing and analysis in data science workflows.</a:t>
            </a:r>
          </a:p>
          <a:p>
            <a:r>
              <a:rPr lang="en-US" sz="1000" b="1" i="0" kern="1200" dirty="0">
                <a:solidFill>
                  <a:schemeClr val="tx1"/>
                </a:solidFill>
                <a:effectLst/>
                <a:latin typeface="+mn-lt"/>
                <a:ea typeface="+mn-ea"/>
                <a:cs typeface="+mn-cs"/>
              </a:rPr>
              <a:t>Matplotlib</a:t>
            </a:r>
            <a:r>
              <a:rPr lang="en-US" sz="1000" b="0" i="0" kern="1200" dirty="0">
                <a:solidFill>
                  <a:schemeClr val="tx1"/>
                </a:solidFill>
                <a:effectLst/>
                <a:latin typeface="+mn-lt"/>
                <a:ea typeface="+mn-ea"/>
                <a:cs typeface="+mn-cs"/>
              </a:rPr>
              <a:t>: Matplotlib is a popular plotting library that enables you to create a wide variety of static, interactive, and animated visualizations in Python. It provides a flexible interface for creating charts, graphs, histograms, and other types of visualizations. Matplotlib is often used in combination with other libraries for data analysis and presentation.</a:t>
            </a:r>
          </a:p>
          <a:p>
            <a:r>
              <a:rPr lang="en-US" sz="1000" b="1" i="0" kern="1200" dirty="0">
                <a:solidFill>
                  <a:schemeClr val="tx1"/>
                </a:solidFill>
                <a:effectLst/>
                <a:latin typeface="+mn-lt"/>
                <a:ea typeface="+mn-ea"/>
                <a:cs typeface="+mn-cs"/>
              </a:rPr>
              <a:t>Seaborn</a:t>
            </a:r>
            <a:r>
              <a:rPr lang="en-US" sz="1000" b="0" i="0" kern="1200" dirty="0">
                <a:solidFill>
                  <a:schemeClr val="tx1"/>
                </a:solidFill>
                <a:effectLst/>
                <a:latin typeface="+mn-lt"/>
                <a:ea typeface="+mn-ea"/>
                <a:cs typeface="+mn-cs"/>
              </a:rPr>
              <a:t>: Seaborn is a statistical data visualization library built on top of Matplotlib. It provides a higher-level interface for creating attractive and informative statistical graphics. Seaborn comes with several built-in themes and color palettes that make it easy to create visually appealing visualizations for exploring data relationships.</a:t>
            </a:r>
          </a:p>
          <a:p>
            <a:r>
              <a:rPr lang="en-US" sz="1000" b="1" i="0" kern="1200" dirty="0">
                <a:solidFill>
                  <a:schemeClr val="tx1"/>
                </a:solidFill>
                <a:effectLst/>
                <a:latin typeface="+mn-lt"/>
                <a:ea typeface="+mn-ea"/>
                <a:cs typeface="+mn-cs"/>
              </a:rPr>
              <a:t>SciPy</a:t>
            </a:r>
            <a:r>
              <a:rPr lang="en-US" sz="1000" b="0" i="0" kern="1200" dirty="0">
                <a:solidFill>
                  <a:schemeClr val="tx1"/>
                </a:solidFill>
                <a:effectLst/>
                <a:latin typeface="+mn-lt"/>
                <a:ea typeface="+mn-ea"/>
                <a:cs typeface="+mn-cs"/>
              </a:rPr>
              <a:t>: SciPy is an open-source library for mathematics, science, and engineering. It builds on top of NumPy and provides additional functionalities such as optimization, signal processing, linear algebra, integration, and more. SciPy is particularly useful for scientific and engineering applications where advanced mathematical and scientific algorithms are needed.</a:t>
            </a:r>
          </a:p>
          <a:p>
            <a:r>
              <a:rPr lang="en-US" sz="1000" b="1" i="0" kern="1200" dirty="0" err="1">
                <a:solidFill>
                  <a:schemeClr val="tx1"/>
                </a:solidFill>
                <a:effectLst/>
                <a:latin typeface="+mn-lt"/>
                <a:ea typeface="+mn-ea"/>
                <a:cs typeface="+mn-cs"/>
              </a:rPr>
              <a:t>Scikit</a:t>
            </a:r>
            <a:r>
              <a:rPr lang="en-US" sz="1000" b="1" i="0" kern="1200" dirty="0">
                <a:solidFill>
                  <a:schemeClr val="tx1"/>
                </a:solidFill>
                <a:effectLst/>
                <a:latin typeface="+mn-lt"/>
                <a:ea typeface="+mn-ea"/>
                <a:cs typeface="+mn-cs"/>
              </a:rPr>
              <a:t>-Learn</a:t>
            </a:r>
            <a:r>
              <a:rPr lang="en-US" sz="1000" b="0" i="0" kern="1200" dirty="0">
                <a:solidFill>
                  <a:schemeClr val="tx1"/>
                </a:solidFill>
                <a:effectLst/>
                <a:latin typeface="+mn-lt"/>
                <a:ea typeface="+mn-ea"/>
                <a:cs typeface="+mn-cs"/>
              </a:rPr>
              <a:t> (also known as </a:t>
            </a:r>
            <a:r>
              <a:rPr lang="en-US" sz="1000" b="0" i="0" kern="1200" dirty="0" err="1">
                <a:solidFill>
                  <a:schemeClr val="tx1"/>
                </a:solidFill>
                <a:effectLst/>
                <a:latin typeface="+mn-lt"/>
                <a:ea typeface="+mn-ea"/>
                <a:cs typeface="+mn-cs"/>
              </a:rPr>
              <a:t>sklearn</a:t>
            </a:r>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Scikit</a:t>
            </a:r>
            <a:r>
              <a:rPr lang="en-US" sz="1000" b="0" i="0" kern="1200" dirty="0">
                <a:solidFill>
                  <a:schemeClr val="tx1"/>
                </a:solidFill>
                <a:effectLst/>
                <a:latin typeface="+mn-lt"/>
                <a:ea typeface="+mn-ea"/>
                <a:cs typeface="+mn-cs"/>
              </a:rPr>
              <a:t>-Learn is a machine learning library that provides a wide range of tools for various machine learning tasks, including classification, regression, clustering, dimensionality reduction, and more. It's designed to be user-friendly and follows a consistent API, making it easy to experiment with different machine learning algorithms and models.</a:t>
            </a: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FE04A546-C50C-C474-B852-28A8A4DF1079}"/>
              </a:ext>
            </a:extLst>
          </p:cNvPr>
          <p:cNvSpPr>
            <a:spLocks noGrp="1"/>
          </p:cNvSpPr>
          <p:nvPr>
            <p:ph type="sldNum" sz="quarter" idx="10"/>
          </p:nvPr>
        </p:nvSpPr>
        <p:spPr/>
        <p:txBody>
          <a:bodyPr/>
          <a:lstStyle/>
          <a:p>
            <a:fld id="{0D2A8CFD-7D0E-984D-8B4C-26FF9E5765E5}" type="slidenum">
              <a:rPr lang="en-US" smtClean="0"/>
              <a:pPr/>
              <a:t>6</a:t>
            </a:fld>
            <a:endParaRPr lang="en-US"/>
          </a:p>
        </p:txBody>
      </p:sp>
    </p:spTree>
    <p:extLst>
      <p:ext uri="{BB962C8B-B14F-4D97-AF65-F5344CB8AC3E}">
        <p14:creationId xmlns:p14="http://schemas.microsoft.com/office/powerpoint/2010/main" val="1290527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Again, the first thing you need to do is to import the packages before using the packages’ functions in the script. </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In the actual commend, you can use it like this example. A as an output or variable equals np, as a package reference, dot and array, as a function, and inputs. In this case, we need to use round and square bracket together to make an array of a list, we will come back to this point later. </a:t>
            </a:r>
          </a:p>
        </p:txBody>
      </p:sp>
      <p:sp>
        <p:nvSpPr>
          <p:cNvPr id="4" name="Slide Number Placeholder 3"/>
          <p:cNvSpPr>
            <a:spLocks noGrp="1"/>
          </p:cNvSpPr>
          <p:nvPr>
            <p:ph type="sldNum" sz="quarter" idx="10"/>
          </p:nvPr>
        </p:nvSpPr>
        <p:spPr/>
        <p:txBody>
          <a:bodyPr/>
          <a:lstStyle/>
          <a:p>
            <a:fld id="{0D2A8CFD-7D0E-984D-8B4C-26FF9E5765E5}" type="slidenum">
              <a:rPr lang="en-US" smtClean="0"/>
              <a:pPr/>
              <a:t>7</a:t>
            </a:fld>
            <a:endParaRPr lang="en-US"/>
          </a:p>
        </p:txBody>
      </p:sp>
    </p:spTree>
    <p:extLst>
      <p:ext uri="{BB962C8B-B14F-4D97-AF65-F5344CB8AC3E}">
        <p14:creationId xmlns:p14="http://schemas.microsoft.com/office/powerpoint/2010/main" val="899917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11557-98C4-6BA9-9564-1BB9B8967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642BA-3B8F-3473-BD95-9658421AA3E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16840E3-66D1-F246-FD21-6D15794031B0}"/>
              </a:ext>
            </a:extLst>
          </p:cNvPr>
          <p:cNvSpPr>
            <a:spLocks noGrp="1"/>
          </p:cNvSpPr>
          <p:nvPr>
            <p:ph type="body" idx="1"/>
          </p:nvPr>
        </p:nvSpPr>
        <p:spPr/>
        <p:txBody>
          <a:bodyPr>
            <a:normAutofit/>
          </a:bodyPr>
          <a:lstStyle/>
          <a:p>
            <a:r>
              <a:rPr lang="en-US" sz="1200" kern="1200" dirty="0">
                <a:solidFill>
                  <a:schemeClr val="tx1"/>
                </a:solidFill>
                <a:latin typeface="+mn-lt"/>
                <a:ea typeface="+mn-ea"/>
                <a:cs typeface="+mn-cs"/>
              </a:rPr>
              <a:t>Again, the first thing you need to do is to import the packages before using the packages’ functions in the script. </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In the actual commend, you can use it like this example. A as an output or variable equals np, as a package reference, dot and array, as a function, and inputs. In this case, we need to use round and square bracket together to make an array of a list, we will come back to this point later. </a:t>
            </a:r>
          </a:p>
        </p:txBody>
      </p:sp>
      <p:sp>
        <p:nvSpPr>
          <p:cNvPr id="4" name="Slide Number Placeholder 3">
            <a:extLst>
              <a:ext uri="{FF2B5EF4-FFF2-40B4-BE49-F238E27FC236}">
                <a16:creationId xmlns:a16="http://schemas.microsoft.com/office/drawing/2014/main" id="{0C365701-B19E-DA01-2191-8C19352E0A7B}"/>
              </a:ext>
            </a:extLst>
          </p:cNvPr>
          <p:cNvSpPr>
            <a:spLocks noGrp="1"/>
          </p:cNvSpPr>
          <p:nvPr>
            <p:ph type="sldNum" sz="quarter" idx="10"/>
          </p:nvPr>
        </p:nvSpPr>
        <p:spPr/>
        <p:txBody>
          <a:bodyPr/>
          <a:lstStyle/>
          <a:p>
            <a:fld id="{0D2A8CFD-7D0E-984D-8B4C-26FF9E5765E5}" type="slidenum">
              <a:rPr lang="en-US" smtClean="0"/>
              <a:pPr/>
              <a:t>8</a:t>
            </a:fld>
            <a:endParaRPr lang="en-US"/>
          </a:p>
        </p:txBody>
      </p:sp>
    </p:spTree>
    <p:extLst>
      <p:ext uri="{BB962C8B-B14F-4D97-AF65-F5344CB8AC3E}">
        <p14:creationId xmlns:p14="http://schemas.microsoft.com/office/powerpoint/2010/main" val="1193309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err="1">
                <a:solidFill>
                  <a:schemeClr val="tx1"/>
                </a:solidFill>
                <a:effectLst/>
                <a:latin typeface="+mn-lt"/>
                <a:ea typeface="+mn-ea"/>
                <a:cs typeface="+mn-cs"/>
              </a:rPr>
              <a:t>TSNet</a:t>
            </a:r>
            <a:r>
              <a:rPr lang="en-US" sz="1200" b="0" i="0" kern="1200" dirty="0">
                <a:solidFill>
                  <a:schemeClr val="tx1"/>
                </a:solidFill>
                <a:effectLst/>
                <a:latin typeface="+mn-lt"/>
                <a:ea typeface="+mn-ea"/>
                <a:cs typeface="+mn-cs"/>
              </a:rPr>
              <a:t> is a Python package designed to perform transient simulation in water distribution networks.</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9</a:t>
            </a:fld>
            <a:endParaRPr lang="en-US"/>
          </a:p>
        </p:txBody>
      </p:sp>
    </p:spTree>
    <p:extLst>
      <p:ext uri="{BB962C8B-B14F-4D97-AF65-F5344CB8AC3E}">
        <p14:creationId xmlns:p14="http://schemas.microsoft.com/office/powerpoint/2010/main" val="1503413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PIP: Preferred Installer Program</a:t>
            </a:r>
          </a:p>
        </p:txBody>
      </p:sp>
      <p:sp>
        <p:nvSpPr>
          <p:cNvPr id="4" name="Slide Number Placeholder 3"/>
          <p:cNvSpPr>
            <a:spLocks noGrp="1"/>
          </p:cNvSpPr>
          <p:nvPr>
            <p:ph type="sldNum" sz="quarter" idx="10"/>
          </p:nvPr>
        </p:nvSpPr>
        <p:spPr/>
        <p:txBody>
          <a:bodyPr/>
          <a:lstStyle/>
          <a:p>
            <a:fld id="{0D2A8CFD-7D0E-984D-8B4C-26FF9E5765E5}" type="slidenum">
              <a:rPr lang="en-US" smtClean="0"/>
              <a:pPr/>
              <a:t>10</a:t>
            </a:fld>
            <a:endParaRPr lang="en-US"/>
          </a:p>
        </p:txBody>
      </p:sp>
    </p:spTree>
    <p:extLst>
      <p:ext uri="{BB962C8B-B14F-4D97-AF65-F5344CB8AC3E}">
        <p14:creationId xmlns:p14="http://schemas.microsoft.com/office/powerpoint/2010/main" val="4129712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In Python, importing a package or module is a way to make its functionality available in your current code or script. This approach has several benefits:</a:t>
            </a:r>
          </a:p>
          <a:p>
            <a:r>
              <a:rPr lang="en-US" sz="1200" b="0" i="0" kern="1200" dirty="0">
                <a:solidFill>
                  <a:schemeClr val="tx1"/>
                </a:solidFill>
                <a:effectLst/>
                <a:latin typeface="+mn-lt"/>
                <a:ea typeface="+mn-ea"/>
                <a:cs typeface="+mn-cs"/>
              </a:rPr>
              <a:t>Modularity, Namespace management, Memory efficiency, Reduced load time.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Overall, the ability to import packages and modules on-demand is a key feature of Python that promotes code organization, maintainability, memory efficiency, and flexibility. It allows developers to efficiently manage and use the vast array of available libraries without cluttering their code with unnecessary functionality.</a:t>
            </a:r>
          </a:p>
          <a:p>
            <a:br>
              <a:rPr lang="en-US" sz="1200" b="0" i="0" kern="1200" dirty="0">
                <a:solidFill>
                  <a:schemeClr val="tx1"/>
                </a:solidFill>
                <a:effectLst/>
                <a:latin typeface="+mn-lt"/>
                <a:ea typeface="+mn-ea"/>
                <a:cs typeface="+mn-cs"/>
              </a:rPr>
            </a:b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11</a:t>
            </a:fld>
            <a:endParaRPr lang="en-US"/>
          </a:p>
        </p:txBody>
      </p:sp>
    </p:spTree>
    <p:extLst>
      <p:ext uri="{BB962C8B-B14F-4D97-AF65-F5344CB8AC3E}">
        <p14:creationId xmlns:p14="http://schemas.microsoft.com/office/powerpoint/2010/main" val="4132180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12</a:t>
            </a:fld>
            <a:endParaRPr lang="en-US"/>
          </a:p>
        </p:txBody>
      </p:sp>
    </p:spTree>
    <p:extLst>
      <p:ext uri="{BB962C8B-B14F-4D97-AF65-F5344CB8AC3E}">
        <p14:creationId xmlns:p14="http://schemas.microsoft.com/office/powerpoint/2010/main" val="4153245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There are 2 main types of individual variables: numbers and strings.</a:t>
            </a:r>
          </a:p>
          <a:p>
            <a:r>
              <a:rPr lang="en-US" sz="1200" b="0" i="0" kern="1200" dirty="0">
                <a:solidFill>
                  <a:schemeClr val="tx1"/>
                </a:solidFill>
                <a:effectLst/>
                <a:latin typeface="+mn-lt"/>
                <a:ea typeface="+mn-ea"/>
                <a:cs typeface="+mn-cs"/>
              </a:rPr>
              <a:t>Numbers just numbers. Strings are a sequence of letters stored in a variable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store a number: You need to put variable name on the left side "=" in the middle, Some value on the right, in this case we put the number 2. With this commend, we can say that b refers to the number 2.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store a string, you need to use a single quote around each side of your string so that python knows it is a string.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you want to know more about numbers and strings, you can go to this website.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13</a:t>
            </a:fld>
            <a:endParaRPr lang="en-US"/>
          </a:p>
        </p:txBody>
      </p:sp>
    </p:spTree>
    <p:extLst>
      <p:ext uri="{BB962C8B-B14F-4D97-AF65-F5344CB8AC3E}">
        <p14:creationId xmlns:p14="http://schemas.microsoft.com/office/powerpoint/2010/main" val="2373608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Here are some symbols to do basic math on number variables. (These do not work on strings because they are not numbers)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cannot use a caret (^) to exponentiate. </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asterisk (*)</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14</a:t>
            </a:fld>
            <a:endParaRPr lang="en-US"/>
          </a:p>
        </p:txBody>
      </p:sp>
    </p:spTree>
    <p:extLst>
      <p:ext uri="{BB962C8B-B14F-4D97-AF65-F5344CB8AC3E}">
        <p14:creationId xmlns:p14="http://schemas.microsoft.com/office/powerpoint/2010/main" val="2815206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In many cases, using individual numbers for variables would not be appropriate and sometimes even not possible. Many real-world problems have a large amount of data that need to be processed simultaneously. </a:t>
            </a:r>
          </a:p>
          <a:p>
            <a:endParaRPr lang="en-US" sz="1200" b="0" i="0" kern="1200" dirty="0">
              <a:solidFill>
                <a:schemeClr val="tx1"/>
              </a:solidFill>
              <a:effectLst/>
              <a:latin typeface="+mn-lt"/>
              <a:ea typeface="+mn-ea"/>
              <a:cs typeface="+mn-cs"/>
            </a:endParaRPr>
          </a:p>
          <a:p>
            <a:r>
              <a:rPr lang="en-US" sz="1200" kern="1200" dirty="0">
                <a:solidFill>
                  <a:schemeClr val="tx1"/>
                </a:solidFill>
                <a:latin typeface="+mn-lt"/>
                <a:ea typeface="+mn-ea"/>
                <a:cs typeface="+mn-cs"/>
              </a:rPr>
              <a:t>So we need other types of variables: </a:t>
            </a:r>
          </a:p>
        </p:txBody>
      </p:sp>
      <p:sp>
        <p:nvSpPr>
          <p:cNvPr id="4" name="Slide Number Placeholder 3"/>
          <p:cNvSpPr>
            <a:spLocks noGrp="1"/>
          </p:cNvSpPr>
          <p:nvPr>
            <p:ph type="sldNum" sz="quarter" idx="10"/>
          </p:nvPr>
        </p:nvSpPr>
        <p:spPr/>
        <p:txBody>
          <a:bodyPr/>
          <a:lstStyle/>
          <a:p>
            <a:fld id="{0D2A8CFD-7D0E-984D-8B4C-26FF9E5765E5}" type="slidenum">
              <a:rPr lang="en-US" smtClean="0"/>
              <a:pPr/>
              <a:t>15</a:t>
            </a:fld>
            <a:endParaRPr lang="en-US"/>
          </a:p>
        </p:txBody>
      </p:sp>
    </p:spTree>
    <p:extLst>
      <p:ext uri="{BB962C8B-B14F-4D97-AF65-F5344CB8AC3E}">
        <p14:creationId xmlns:p14="http://schemas.microsoft.com/office/powerpoint/2010/main" val="3781677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16</a:t>
            </a:fld>
            <a:endParaRPr lang="en-US"/>
          </a:p>
        </p:txBody>
      </p:sp>
    </p:spTree>
    <p:extLst>
      <p:ext uri="{BB962C8B-B14F-4D97-AF65-F5344CB8AC3E}">
        <p14:creationId xmlns:p14="http://schemas.microsoft.com/office/powerpoint/2010/main" val="3174225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A list is a variable that stores any type of data (numbers or strings). Here's an example of creating a list: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 we can see that each individual element of the list should be separated by a comma, and the whole thing should have a square bracket on each end.</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17</a:t>
            </a:fld>
            <a:endParaRPr lang="en-US"/>
          </a:p>
        </p:txBody>
      </p:sp>
    </p:spTree>
    <p:extLst>
      <p:ext uri="{BB962C8B-B14F-4D97-AF65-F5344CB8AC3E}">
        <p14:creationId xmlns:p14="http://schemas.microsoft.com/office/powerpoint/2010/main" val="32428501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Here's an example of an </a:t>
            </a:r>
            <a:r>
              <a:rPr lang="en-US" sz="1200" b="1" i="0" kern="1200" dirty="0">
                <a:solidFill>
                  <a:schemeClr val="tx1"/>
                </a:solidFill>
                <a:effectLst/>
                <a:latin typeface="+mn-lt"/>
                <a:ea typeface="+mn-ea"/>
                <a:cs typeface="+mn-cs"/>
              </a:rPr>
              <a:t>array</a:t>
            </a:r>
            <a:r>
              <a:rPr lang="en-US" sz="1200" b="0" i="0" kern="1200" dirty="0">
                <a:solidFill>
                  <a:schemeClr val="tx1"/>
                </a:solidFill>
                <a:effectLst/>
                <a:latin typeface="+mn-lt"/>
                <a:ea typeface="+mn-ea"/>
                <a:cs typeface="+mn-cs"/>
              </a:rPr>
              <a:t>. Creating arrays requires the </a:t>
            </a:r>
            <a:r>
              <a:rPr lang="en-US" sz="1200" b="0" i="0" kern="1200" dirty="0" err="1">
                <a:solidFill>
                  <a:schemeClr val="tx1"/>
                </a:solidFill>
                <a:effectLst/>
                <a:latin typeface="+mn-lt"/>
                <a:ea typeface="+mn-ea"/>
                <a:cs typeface="+mn-cs"/>
              </a:rPr>
              <a:t>numpy</a:t>
            </a:r>
            <a:r>
              <a:rPr lang="en-US" sz="1200" b="0" i="0" kern="1200" dirty="0">
                <a:solidFill>
                  <a:schemeClr val="tx1"/>
                </a:solidFill>
                <a:effectLst/>
                <a:latin typeface="+mn-lt"/>
                <a:ea typeface="+mn-ea"/>
                <a:cs typeface="+mn-cs"/>
              </a:rPr>
              <a:t> package (introduced above), and uses the array function. The array function takes a list by enclosing numbers with square brackets and turns it into an array by enclosing the list with round brackets. All values in an array must be numbers, no strings.</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18</a:t>
            </a:fld>
            <a:endParaRPr lang="en-US"/>
          </a:p>
        </p:txBody>
      </p:sp>
    </p:spTree>
    <p:extLst>
      <p:ext uri="{BB962C8B-B14F-4D97-AF65-F5344CB8AC3E}">
        <p14:creationId xmlns:p14="http://schemas.microsoft.com/office/powerpoint/2010/main" val="2911700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Again, an array or list has multiple elements.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can retrieve elements in the array with indexing numbers which refers to specific locations.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indexing starts at 0 in python, so the index 0 refers to the first value, 1 refers to the second value, and so on.</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19</a:t>
            </a:fld>
            <a:endParaRPr lang="en-US"/>
          </a:p>
        </p:txBody>
      </p:sp>
    </p:spTree>
    <p:extLst>
      <p:ext uri="{BB962C8B-B14F-4D97-AF65-F5344CB8AC3E}">
        <p14:creationId xmlns:p14="http://schemas.microsoft.com/office/powerpoint/2010/main" val="1185558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The example here is indexing the array which we already created. </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To Extract the first value of </a:t>
            </a:r>
            <a:r>
              <a:rPr lang="en-US" sz="1200" kern="1200" dirty="0" err="1">
                <a:solidFill>
                  <a:schemeClr val="tx1"/>
                </a:solidFill>
                <a:latin typeface="+mn-lt"/>
                <a:ea typeface="+mn-ea"/>
                <a:cs typeface="+mn-cs"/>
              </a:rPr>
              <a:t>my_array</a:t>
            </a:r>
            <a:r>
              <a:rPr lang="en-US" sz="1200" kern="1200" dirty="0">
                <a:solidFill>
                  <a:schemeClr val="tx1"/>
                </a:solidFill>
                <a:latin typeface="+mn-lt"/>
                <a:ea typeface="+mn-ea"/>
                <a:cs typeface="+mn-cs"/>
              </a:rPr>
              <a:t>, we can use index 0. Just need to put the name of variable followed by indexing number which is zero, enclosed by square brackets.</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If you want to find values in a certain range, you can use colon. For example, to extract the first two values of the variable, we have to type 0:2 instead of 0:1 because indexing is not inclusive of end value.</a:t>
            </a:r>
          </a:p>
        </p:txBody>
      </p:sp>
      <p:sp>
        <p:nvSpPr>
          <p:cNvPr id="4" name="Slide Number Placeholder 3"/>
          <p:cNvSpPr>
            <a:spLocks noGrp="1"/>
          </p:cNvSpPr>
          <p:nvPr>
            <p:ph type="sldNum" sz="quarter" idx="10"/>
          </p:nvPr>
        </p:nvSpPr>
        <p:spPr/>
        <p:txBody>
          <a:bodyPr/>
          <a:lstStyle/>
          <a:p>
            <a:fld id="{0D2A8CFD-7D0E-984D-8B4C-26FF9E5765E5}" type="slidenum">
              <a:rPr lang="en-US" smtClean="0"/>
              <a:pPr/>
              <a:t>20</a:t>
            </a:fld>
            <a:endParaRPr lang="en-US"/>
          </a:p>
        </p:txBody>
      </p:sp>
    </p:spTree>
    <p:extLst>
      <p:ext uri="{BB962C8B-B14F-4D97-AF65-F5344CB8AC3E}">
        <p14:creationId xmlns:p14="http://schemas.microsoft.com/office/powerpoint/2010/main" val="3890786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We can index 2D arrays and lists as well.</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To create the 2 dimensional array, we need to make the commend this way. In the round brackets after the function, which is array, </a:t>
            </a:r>
            <a:r>
              <a:rPr lang="en-US" sz="1200" b="0" i="0" kern="1200" dirty="0">
                <a:solidFill>
                  <a:schemeClr val="tx1"/>
                </a:solidFill>
                <a:effectLst/>
                <a:latin typeface="+mn-lt"/>
                <a:ea typeface="+mn-ea"/>
                <a:cs typeface="+mn-cs"/>
              </a:rPr>
              <a:t>there are square brackets around the whole thing, then individual square brackets around the values that will become each row in the array, with a comma in the middle. Each row in the array is entered as its own list.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use indexing, we need to use 2 values to refer to the row and column of the value that we want to access, instead of indexing with only one value. Again, the values of the first row and first column start at 0. </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21</a:t>
            </a:fld>
            <a:endParaRPr lang="en-US"/>
          </a:p>
        </p:txBody>
      </p:sp>
    </p:spTree>
    <p:extLst>
      <p:ext uri="{BB962C8B-B14F-4D97-AF65-F5344CB8AC3E}">
        <p14:creationId xmlns:p14="http://schemas.microsoft.com/office/powerpoint/2010/main" val="981088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We can apply some basic functions for arrays.</a:t>
            </a:r>
          </a:p>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22</a:t>
            </a:fld>
            <a:endParaRPr lang="en-US"/>
          </a:p>
        </p:txBody>
      </p:sp>
    </p:spTree>
    <p:extLst>
      <p:ext uri="{BB962C8B-B14F-4D97-AF65-F5344CB8AC3E}">
        <p14:creationId xmlns:p14="http://schemas.microsoft.com/office/powerpoint/2010/main" val="4275227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To import data from a csv file, use the function </a:t>
            </a:r>
            <a:r>
              <a:rPr lang="en-US" dirty="0" err="1"/>
              <a:t>read_csv</a:t>
            </a:r>
            <a:r>
              <a:rPr lang="en-US" sz="1200" b="0" i="0" kern="1200" dirty="0">
                <a:solidFill>
                  <a:schemeClr val="tx1"/>
                </a:solidFill>
                <a:effectLst/>
                <a:latin typeface="+mn-lt"/>
                <a:ea typeface="+mn-ea"/>
                <a:cs typeface="+mn-cs"/>
              </a:rPr>
              <a:t> from the pandas package. The data is imported into a variable type called a </a:t>
            </a:r>
            <a:r>
              <a:rPr lang="en-US" sz="1200" b="0" i="0" kern="1200" dirty="0" err="1">
                <a:solidFill>
                  <a:schemeClr val="tx1"/>
                </a:solidFill>
                <a:effectLst/>
                <a:latin typeface="+mn-lt"/>
                <a:ea typeface="+mn-ea"/>
                <a:cs typeface="+mn-cs"/>
              </a:rPr>
              <a:t>dataframe</a:t>
            </a:r>
            <a:r>
              <a:rPr lang="en-US" sz="1200" b="0" i="0" kern="1200" dirty="0">
                <a:solidFill>
                  <a:schemeClr val="tx1"/>
                </a:solidFill>
                <a:effectLst/>
                <a:latin typeface="+mn-lt"/>
                <a:ea typeface="+mn-ea"/>
                <a:cs typeface="+mn-cs"/>
              </a:rPr>
              <a:t>, which is like an array, but has more capabilities. Again, we'll learn more about </a:t>
            </a:r>
            <a:r>
              <a:rPr lang="en-US" sz="1200" b="0" i="0" kern="1200" dirty="0" err="1">
                <a:solidFill>
                  <a:schemeClr val="tx1"/>
                </a:solidFill>
                <a:effectLst/>
                <a:latin typeface="+mn-lt"/>
                <a:ea typeface="+mn-ea"/>
                <a:cs typeface="+mn-cs"/>
              </a:rPr>
              <a:t>dataframes</a:t>
            </a:r>
            <a:r>
              <a:rPr lang="en-US" sz="1200" b="0" i="0" kern="1200" dirty="0">
                <a:solidFill>
                  <a:schemeClr val="tx1"/>
                </a:solidFill>
                <a:effectLst/>
                <a:latin typeface="+mn-lt"/>
                <a:ea typeface="+mn-ea"/>
                <a:cs typeface="+mn-cs"/>
              </a:rPr>
              <a:t> next week.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this example, the csv file </a:t>
            </a:r>
            <a:r>
              <a:rPr lang="en-US" sz="1200" b="0" i="0" kern="1200" dirty="0" err="1">
                <a:solidFill>
                  <a:schemeClr val="tx1"/>
                </a:solidFill>
                <a:effectLst/>
                <a:latin typeface="+mn-lt"/>
                <a:ea typeface="+mn-ea"/>
                <a:cs typeface="+mn-cs"/>
              </a:rPr>
              <a:t>JES_Water</a:t>
            </a:r>
            <a:r>
              <a:rPr lang="en-US" sz="1200" b="0" i="0" kern="1200" dirty="0">
                <a:solidFill>
                  <a:schemeClr val="tx1"/>
                </a:solidFill>
                <a:effectLst/>
                <a:latin typeface="+mn-lt"/>
                <a:ea typeface="+mn-ea"/>
                <a:cs typeface="+mn-cs"/>
              </a:rPr>
              <a:t> is imported, which contains its water consumption, and other information.</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23</a:t>
            </a:fld>
            <a:endParaRPr lang="en-US"/>
          </a:p>
        </p:txBody>
      </p:sp>
    </p:spTree>
    <p:extLst>
      <p:ext uri="{BB962C8B-B14F-4D97-AF65-F5344CB8AC3E}">
        <p14:creationId xmlns:p14="http://schemas.microsoft.com/office/powerpoint/2010/main" val="3377878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err="1">
                <a:solidFill>
                  <a:schemeClr val="tx1"/>
                </a:solidFill>
                <a:effectLst/>
                <a:latin typeface="+mn-lt"/>
                <a:ea typeface="+mn-ea"/>
                <a:cs typeface="+mn-cs"/>
              </a:rPr>
              <a:t>NaN</a:t>
            </a:r>
            <a:r>
              <a:rPr lang="en-US" sz="1200" b="0" i="0" kern="1200" dirty="0">
                <a:solidFill>
                  <a:schemeClr val="tx1"/>
                </a:solidFill>
                <a:effectLst/>
                <a:latin typeface="+mn-lt"/>
                <a:ea typeface="+mn-ea"/>
                <a:cs typeface="+mn-cs"/>
              </a:rPr>
              <a:t> (not a number) values are very common in real world data (coming from an error of a sensor, or a reporting error)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It's important to know if your data has </a:t>
            </a:r>
            <a:r>
              <a:rPr lang="en-US" sz="1200" b="0" i="0" kern="1200" dirty="0" err="1">
                <a:solidFill>
                  <a:schemeClr val="tx1"/>
                </a:solidFill>
                <a:effectLst/>
                <a:latin typeface="+mn-lt"/>
                <a:ea typeface="+mn-ea"/>
                <a:cs typeface="+mn-cs"/>
              </a:rPr>
              <a:t>NaN</a:t>
            </a:r>
            <a:r>
              <a:rPr lang="en-US" sz="1200" b="0" i="0" kern="1200" dirty="0">
                <a:solidFill>
                  <a:schemeClr val="tx1"/>
                </a:solidFill>
                <a:effectLst/>
                <a:latin typeface="+mn-lt"/>
                <a:ea typeface="+mn-ea"/>
                <a:cs typeface="+mn-cs"/>
              </a:rPr>
              <a:t> values, because this can impact which functions to use and how different functions perform.</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24</a:t>
            </a:fld>
            <a:endParaRPr lang="en-US"/>
          </a:p>
        </p:txBody>
      </p:sp>
    </p:spTree>
    <p:extLst>
      <p:ext uri="{BB962C8B-B14F-4D97-AF65-F5344CB8AC3E}">
        <p14:creationId xmlns:p14="http://schemas.microsoft.com/office/powerpoint/2010/main" val="22542670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You cannot put indents or spaces for the beginning of a line of code.</a:t>
            </a:r>
          </a:p>
        </p:txBody>
      </p:sp>
      <p:sp>
        <p:nvSpPr>
          <p:cNvPr id="4" name="Slide Number Placeholder 3"/>
          <p:cNvSpPr>
            <a:spLocks noGrp="1"/>
          </p:cNvSpPr>
          <p:nvPr>
            <p:ph type="sldNum" sz="quarter" idx="10"/>
          </p:nvPr>
        </p:nvSpPr>
        <p:spPr/>
        <p:txBody>
          <a:bodyPr/>
          <a:lstStyle/>
          <a:p>
            <a:fld id="{0D2A8CFD-7D0E-984D-8B4C-26FF9E5765E5}" type="slidenum">
              <a:rPr lang="en-US" smtClean="0"/>
              <a:pPr/>
              <a:t>25</a:t>
            </a:fld>
            <a:endParaRPr lang="en-US"/>
          </a:p>
        </p:txBody>
      </p:sp>
    </p:spTree>
    <p:extLst>
      <p:ext uri="{BB962C8B-B14F-4D97-AF65-F5344CB8AC3E}">
        <p14:creationId xmlns:p14="http://schemas.microsoft.com/office/powerpoint/2010/main" val="2998928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26</a:t>
            </a:fld>
            <a:endParaRPr lang="en-US"/>
          </a:p>
        </p:txBody>
      </p:sp>
    </p:spTree>
    <p:extLst>
      <p:ext uri="{BB962C8B-B14F-4D97-AF65-F5344CB8AC3E}">
        <p14:creationId xmlns:p14="http://schemas.microsoft.com/office/powerpoint/2010/main" val="2548818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27</a:t>
            </a:fld>
            <a:endParaRPr lang="en-US"/>
          </a:p>
        </p:txBody>
      </p:sp>
    </p:spTree>
    <p:extLst>
      <p:ext uri="{BB962C8B-B14F-4D97-AF65-F5344CB8AC3E}">
        <p14:creationId xmlns:p14="http://schemas.microsoft.com/office/powerpoint/2010/main" val="3411465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28</a:t>
            </a:fld>
            <a:endParaRPr lang="en-US"/>
          </a:p>
        </p:txBody>
      </p:sp>
    </p:spTree>
    <p:extLst>
      <p:ext uri="{BB962C8B-B14F-4D97-AF65-F5344CB8AC3E}">
        <p14:creationId xmlns:p14="http://schemas.microsoft.com/office/powerpoint/2010/main" val="19552721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29</a:t>
            </a:fld>
            <a:endParaRPr lang="en-US"/>
          </a:p>
        </p:txBody>
      </p:sp>
    </p:spTree>
    <p:extLst>
      <p:ext uri="{BB962C8B-B14F-4D97-AF65-F5344CB8AC3E}">
        <p14:creationId xmlns:p14="http://schemas.microsoft.com/office/powerpoint/2010/main" val="851509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14943DF-96DD-0D4F-92D5-C618E980F5F7}" type="datetime1">
              <a:rPr lang="en-US" smtClean="0"/>
              <a:t>9/4/25</a:t>
            </a:fld>
            <a:endParaRPr lang="en-US"/>
          </a:p>
        </p:txBody>
      </p:sp>
      <p:sp>
        <p:nvSpPr>
          <p:cNvPr id="5" name="Footer Placeholder 4"/>
          <p:cNvSpPr>
            <a:spLocks noGrp="1"/>
          </p:cNvSpPr>
          <p:nvPr>
            <p:ph type="ftr" sz="quarter" idx="11"/>
          </p:nvPr>
        </p:nvSpPr>
        <p:spPr/>
        <p:txBody>
          <a:bodyPr/>
          <a:lstStyle/>
          <a:p>
            <a:r>
              <a:rPr lang="en-US" dirty="0"/>
              <a:t>EVE310 Fall 2022 Lab 2</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74780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7C642C-EA57-FE40-A735-DBDD37BE5E91}" type="datetime1">
              <a:rPr lang="en-US" smtClean="0"/>
              <a:t>9/4/25</a:t>
            </a:fld>
            <a:endParaRPr lang="en-US"/>
          </a:p>
        </p:txBody>
      </p:sp>
      <p:sp>
        <p:nvSpPr>
          <p:cNvPr id="5" name="Footer Placeholder 4"/>
          <p:cNvSpPr>
            <a:spLocks noGrp="1"/>
          </p:cNvSpPr>
          <p:nvPr>
            <p:ph type="ftr" sz="quarter" idx="11"/>
          </p:nvPr>
        </p:nvSpPr>
        <p:spPr/>
        <p:txBody>
          <a:bodyPr/>
          <a:lstStyle/>
          <a:p>
            <a:r>
              <a:rPr lang="en-US" dirty="0"/>
              <a:t>EVE310 Fall 2022 Lab 2</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765250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0099FD-2F91-304E-8FF1-880ED3A852BF}" type="datetime1">
              <a:rPr lang="en-US" smtClean="0"/>
              <a:t>9/4/25</a:t>
            </a:fld>
            <a:endParaRPr lang="en-US"/>
          </a:p>
        </p:txBody>
      </p:sp>
      <p:sp>
        <p:nvSpPr>
          <p:cNvPr id="5" name="Footer Placeholder 4"/>
          <p:cNvSpPr>
            <a:spLocks noGrp="1"/>
          </p:cNvSpPr>
          <p:nvPr>
            <p:ph type="ftr" sz="quarter" idx="11"/>
          </p:nvPr>
        </p:nvSpPr>
        <p:spPr/>
        <p:txBody>
          <a:bodyPr/>
          <a:lstStyle/>
          <a:p>
            <a:r>
              <a:rPr lang="en-US" dirty="0"/>
              <a:t>EVE310 Fall 2022 Lab 2</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68969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32A6B9-81BE-CF4F-A7F8-C8C6EE3342B6}" type="datetime1">
              <a:rPr lang="en-US" smtClean="0"/>
              <a:t>9/4/25</a:t>
            </a:fld>
            <a:endParaRPr lang="en-US"/>
          </a:p>
        </p:txBody>
      </p:sp>
      <p:sp>
        <p:nvSpPr>
          <p:cNvPr id="6" name="Footer Placeholder 5"/>
          <p:cNvSpPr>
            <a:spLocks noGrp="1"/>
          </p:cNvSpPr>
          <p:nvPr>
            <p:ph type="ftr" sz="quarter" idx="11"/>
          </p:nvPr>
        </p:nvSpPr>
        <p:spPr/>
        <p:txBody>
          <a:bodyPr/>
          <a:lstStyle/>
          <a:p>
            <a:r>
              <a:rPr lang="en-US" dirty="0"/>
              <a:t>EVE310 Fall 2022 Lab 2</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3912983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9693FA-2828-834E-812A-6101CFF16CBB}" type="datetime1">
              <a:rPr lang="en-US" smtClean="0"/>
              <a:t>9/4/25</a:t>
            </a:fld>
            <a:endParaRPr lang="en-US"/>
          </a:p>
        </p:txBody>
      </p:sp>
      <p:sp>
        <p:nvSpPr>
          <p:cNvPr id="8" name="Footer Placeholder 7"/>
          <p:cNvSpPr>
            <a:spLocks noGrp="1"/>
          </p:cNvSpPr>
          <p:nvPr>
            <p:ph type="ftr" sz="quarter" idx="11"/>
          </p:nvPr>
        </p:nvSpPr>
        <p:spPr/>
        <p:txBody>
          <a:bodyPr/>
          <a:lstStyle/>
          <a:p>
            <a:r>
              <a:rPr lang="en-US" dirty="0"/>
              <a:t>EVE310 Fall 2022 Lab 2</a:t>
            </a:r>
          </a:p>
        </p:txBody>
      </p:sp>
      <p:sp>
        <p:nvSpPr>
          <p:cNvPr id="9" name="Slide Number Placeholder 8"/>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86584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6D069E-4038-F746-9D16-2988C5328555}" type="datetime1">
              <a:rPr lang="en-US" smtClean="0"/>
              <a:t>9/4/25</a:t>
            </a:fld>
            <a:endParaRPr lang="en-US"/>
          </a:p>
        </p:txBody>
      </p:sp>
      <p:sp>
        <p:nvSpPr>
          <p:cNvPr id="4" name="Footer Placeholder 3"/>
          <p:cNvSpPr>
            <a:spLocks noGrp="1"/>
          </p:cNvSpPr>
          <p:nvPr>
            <p:ph type="ftr" sz="quarter" idx="11"/>
          </p:nvPr>
        </p:nvSpPr>
        <p:spPr/>
        <p:txBody>
          <a:bodyPr/>
          <a:lstStyle/>
          <a:p>
            <a:r>
              <a:rPr lang="en-US" dirty="0"/>
              <a:t>EVE310 Fall 2022 Lab 2</a:t>
            </a:r>
          </a:p>
        </p:txBody>
      </p:sp>
      <p:sp>
        <p:nvSpPr>
          <p:cNvPr id="5" name="Slide Number Placeholder 4"/>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908462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1A41D5-8EB4-6A4A-B149-532659CB7548}" type="datetime1">
              <a:rPr lang="en-US" smtClean="0"/>
              <a:t>9/4/25</a:t>
            </a:fld>
            <a:endParaRPr lang="en-US"/>
          </a:p>
        </p:txBody>
      </p:sp>
      <p:sp>
        <p:nvSpPr>
          <p:cNvPr id="3" name="Footer Placeholder 2"/>
          <p:cNvSpPr>
            <a:spLocks noGrp="1"/>
          </p:cNvSpPr>
          <p:nvPr>
            <p:ph type="ftr" sz="quarter" idx="11"/>
          </p:nvPr>
        </p:nvSpPr>
        <p:spPr/>
        <p:txBody>
          <a:bodyPr/>
          <a:lstStyle/>
          <a:p>
            <a:r>
              <a:rPr lang="en-US" dirty="0"/>
              <a:t>EVE310 Fall 2022 Lab 2</a:t>
            </a:r>
          </a:p>
        </p:txBody>
      </p:sp>
      <p:sp>
        <p:nvSpPr>
          <p:cNvPr id="4" name="Slide Number Placeholder 3"/>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695635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95774-A5FB-D44D-AF8E-0055F52CCF5F}" type="datetime1">
              <a:rPr lang="en-US" smtClean="0"/>
              <a:t>9/4/25</a:t>
            </a:fld>
            <a:endParaRPr lang="en-US"/>
          </a:p>
        </p:txBody>
      </p:sp>
      <p:sp>
        <p:nvSpPr>
          <p:cNvPr id="6" name="Footer Placeholder 5"/>
          <p:cNvSpPr>
            <a:spLocks noGrp="1"/>
          </p:cNvSpPr>
          <p:nvPr>
            <p:ph type="ftr" sz="quarter" idx="11"/>
          </p:nvPr>
        </p:nvSpPr>
        <p:spPr/>
        <p:txBody>
          <a:bodyPr/>
          <a:lstStyle/>
          <a:p>
            <a:r>
              <a:rPr lang="en-US" dirty="0"/>
              <a:t>EVE310 Fall 2022 Lab 2</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8375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8ECC5E-4E52-A24C-923B-CCD08476D296}" type="datetime1">
              <a:rPr lang="en-US" smtClean="0"/>
              <a:t>9/4/25</a:t>
            </a:fld>
            <a:endParaRPr lang="en-US"/>
          </a:p>
        </p:txBody>
      </p:sp>
      <p:sp>
        <p:nvSpPr>
          <p:cNvPr id="6" name="Footer Placeholder 5"/>
          <p:cNvSpPr>
            <a:spLocks noGrp="1"/>
          </p:cNvSpPr>
          <p:nvPr>
            <p:ph type="ftr" sz="quarter" idx="11"/>
          </p:nvPr>
        </p:nvSpPr>
        <p:spPr/>
        <p:txBody>
          <a:bodyPr/>
          <a:lstStyle/>
          <a:p>
            <a:r>
              <a:rPr lang="en-US" dirty="0"/>
              <a:t>EVE310 Fall 2022 Lab 2</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65322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FE2135-BCC2-ED4E-BB10-65ECCC3E9D20}" type="datetime1">
              <a:rPr lang="en-US" smtClean="0"/>
              <a:t>9/4/25</a:t>
            </a:fld>
            <a:endParaRPr lang="en-US"/>
          </a:p>
        </p:txBody>
      </p:sp>
      <p:sp>
        <p:nvSpPr>
          <p:cNvPr id="5" name="Footer Placeholder 4"/>
          <p:cNvSpPr>
            <a:spLocks noGrp="1"/>
          </p:cNvSpPr>
          <p:nvPr>
            <p:ph type="ftr" sz="quarter" idx="11"/>
          </p:nvPr>
        </p:nvSpPr>
        <p:spPr/>
        <p:txBody>
          <a:bodyPr/>
          <a:lstStyle/>
          <a:p>
            <a:r>
              <a:rPr lang="en-US" dirty="0"/>
              <a:t>EVE310 Fall 2022 Lab 2</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77705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D75E4F-A208-9E4E-89FC-269B0485F0B5}" type="datetime1">
              <a:rPr lang="en-US" smtClean="0"/>
              <a:t>9/4/25</a:t>
            </a:fld>
            <a:endParaRPr lang="en-US"/>
          </a:p>
        </p:txBody>
      </p:sp>
      <p:sp>
        <p:nvSpPr>
          <p:cNvPr id="5" name="Footer Placeholder 4"/>
          <p:cNvSpPr>
            <a:spLocks noGrp="1"/>
          </p:cNvSpPr>
          <p:nvPr>
            <p:ph type="ftr" sz="quarter" idx="11"/>
          </p:nvPr>
        </p:nvSpPr>
        <p:spPr/>
        <p:txBody>
          <a:bodyPr/>
          <a:lstStyle/>
          <a:p>
            <a:r>
              <a:rPr lang="en-US" dirty="0"/>
              <a:t>EVE310 Fall 2022 Lab 2</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3586264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BBA1DA-CF64-C44A-B54C-F08A865BBFAA}" type="datetime1">
              <a:rPr lang="en-US" smtClean="0"/>
              <a:t>9/4/25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EVE310 Fall 2022 Lab 2</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8848B6-D328-4CC8-99C6-D5689AE94DF4}" type="slidenum">
              <a:rPr lang="en-US" smtClean="0"/>
              <a:t>‹#›</a:t>
            </a:fld>
            <a:endParaRPr lang="en-US"/>
          </a:p>
        </p:txBody>
      </p:sp>
    </p:spTree>
    <p:extLst>
      <p:ext uri="{BB962C8B-B14F-4D97-AF65-F5344CB8AC3E}">
        <p14:creationId xmlns:p14="http://schemas.microsoft.com/office/powerpoint/2010/main" val="3071034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hyperlink" Target="https://www.learnpython.org/en/Variables_and_Types"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datacamp.com/community/tutorials/lists-python"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hyperlink" Target="https://www.datacamp.com/community/tutorials/pandas-tutorial-dataframe-python" TargetMode="External"/><Relationship Id="rId4" Type="http://schemas.openxmlformats.org/officeDocument/2006/relationships/hyperlink" Target="https://www.datacamp.com/community/tutorials/python-numpy-tutoria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4.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057398"/>
            <a:ext cx="10363200" cy="1470025"/>
          </a:xfrm>
          <a:noFill/>
        </p:spPr>
        <p:txBody>
          <a:bodyPr/>
          <a:lstStyle/>
          <a:p>
            <a:r>
              <a:rPr lang="en-US" dirty="0"/>
              <a:t>EVE310 Lab 2</a:t>
            </a:r>
          </a:p>
        </p:txBody>
      </p:sp>
      <p:sp>
        <p:nvSpPr>
          <p:cNvPr id="3" name="Subtitle 2"/>
          <p:cNvSpPr>
            <a:spLocks noGrp="1"/>
          </p:cNvSpPr>
          <p:nvPr>
            <p:ph type="subTitle" idx="1"/>
          </p:nvPr>
        </p:nvSpPr>
        <p:spPr>
          <a:noFill/>
        </p:spPr>
        <p:txBody>
          <a:bodyPr/>
          <a:lstStyle/>
          <a:p>
            <a:r>
              <a:rPr lang="en-US" dirty="0"/>
              <a:t>September 4, 2025</a:t>
            </a:r>
          </a:p>
          <a:p>
            <a:endParaRPr lang="en-US" dirty="0"/>
          </a:p>
        </p:txBody>
      </p:sp>
      <p:sp>
        <p:nvSpPr>
          <p:cNvPr id="4" name="Slide Number Placeholder 3"/>
          <p:cNvSpPr>
            <a:spLocks noGrp="1"/>
          </p:cNvSpPr>
          <p:nvPr>
            <p:ph type="sldNum" sz="quarter" idx="12"/>
          </p:nvPr>
        </p:nvSpPr>
        <p:spPr/>
        <p:txBody>
          <a:bodyPr/>
          <a:lstStyle/>
          <a:p>
            <a:fld id="{2E8848B6-D328-4CC8-99C6-D5689AE94DF4}" type="slidenum">
              <a:rPr lang="en-US" smtClean="0"/>
              <a:t>1</a:t>
            </a:fld>
            <a:endParaRPr lang="en-US"/>
          </a:p>
        </p:txBody>
      </p:sp>
      <p:sp>
        <p:nvSpPr>
          <p:cNvPr id="6" name="Footer Placeholder 5"/>
          <p:cNvSpPr>
            <a:spLocks noGrp="1"/>
          </p:cNvSpPr>
          <p:nvPr>
            <p:ph type="ftr" sz="quarter" idx="11"/>
          </p:nvPr>
        </p:nvSpPr>
        <p:spPr/>
        <p:txBody>
          <a:bodyPr/>
          <a:lstStyle/>
          <a:p>
            <a:r>
              <a:rPr lang="en-US" dirty="0"/>
              <a:t>EVE310 Fall 2025 Lab 2</a:t>
            </a:r>
          </a:p>
        </p:txBody>
      </p:sp>
    </p:spTree>
    <p:extLst>
      <p:ext uri="{BB962C8B-B14F-4D97-AF65-F5344CB8AC3E}">
        <p14:creationId xmlns:p14="http://schemas.microsoft.com/office/powerpoint/2010/main" val="973730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a:t>
            </a:fld>
            <a:endParaRPr lang="en-US"/>
          </a:p>
        </p:txBody>
      </p:sp>
      <p:sp>
        <p:nvSpPr>
          <p:cNvPr id="4" name="Rectangle 3"/>
          <p:cNvSpPr/>
          <p:nvPr/>
        </p:nvSpPr>
        <p:spPr>
          <a:xfrm>
            <a:off x="609600" y="1135647"/>
            <a:ext cx="7257774" cy="2060179"/>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Use the modules feature in Canvas to see relevant files:</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Module will be published before lab</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Quizzes will be available in the afternoon after lab</a:t>
            </a:r>
          </a:p>
        </p:txBody>
      </p:sp>
      <p:sp>
        <p:nvSpPr>
          <p:cNvPr id="5" name="Rectangle 1"/>
          <p:cNvSpPr txBox="1">
            <a:spLocks noChangeArrowheads="1"/>
          </p:cNvSpPr>
          <p:nvPr/>
        </p:nvSpPr>
        <p:spPr>
          <a:xfrm>
            <a:off x="0" y="9939"/>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Announcements</a:t>
            </a:r>
          </a:p>
        </p:txBody>
      </p:sp>
      <p:pic>
        <p:nvPicPr>
          <p:cNvPr id="2" name="Picture 1">
            <a:extLst>
              <a:ext uri="{FF2B5EF4-FFF2-40B4-BE49-F238E27FC236}">
                <a16:creationId xmlns:a16="http://schemas.microsoft.com/office/drawing/2014/main" id="{EC7B9277-BFAD-46B1-A02D-275F8C422CEC}"/>
              </a:ext>
            </a:extLst>
          </p:cNvPr>
          <p:cNvPicPr>
            <a:picLocks noChangeAspect="1"/>
          </p:cNvPicPr>
          <p:nvPr/>
        </p:nvPicPr>
        <p:blipFill rotWithShape="1">
          <a:blip r:embed="rId3"/>
          <a:srcRect r="12784"/>
          <a:stretch/>
        </p:blipFill>
        <p:spPr>
          <a:xfrm>
            <a:off x="8229600" y="1371600"/>
            <a:ext cx="3556000" cy="3496163"/>
          </a:xfrm>
          <a:prstGeom prst="rect">
            <a:avLst/>
          </a:prstGeom>
        </p:spPr>
      </p:pic>
      <p:sp>
        <p:nvSpPr>
          <p:cNvPr id="7" name="TextBox 6">
            <a:extLst>
              <a:ext uri="{FF2B5EF4-FFF2-40B4-BE49-F238E27FC236}">
                <a16:creationId xmlns:a16="http://schemas.microsoft.com/office/drawing/2014/main" id="{44425A37-AB49-4613-AF68-A3FFB7A46285}"/>
              </a:ext>
            </a:extLst>
          </p:cNvPr>
          <p:cNvSpPr txBox="1"/>
          <p:nvPr/>
        </p:nvSpPr>
        <p:spPr>
          <a:xfrm>
            <a:off x="6477000" y="4684693"/>
            <a:ext cx="5286103" cy="954107"/>
          </a:xfrm>
          <a:prstGeom prst="rect">
            <a:avLst/>
          </a:prstGeom>
          <a:solidFill>
            <a:schemeClr val="accent6">
              <a:lumMod val="40000"/>
              <a:lumOff val="60000"/>
            </a:schemeClr>
          </a:solidFill>
          <a:ln>
            <a:solidFill>
              <a:schemeClr val="accent6">
                <a:lumMod val="50000"/>
              </a:schemeClr>
            </a:solidFill>
          </a:ln>
        </p:spPr>
        <p:txBody>
          <a:bodyPr wrap="square" rtlCol="0">
            <a:spAutoFit/>
          </a:bodyPr>
          <a:lstStyle/>
          <a:p>
            <a:r>
              <a:rPr lang="en-US" sz="1400" dirty="0"/>
              <a:t>Tip: Good file storage/management is key for this class and coding/research in general! Create an EVE 310 folder on your computer with a separate subfolder for each lab. Store lab handouts, data, and activities here as soon as you download from Canvas. </a:t>
            </a:r>
          </a:p>
        </p:txBody>
      </p:sp>
      <p:sp>
        <p:nvSpPr>
          <p:cNvPr id="6" name="Footer Placeholder 5">
            <a:extLst>
              <a:ext uri="{FF2B5EF4-FFF2-40B4-BE49-F238E27FC236}">
                <a16:creationId xmlns:a16="http://schemas.microsoft.com/office/drawing/2014/main" id="{F517DA76-BC86-E524-0EFD-882C25D911B8}"/>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21242006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3</a:t>
            </a:fld>
            <a:endParaRPr lang="en-US"/>
          </a:p>
        </p:txBody>
      </p:sp>
      <p:sp>
        <p:nvSpPr>
          <p:cNvPr id="4" name="Rectangle 3"/>
          <p:cNvSpPr/>
          <p:nvPr/>
        </p:nvSpPr>
        <p:spPr>
          <a:xfrm>
            <a:off x="990600" y="1371600"/>
            <a:ext cx="8345394" cy="4513672"/>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a:solidFill>
                  <a:schemeClr val="tx1">
                    <a:lumMod val="75000"/>
                    <a:lumOff val="25000"/>
                  </a:schemeClr>
                </a:solidFill>
              </a:rPr>
              <a:t>Importing Data</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Comments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Working with Packages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Arithmetic Operators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Variable Types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Arrays and Indexing</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Other Tips: Indenting and Workspace Reset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Lab 2 Activity</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Lab 2 Learning Objectives</a:t>
            </a:r>
          </a:p>
        </p:txBody>
      </p:sp>
      <p:sp>
        <p:nvSpPr>
          <p:cNvPr id="6" name="TextBox 5">
            <a:extLst>
              <a:ext uri="{FF2B5EF4-FFF2-40B4-BE49-F238E27FC236}">
                <a16:creationId xmlns:a16="http://schemas.microsoft.com/office/drawing/2014/main" id="{99FDA13B-2B0F-AD4B-A658-0619C29D265D}"/>
              </a:ext>
            </a:extLst>
          </p:cNvPr>
          <p:cNvSpPr txBox="1"/>
          <p:nvPr/>
        </p:nvSpPr>
        <p:spPr>
          <a:xfrm>
            <a:off x="7696200" y="5311314"/>
            <a:ext cx="4114800" cy="830997"/>
          </a:xfrm>
          <a:prstGeom prst="rect">
            <a:avLst/>
          </a:prstGeom>
          <a:solidFill>
            <a:schemeClr val="accent6">
              <a:lumMod val="40000"/>
              <a:lumOff val="60000"/>
            </a:schemeClr>
          </a:solidFill>
          <a:ln>
            <a:solidFill>
              <a:schemeClr val="accent6">
                <a:lumMod val="50000"/>
              </a:schemeClr>
            </a:solidFill>
          </a:ln>
        </p:spPr>
        <p:txBody>
          <a:bodyPr wrap="square" rtlCol="0">
            <a:spAutoFit/>
          </a:bodyPr>
          <a:lstStyle/>
          <a:p>
            <a:r>
              <a:rPr lang="en-US" sz="2400" dirty="0"/>
              <a:t>Open the Lab 2 Tutorial Jupyter Notebook to follow along!</a:t>
            </a:r>
          </a:p>
        </p:txBody>
      </p:sp>
      <p:sp>
        <p:nvSpPr>
          <p:cNvPr id="2" name="Footer Placeholder 5">
            <a:extLst>
              <a:ext uri="{FF2B5EF4-FFF2-40B4-BE49-F238E27FC236}">
                <a16:creationId xmlns:a16="http://schemas.microsoft.com/office/drawing/2014/main" id="{8659C8EC-5595-C7A6-4EFB-D3CD3A79FBDE}"/>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43650935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4</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Comments in your Code</a:t>
            </a:r>
          </a:p>
        </p:txBody>
      </p:sp>
      <p:sp>
        <p:nvSpPr>
          <p:cNvPr id="6" name="TextBox 5">
            <a:extLst>
              <a:ext uri="{FF2B5EF4-FFF2-40B4-BE49-F238E27FC236}">
                <a16:creationId xmlns:a16="http://schemas.microsoft.com/office/drawing/2014/main" id="{A630D74F-18D0-45AA-BEEC-EA72762FC718}"/>
              </a:ext>
            </a:extLst>
          </p:cNvPr>
          <p:cNvSpPr txBox="1"/>
          <p:nvPr/>
        </p:nvSpPr>
        <p:spPr>
          <a:xfrm>
            <a:off x="838200" y="650079"/>
            <a:ext cx="8572500" cy="1569660"/>
          </a:xfrm>
          <a:prstGeom prst="rect">
            <a:avLst/>
          </a:prstGeom>
          <a:noFill/>
        </p:spPr>
        <p:txBody>
          <a:bodyPr wrap="square" rtlCol="0">
            <a:spAutoFit/>
          </a:bodyPr>
          <a:lstStyle/>
          <a:p>
            <a:r>
              <a:rPr lang="en-US" sz="4800" dirty="0"/>
              <a:t>#= single line comment</a:t>
            </a:r>
          </a:p>
          <a:p>
            <a:r>
              <a:rPr lang="en-US" sz="4800" dirty="0"/>
              <a:t>‘’’  ‘’’ = multi line comments</a:t>
            </a:r>
            <a:endParaRPr lang="en-US" sz="900" dirty="0"/>
          </a:p>
        </p:txBody>
      </p:sp>
      <p:sp>
        <p:nvSpPr>
          <p:cNvPr id="8" name="Rectangle 7">
            <a:extLst>
              <a:ext uri="{FF2B5EF4-FFF2-40B4-BE49-F238E27FC236}">
                <a16:creationId xmlns:a16="http://schemas.microsoft.com/office/drawing/2014/main" id="{C21AE477-6F40-4D4F-9243-0C67B73AF237}"/>
              </a:ext>
            </a:extLst>
          </p:cNvPr>
          <p:cNvSpPr/>
          <p:nvPr/>
        </p:nvSpPr>
        <p:spPr>
          <a:xfrm>
            <a:off x="689113" y="2525651"/>
            <a:ext cx="8382000" cy="2060179"/>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Leave notes to yourself and others in your code</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Any line that starts with # will be skipped by the computer, but humans can read it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Using ‘’’ ‘’’’</a:t>
            </a:r>
          </a:p>
        </p:txBody>
      </p:sp>
      <p:pic>
        <p:nvPicPr>
          <p:cNvPr id="12" name="Picture 11">
            <a:extLst>
              <a:ext uri="{FF2B5EF4-FFF2-40B4-BE49-F238E27FC236}">
                <a16:creationId xmlns:a16="http://schemas.microsoft.com/office/drawing/2014/main" id="{410D5CA4-7B21-49F6-8CFC-5E8B71858217}"/>
              </a:ext>
            </a:extLst>
          </p:cNvPr>
          <p:cNvPicPr>
            <a:picLocks noChangeAspect="1"/>
          </p:cNvPicPr>
          <p:nvPr/>
        </p:nvPicPr>
        <p:blipFill>
          <a:blip r:embed="rId3"/>
          <a:stretch>
            <a:fillRect/>
          </a:stretch>
        </p:blipFill>
        <p:spPr>
          <a:xfrm>
            <a:off x="3124200" y="4451968"/>
            <a:ext cx="5943600" cy="1207128"/>
          </a:xfrm>
          <a:prstGeom prst="rect">
            <a:avLst/>
          </a:prstGeom>
        </p:spPr>
      </p:pic>
      <p:sp>
        <p:nvSpPr>
          <p:cNvPr id="2" name="Footer Placeholder 5">
            <a:extLst>
              <a:ext uri="{FF2B5EF4-FFF2-40B4-BE49-F238E27FC236}">
                <a16:creationId xmlns:a16="http://schemas.microsoft.com/office/drawing/2014/main" id="{ACDAB1AF-E9E4-8B7F-E113-E64DF91538EC}"/>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209403774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5</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Working with Python packages</a:t>
            </a:r>
          </a:p>
        </p:txBody>
      </p:sp>
      <p:sp>
        <p:nvSpPr>
          <p:cNvPr id="6" name="Rectangle 5"/>
          <p:cNvSpPr/>
          <p:nvPr/>
        </p:nvSpPr>
        <p:spPr>
          <a:xfrm>
            <a:off x="609600" y="4772065"/>
            <a:ext cx="11201400" cy="934358"/>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Most famous and useful Python packages (that we will use): </a:t>
            </a:r>
            <a:br>
              <a:rPr lang="en-US" sz="2400" dirty="0">
                <a:solidFill>
                  <a:schemeClr val="tx1">
                    <a:lumMod val="75000"/>
                    <a:lumOff val="25000"/>
                  </a:schemeClr>
                </a:solidFill>
              </a:rPr>
            </a:br>
            <a:r>
              <a:rPr lang="en-US" sz="2400" dirty="0">
                <a:solidFill>
                  <a:schemeClr val="tx1">
                    <a:lumMod val="75000"/>
                    <a:lumOff val="25000"/>
                  </a:schemeClr>
                </a:solidFill>
              </a:rPr>
              <a:t>	NumPy, Pandas, Matplotlib, Seaborn, SciPy, Scikit-Learn</a:t>
            </a:r>
          </a:p>
        </p:txBody>
      </p:sp>
      <p:sp>
        <p:nvSpPr>
          <p:cNvPr id="8" name="Rectangle 7"/>
          <p:cNvSpPr/>
          <p:nvPr/>
        </p:nvSpPr>
        <p:spPr>
          <a:xfrm>
            <a:off x="599661" y="1052066"/>
            <a:ext cx="8345394" cy="1616276"/>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The </a:t>
            </a:r>
            <a:r>
              <a:rPr lang="en-US" sz="2400" dirty="0">
                <a:solidFill>
                  <a:srgbClr val="0000FF"/>
                </a:solidFill>
              </a:rPr>
              <a:t>import</a:t>
            </a:r>
            <a:r>
              <a:rPr lang="en-US" sz="2400" dirty="0">
                <a:solidFill>
                  <a:schemeClr val="tx1">
                    <a:lumMod val="75000"/>
                    <a:lumOff val="25000"/>
                  </a:schemeClr>
                </a:solidFill>
              </a:rPr>
              <a:t> Statement</a:t>
            </a:r>
          </a:p>
          <a:p>
            <a:pPr>
              <a:lnSpc>
                <a:spcPct val="114000"/>
              </a:lnSpc>
              <a:spcBef>
                <a:spcPts val="600"/>
              </a:spcBef>
              <a:spcAft>
                <a:spcPts val="600"/>
              </a:spcAft>
              <a:buClr>
                <a:schemeClr val="tx1"/>
              </a:buClr>
              <a:buSzPct val="100000"/>
            </a:pPr>
            <a:r>
              <a:rPr lang="en-US" altLang="en-US" sz="2400" dirty="0">
                <a:solidFill>
                  <a:srgbClr val="0000FF"/>
                </a:solidFill>
              </a:rPr>
              <a:t>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&lt;</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package_name</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&gt;</a:t>
            </a:r>
          </a:p>
          <a:p>
            <a:pPr>
              <a:lnSpc>
                <a:spcPct val="114000"/>
              </a:lnSpc>
              <a:spcBef>
                <a:spcPts val="600"/>
              </a:spcBef>
              <a:spcAft>
                <a:spcPts val="600"/>
              </a:spcAft>
              <a:buClr>
                <a:schemeClr val="tx1"/>
              </a:buClr>
              <a:buSzPct val="100000"/>
            </a:pP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Ex: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numpy</a:t>
            </a:r>
            <a:endParaRPr lang="en-US" sz="2200" dirty="0">
              <a:solidFill>
                <a:schemeClr val="tx1">
                  <a:lumMod val="75000"/>
                  <a:lumOff val="25000"/>
                </a:schemeClr>
              </a:solidFill>
              <a:latin typeface="Courier New" panose="02070309020205020404" pitchFamily="49" charset="0"/>
              <a:cs typeface="Courier New" panose="02070309020205020404" pitchFamily="49" charset="0"/>
            </a:endParaRPr>
          </a:p>
        </p:txBody>
      </p:sp>
      <p:sp>
        <p:nvSpPr>
          <p:cNvPr id="14" name="Rectangle 3"/>
          <p:cNvSpPr>
            <a:spLocks noChangeArrowheads="1"/>
          </p:cNvSpPr>
          <p:nvPr/>
        </p:nvSpPr>
        <p:spPr bwMode="auto">
          <a:xfrm>
            <a:off x="609600" y="2830824"/>
            <a:ext cx="8573994" cy="1616276"/>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altLang="en-US" sz="2400" dirty="0">
                <a:solidFill>
                  <a:schemeClr val="tx1">
                    <a:lumMod val="75000"/>
                    <a:lumOff val="25000"/>
                  </a:schemeClr>
                </a:solidFill>
              </a:rPr>
              <a:t>You can also import an entire package under an alternate name:</a:t>
            </a:r>
          </a:p>
          <a:p>
            <a:pPr>
              <a:lnSpc>
                <a:spcPct val="114000"/>
              </a:lnSpc>
              <a:spcBef>
                <a:spcPts val="600"/>
              </a:spcBef>
              <a:spcAft>
                <a:spcPts val="600"/>
              </a:spcAft>
              <a:buClr>
                <a:schemeClr val="tx1"/>
              </a:buClr>
              <a:buSzPct val="100000"/>
            </a:pPr>
            <a:r>
              <a:rPr lang="en-US" altLang="en-US" sz="2400" dirty="0">
                <a:solidFill>
                  <a:schemeClr val="tx1">
                    <a:lumMod val="75000"/>
                    <a:lumOff val="25000"/>
                  </a:schemeClr>
                </a:solidFill>
              </a:rPr>
              <a:t>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&lt;</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package_name</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&gt; </a:t>
            </a:r>
            <a:r>
              <a:rPr lang="en-US" altLang="en-US" sz="2200" dirty="0">
                <a:solidFill>
                  <a:srgbClr val="0000FF"/>
                </a:solidFill>
                <a:latin typeface="Courier New" panose="02070309020205020404" pitchFamily="49" charset="0"/>
                <a:cs typeface="Courier New" panose="02070309020205020404" pitchFamily="49" charset="0"/>
              </a:rPr>
              <a:t>as</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&lt;</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alt_name</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&gt;</a:t>
            </a:r>
          </a:p>
          <a:p>
            <a:pPr>
              <a:lnSpc>
                <a:spcPct val="114000"/>
              </a:lnSpc>
              <a:spcBef>
                <a:spcPts val="600"/>
              </a:spcBef>
              <a:spcAft>
                <a:spcPts val="600"/>
              </a:spcAft>
              <a:buClr>
                <a:schemeClr val="tx1"/>
              </a:buClr>
              <a:buSzPct val="100000"/>
            </a:pP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Ex: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numpy</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a:t>
            </a:r>
            <a:r>
              <a:rPr lang="en-US" altLang="en-US" sz="2200" dirty="0">
                <a:solidFill>
                  <a:srgbClr val="0000FF"/>
                </a:solidFill>
                <a:latin typeface="Courier New" panose="02070309020205020404" pitchFamily="49" charset="0"/>
                <a:cs typeface="Courier New" panose="02070309020205020404" pitchFamily="49" charset="0"/>
              </a:rPr>
              <a:t>as</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np</a:t>
            </a:r>
          </a:p>
        </p:txBody>
      </p:sp>
      <p:sp>
        <p:nvSpPr>
          <p:cNvPr id="2" name="Footer Placeholder 5">
            <a:extLst>
              <a:ext uri="{FF2B5EF4-FFF2-40B4-BE49-F238E27FC236}">
                <a16:creationId xmlns:a16="http://schemas.microsoft.com/office/drawing/2014/main" id="{ACF9438D-892C-A8C4-FB7A-A5CC32839473}"/>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420989250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3078-834E-74EA-EBF9-2D8438D07FD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655516-607A-62D2-DF6F-729AD15E3231}"/>
              </a:ext>
            </a:extLst>
          </p:cNvPr>
          <p:cNvSpPr>
            <a:spLocks noGrp="1"/>
          </p:cNvSpPr>
          <p:nvPr>
            <p:ph type="sldNum" sz="quarter" idx="12"/>
          </p:nvPr>
        </p:nvSpPr>
        <p:spPr/>
        <p:txBody>
          <a:bodyPr/>
          <a:lstStyle/>
          <a:p>
            <a:fld id="{2E8848B6-D328-4CC8-99C6-D5689AE94DF4}" type="slidenum">
              <a:rPr lang="en-US" smtClean="0"/>
              <a:t>6</a:t>
            </a:fld>
            <a:endParaRPr lang="en-US"/>
          </a:p>
        </p:txBody>
      </p:sp>
      <p:sp>
        <p:nvSpPr>
          <p:cNvPr id="5" name="Rectangle 1">
            <a:extLst>
              <a:ext uri="{FF2B5EF4-FFF2-40B4-BE49-F238E27FC236}">
                <a16:creationId xmlns:a16="http://schemas.microsoft.com/office/drawing/2014/main" id="{C78F29C5-4CC7-8914-8445-B3494B769E23}"/>
              </a:ext>
            </a:extLst>
          </p:cNvPr>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Working with Python packages</a:t>
            </a:r>
          </a:p>
        </p:txBody>
      </p:sp>
      <p:sp>
        <p:nvSpPr>
          <p:cNvPr id="6" name="Rectangle 5">
            <a:extLst>
              <a:ext uri="{FF2B5EF4-FFF2-40B4-BE49-F238E27FC236}">
                <a16:creationId xmlns:a16="http://schemas.microsoft.com/office/drawing/2014/main" id="{483DBCD6-566F-E964-5BA7-632CEAEFA0D1}"/>
              </a:ext>
            </a:extLst>
          </p:cNvPr>
          <p:cNvSpPr/>
          <p:nvPr/>
        </p:nvSpPr>
        <p:spPr>
          <a:xfrm>
            <a:off x="152400" y="4772065"/>
            <a:ext cx="11658600" cy="1485278"/>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If you get a “</a:t>
            </a:r>
            <a:r>
              <a:rPr lang="en-US" sz="2400" dirty="0" err="1">
                <a:solidFill>
                  <a:schemeClr val="tx1">
                    <a:lumMod val="75000"/>
                    <a:lumOff val="25000"/>
                  </a:schemeClr>
                </a:solidFill>
              </a:rPr>
              <a:t>ModuleNotFound</a:t>
            </a:r>
            <a:r>
              <a:rPr lang="en-US" sz="2400" dirty="0">
                <a:solidFill>
                  <a:schemeClr val="tx1">
                    <a:lumMod val="75000"/>
                    <a:lumOff val="25000"/>
                  </a:schemeClr>
                </a:solidFill>
              </a:rPr>
              <a:t>” Error, it is because your editor cannot find the package.</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Solution: Press </a:t>
            </a:r>
            <a:r>
              <a:rPr lang="en-US" sz="2400" dirty="0" err="1">
                <a:solidFill>
                  <a:schemeClr val="tx1">
                    <a:lumMod val="75000"/>
                    <a:lumOff val="25000"/>
                  </a:schemeClr>
                </a:solidFill>
              </a:rPr>
              <a:t>Command+Shift+P</a:t>
            </a:r>
            <a:r>
              <a:rPr lang="en-US" sz="2400" dirty="0">
                <a:solidFill>
                  <a:schemeClr val="tx1">
                    <a:lumMod val="75000"/>
                    <a:lumOff val="25000"/>
                  </a:schemeClr>
                </a:solidFill>
              </a:rPr>
              <a:t> (on mac) or </a:t>
            </a:r>
            <a:r>
              <a:rPr lang="en-US" sz="2400" dirty="0" err="1">
                <a:solidFill>
                  <a:schemeClr val="tx1">
                    <a:lumMod val="75000"/>
                    <a:lumOff val="25000"/>
                  </a:schemeClr>
                </a:solidFill>
              </a:rPr>
              <a:t>Ctrl+Shift+P</a:t>
            </a:r>
            <a:r>
              <a:rPr lang="en-US" sz="2400" dirty="0">
                <a:solidFill>
                  <a:schemeClr val="tx1">
                    <a:lumMod val="75000"/>
                    <a:lumOff val="25000"/>
                  </a:schemeClr>
                </a:solidFill>
              </a:rPr>
              <a:t> (on windows), type “select </a:t>
            </a:r>
            <a:r>
              <a:rPr lang="en-US" sz="2400" dirty="0" err="1">
                <a:solidFill>
                  <a:schemeClr val="tx1">
                    <a:lumMod val="75000"/>
                    <a:lumOff val="25000"/>
                  </a:schemeClr>
                </a:solidFill>
              </a:rPr>
              <a:t>interpretor</a:t>
            </a:r>
            <a:r>
              <a:rPr lang="en-US" sz="2400" dirty="0">
                <a:solidFill>
                  <a:schemeClr val="tx1">
                    <a:lumMod val="75000"/>
                    <a:lumOff val="25000"/>
                  </a:schemeClr>
                </a:solidFill>
              </a:rPr>
              <a:t>” in the box that appears, and select ”base” from the dropdown.</a:t>
            </a:r>
          </a:p>
        </p:txBody>
      </p:sp>
      <p:sp>
        <p:nvSpPr>
          <p:cNvPr id="8" name="Rectangle 7">
            <a:extLst>
              <a:ext uri="{FF2B5EF4-FFF2-40B4-BE49-F238E27FC236}">
                <a16:creationId xmlns:a16="http://schemas.microsoft.com/office/drawing/2014/main" id="{CF18569E-CABB-9133-0F44-675D94D39EE7}"/>
              </a:ext>
            </a:extLst>
          </p:cNvPr>
          <p:cNvSpPr/>
          <p:nvPr/>
        </p:nvSpPr>
        <p:spPr>
          <a:xfrm>
            <a:off x="599661" y="1052066"/>
            <a:ext cx="8345394" cy="1616276"/>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The </a:t>
            </a:r>
            <a:r>
              <a:rPr lang="en-US" sz="2400" dirty="0">
                <a:solidFill>
                  <a:srgbClr val="0000FF"/>
                </a:solidFill>
              </a:rPr>
              <a:t>import</a:t>
            </a:r>
            <a:r>
              <a:rPr lang="en-US" sz="2400" dirty="0">
                <a:solidFill>
                  <a:schemeClr val="tx1">
                    <a:lumMod val="75000"/>
                    <a:lumOff val="25000"/>
                  </a:schemeClr>
                </a:solidFill>
              </a:rPr>
              <a:t> Statement</a:t>
            </a:r>
          </a:p>
          <a:p>
            <a:pPr>
              <a:lnSpc>
                <a:spcPct val="114000"/>
              </a:lnSpc>
              <a:spcBef>
                <a:spcPts val="600"/>
              </a:spcBef>
              <a:spcAft>
                <a:spcPts val="600"/>
              </a:spcAft>
              <a:buClr>
                <a:schemeClr val="tx1"/>
              </a:buClr>
              <a:buSzPct val="100000"/>
            </a:pPr>
            <a:r>
              <a:rPr lang="en-US" altLang="en-US" sz="2400" dirty="0">
                <a:solidFill>
                  <a:srgbClr val="0000FF"/>
                </a:solidFill>
              </a:rPr>
              <a:t>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&lt;</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package_name</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&gt;</a:t>
            </a:r>
          </a:p>
          <a:p>
            <a:pPr>
              <a:lnSpc>
                <a:spcPct val="114000"/>
              </a:lnSpc>
              <a:spcBef>
                <a:spcPts val="600"/>
              </a:spcBef>
              <a:spcAft>
                <a:spcPts val="600"/>
              </a:spcAft>
              <a:buClr>
                <a:schemeClr val="tx1"/>
              </a:buClr>
              <a:buSzPct val="100000"/>
            </a:pP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Ex: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numpy</a:t>
            </a:r>
            <a:endParaRPr lang="en-US" sz="2200" dirty="0">
              <a:solidFill>
                <a:schemeClr val="tx1">
                  <a:lumMod val="75000"/>
                  <a:lumOff val="25000"/>
                </a:schemeClr>
              </a:solidFill>
              <a:latin typeface="Courier New" panose="02070309020205020404" pitchFamily="49" charset="0"/>
              <a:cs typeface="Courier New" panose="02070309020205020404" pitchFamily="49" charset="0"/>
            </a:endParaRPr>
          </a:p>
        </p:txBody>
      </p:sp>
      <p:sp>
        <p:nvSpPr>
          <p:cNvPr id="14" name="Rectangle 3">
            <a:extLst>
              <a:ext uri="{FF2B5EF4-FFF2-40B4-BE49-F238E27FC236}">
                <a16:creationId xmlns:a16="http://schemas.microsoft.com/office/drawing/2014/main" id="{4DBAC84B-333F-E455-D0BA-7F3E84E53DD0}"/>
              </a:ext>
            </a:extLst>
          </p:cNvPr>
          <p:cNvSpPr>
            <a:spLocks noChangeArrowheads="1"/>
          </p:cNvSpPr>
          <p:nvPr/>
        </p:nvSpPr>
        <p:spPr bwMode="auto">
          <a:xfrm>
            <a:off x="609600" y="2830824"/>
            <a:ext cx="8573994" cy="1616276"/>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altLang="en-US" sz="2400" dirty="0">
                <a:solidFill>
                  <a:schemeClr val="tx1">
                    <a:lumMod val="75000"/>
                    <a:lumOff val="25000"/>
                  </a:schemeClr>
                </a:solidFill>
              </a:rPr>
              <a:t>You can also import an entire package under an alternate name:</a:t>
            </a:r>
          </a:p>
          <a:p>
            <a:pPr>
              <a:lnSpc>
                <a:spcPct val="114000"/>
              </a:lnSpc>
              <a:spcBef>
                <a:spcPts val="600"/>
              </a:spcBef>
              <a:spcAft>
                <a:spcPts val="600"/>
              </a:spcAft>
              <a:buClr>
                <a:schemeClr val="tx1"/>
              </a:buClr>
              <a:buSzPct val="100000"/>
            </a:pPr>
            <a:r>
              <a:rPr lang="en-US" altLang="en-US" sz="2400" dirty="0">
                <a:solidFill>
                  <a:schemeClr val="tx1">
                    <a:lumMod val="75000"/>
                    <a:lumOff val="25000"/>
                  </a:schemeClr>
                </a:solidFill>
              </a:rPr>
              <a:t>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&lt;</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package_name</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&gt; </a:t>
            </a:r>
            <a:r>
              <a:rPr lang="en-US" altLang="en-US" sz="2200" dirty="0">
                <a:solidFill>
                  <a:srgbClr val="0000FF"/>
                </a:solidFill>
                <a:latin typeface="Courier New" panose="02070309020205020404" pitchFamily="49" charset="0"/>
                <a:cs typeface="Courier New" panose="02070309020205020404" pitchFamily="49" charset="0"/>
              </a:rPr>
              <a:t>as</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&lt;</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alt_name</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&gt;</a:t>
            </a:r>
          </a:p>
          <a:p>
            <a:pPr>
              <a:lnSpc>
                <a:spcPct val="114000"/>
              </a:lnSpc>
              <a:spcBef>
                <a:spcPts val="600"/>
              </a:spcBef>
              <a:spcAft>
                <a:spcPts val="600"/>
              </a:spcAft>
              <a:buClr>
                <a:schemeClr val="tx1"/>
              </a:buClr>
              <a:buSzPct val="100000"/>
            </a:pP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Ex: </a:t>
            </a:r>
            <a:r>
              <a:rPr lang="en-US" altLang="en-US" sz="2200" dirty="0">
                <a:solidFill>
                  <a:srgbClr val="0000FF"/>
                </a:solidFill>
                <a:latin typeface="Courier New" panose="02070309020205020404" pitchFamily="49" charset="0"/>
                <a:cs typeface="Courier New" panose="02070309020205020404" pitchFamily="49" charset="0"/>
              </a:rPr>
              <a:t>import</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a:t>
            </a:r>
            <a:r>
              <a:rPr lang="en-US" altLang="en-US" sz="2200" dirty="0" err="1">
                <a:solidFill>
                  <a:schemeClr val="tx1">
                    <a:lumMod val="75000"/>
                    <a:lumOff val="25000"/>
                  </a:schemeClr>
                </a:solidFill>
                <a:latin typeface="Courier New" panose="02070309020205020404" pitchFamily="49" charset="0"/>
                <a:cs typeface="Courier New" panose="02070309020205020404" pitchFamily="49" charset="0"/>
              </a:rPr>
              <a:t>numpy</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a:t>
            </a:r>
            <a:r>
              <a:rPr lang="en-US" altLang="en-US" sz="2200" dirty="0">
                <a:solidFill>
                  <a:srgbClr val="0000FF"/>
                </a:solidFill>
                <a:latin typeface="Courier New" panose="02070309020205020404" pitchFamily="49" charset="0"/>
                <a:cs typeface="Courier New" panose="02070309020205020404" pitchFamily="49" charset="0"/>
              </a:rPr>
              <a:t>as</a:t>
            </a:r>
            <a:r>
              <a:rPr lang="en-US" altLang="en-US" sz="2200" dirty="0">
                <a:solidFill>
                  <a:schemeClr val="tx1">
                    <a:lumMod val="75000"/>
                    <a:lumOff val="25000"/>
                  </a:schemeClr>
                </a:solidFill>
                <a:latin typeface="Courier New" panose="02070309020205020404" pitchFamily="49" charset="0"/>
                <a:cs typeface="Courier New" panose="02070309020205020404" pitchFamily="49" charset="0"/>
              </a:rPr>
              <a:t> np</a:t>
            </a:r>
          </a:p>
        </p:txBody>
      </p:sp>
      <p:sp>
        <p:nvSpPr>
          <p:cNvPr id="2" name="Footer Placeholder 5">
            <a:extLst>
              <a:ext uri="{FF2B5EF4-FFF2-40B4-BE49-F238E27FC236}">
                <a16:creationId xmlns:a16="http://schemas.microsoft.com/office/drawing/2014/main" id="{9F8A9A7D-F7F3-0A78-9B6F-6C8F72051354}"/>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04125441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7</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Working with Packages</a:t>
            </a:r>
          </a:p>
        </p:txBody>
      </p:sp>
      <p:sp>
        <p:nvSpPr>
          <p:cNvPr id="16" name="Rectangle 15"/>
          <p:cNvSpPr/>
          <p:nvPr/>
        </p:nvSpPr>
        <p:spPr>
          <a:xfrm>
            <a:off x="990600" y="4095745"/>
            <a:ext cx="8345394" cy="48936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Example:</a:t>
            </a:r>
          </a:p>
        </p:txBody>
      </p:sp>
      <p:grpSp>
        <p:nvGrpSpPr>
          <p:cNvPr id="36" name="Group 35"/>
          <p:cNvGrpSpPr/>
          <p:nvPr/>
        </p:nvGrpSpPr>
        <p:grpSpPr>
          <a:xfrm>
            <a:off x="2362200" y="4429232"/>
            <a:ext cx="6750627" cy="1749512"/>
            <a:chOff x="2088573" y="3523328"/>
            <a:chExt cx="6750627" cy="1749512"/>
          </a:xfrm>
        </p:grpSpPr>
        <p:sp>
          <p:nvSpPr>
            <p:cNvPr id="4" name="Rectangle 3"/>
            <p:cNvSpPr/>
            <p:nvPr/>
          </p:nvSpPr>
          <p:spPr>
            <a:xfrm>
              <a:off x="3536373" y="3523328"/>
              <a:ext cx="4966855" cy="513346"/>
            </a:xfrm>
            <a:prstGeom prst="rect">
              <a:avLst/>
            </a:prstGeom>
            <a:noFill/>
          </p:spPr>
          <p:txBody>
            <a:bodyPr wrap="square" rtlCol="0">
              <a:spAutoFit/>
            </a:bodyPr>
            <a:lstStyle/>
            <a:p>
              <a:pPr>
                <a:lnSpc>
                  <a:spcPct val="114000"/>
                </a:lnSpc>
                <a:spcBef>
                  <a:spcPts val="600"/>
                </a:spcBef>
                <a:spcAft>
                  <a:spcPts val="600"/>
                </a:spcAft>
                <a:buClr>
                  <a:schemeClr val="tx1"/>
                </a:buClr>
                <a:buSzPct val="100000"/>
              </a:pPr>
              <a:r>
                <a:rPr lang="en-US" sz="2400" dirty="0">
                  <a:solidFill>
                    <a:schemeClr val="tx1">
                      <a:lumMod val="75000"/>
                      <a:lumOff val="25000"/>
                    </a:schemeClr>
                  </a:solidFill>
                  <a:latin typeface="Courier New" panose="02070309020205020404" pitchFamily="49" charset="0"/>
                  <a:cs typeface="Courier New" panose="02070309020205020404" pitchFamily="49" charset="0"/>
                </a:rPr>
                <a:t>a = </a:t>
              </a:r>
              <a:r>
                <a:rPr lang="en-US" sz="2400" dirty="0" err="1">
                  <a:solidFill>
                    <a:schemeClr val="tx1">
                      <a:lumMod val="75000"/>
                      <a:lumOff val="25000"/>
                    </a:schemeClr>
                  </a:solidFill>
                  <a:latin typeface="Courier New" panose="02070309020205020404" pitchFamily="49" charset="0"/>
                  <a:cs typeface="Courier New" panose="02070309020205020404" pitchFamily="49" charset="0"/>
                </a:rPr>
                <a:t>np.array</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 [5,7,4] )</a:t>
              </a:r>
            </a:p>
          </p:txBody>
        </p:sp>
        <p:sp>
          <p:nvSpPr>
            <p:cNvPr id="7" name="TextBox 6"/>
            <p:cNvSpPr txBox="1"/>
            <p:nvPr/>
          </p:nvSpPr>
          <p:spPr>
            <a:xfrm>
              <a:off x="2088573" y="4575884"/>
              <a:ext cx="1447800" cy="430887"/>
            </a:xfrm>
            <a:prstGeom prst="rect">
              <a:avLst/>
            </a:prstGeom>
            <a:noFill/>
          </p:spPr>
          <p:txBody>
            <a:bodyPr wrap="square" rtlCol="0">
              <a:spAutoFit/>
            </a:bodyPr>
            <a:lstStyle/>
            <a:p>
              <a:pPr algn="ctr"/>
              <a:r>
                <a:rPr lang="en-US" sz="2200" dirty="0"/>
                <a:t>Output </a:t>
              </a:r>
            </a:p>
          </p:txBody>
        </p:sp>
        <p:sp>
          <p:nvSpPr>
            <p:cNvPr id="12" name="TextBox 11"/>
            <p:cNvSpPr txBox="1"/>
            <p:nvPr/>
          </p:nvSpPr>
          <p:spPr>
            <a:xfrm>
              <a:off x="3962400" y="4503399"/>
              <a:ext cx="1447800" cy="769441"/>
            </a:xfrm>
            <a:prstGeom prst="rect">
              <a:avLst/>
            </a:prstGeom>
            <a:noFill/>
          </p:spPr>
          <p:txBody>
            <a:bodyPr wrap="square" rtlCol="0">
              <a:spAutoFit/>
            </a:bodyPr>
            <a:lstStyle/>
            <a:p>
              <a:pPr algn="ctr"/>
              <a:r>
                <a:rPr lang="en-US" sz="2200" dirty="0"/>
                <a:t>Package reference </a:t>
              </a:r>
            </a:p>
          </p:txBody>
        </p:sp>
        <p:sp>
          <p:nvSpPr>
            <p:cNvPr id="13" name="TextBox 12"/>
            <p:cNvSpPr txBox="1"/>
            <p:nvPr/>
          </p:nvSpPr>
          <p:spPr>
            <a:xfrm>
              <a:off x="5836227" y="4575884"/>
              <a:ext cx="1447800" cy="430887"/>
            </a:xfrm>
            <a:prstGeom prst="rect">
              <a:avLst/>
            </a:prstGeom>
            <a:noFill/>
          </p:spPr>
          <p:txBody>
            <a:bodyPr wrap="square" rtlCol="0">
              <a:spAutoFit/>
            </a:bodyPr>
            <a:lstStyle/>
            <a:p>
              <a:pPr algn="ctr"/>
              <a:r>
                <a:rPr lang="en-US" sz="2200" dirty="0"/>
                <a:t>Function</a:t>
              </a:r>
            </a:p>
          </p:txBody>
        </p:sp>
        <p:sp>
          <p:nvSpPr>
            <p:cNvPr id="14" name="TextBox 13"/>
            <p:cNvSpPr txBox="1"/>
            <p:nvPr/>
          </p:nvSpPr>
          <p:spPr>
            <a:xfrm>
              <a:off x="7391400" y="4579556"/>
              <a:ext cx="1447800" cy="430887"/>
            </a:xfrm>
            <a:prstGeom prst="rect">
              <a:avLst/>
            </a:prstGeom>
            <a:noFill/>
          </p:spPr>
          <p:txBody>
            <a:bodyPr wrap="square" rtlCol="0">
              <a:spAutoFit/>
            </a:bodyPr>
            <a:lstStyle/>
            <a:p>
              <a:pPr algn="ctr"/>
              <a:r>
                <a:rPr lang="en-US" sz="2200" dirty="0"/>
                <a:t>Input</a:t>
              </a:r>
            </a:p>
          </p:txBody>
        </p:sp>
        <p:cxnSp>
          <p:nvCxnSpPr>
            <p:cNvPr id="18" name="Elbow Connector 17"/>
            <p:cNvCxnSpPr>
              <a:stCxn id="7" idx="0"/>
              <a:endCxn id="25" idx="2"/>
            </p:cNvCxnSpPr>
            <p:nvPr/>
          </p:nvCxnSpPr>
          <p:spPr>
            <a:xfrm rot="5400000" flipH="1" flipV="1">
              <a:off x="2958877" y="3890270"/>
              <a:ext cx="539210" cy="832019"/>
            </a:xfrm>
            <a:prstGeom prst="bentConnector3">
              <a:avLst>
                <a:gd name="adj1" fmla="val 50000"/>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3" idx="0"/>
              <a:endCxn id="22" idx="2"/>
            </p:cNvCxnSpPr>
            <p:nvPr/>
          </p:nvCxnSpPr>
          <p:spPr>
            <a:xfrm rot="16200000" flipV="1">
              <a:off x="5684879" y="3700636"/>
              <a:ext cx="539210" cy="1211286"/>
            </a:xfrm>
            <a:prstGeom prst="bentConnector3">
              <a:avLst>
                <a:gd name="adj1" fmla="val 50000"/>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260273"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5098593"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560127"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3394244"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Elbow Connector 27"/>
            <p:cNvCxnSpPr>
              <a:stCxn id="12" idx="0"/>
              <a:endCxn id="21" idx="2"/>
            </p:cNvCxnSpPr>
            <p:nvPr/>
          </p:nvCxnSpPr>
          <p:spPr>
            <a:xfrm rot="16200000" flipV="1">
              <a:off x="4365049" y="4182147"/>
              <a:ext cx="466725" cy="175779"/>
            </a:xfrm>
            <a:prstGeom prst="bentConnector3">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14" idx="0"/>
              <a:endCxn id="23" idx="2"/>
            </p:cNvCxnSpPr>
            <p:nvPr/>
          </p:nvCxnSpPr>
          <p:spPr>
            <a:xfrm rot="16200000" flipV="1">
              <a:off x="7191397" y="3655652"/>
              <a:ext cx="542882" cy="1304925"/>
            </a:xfrm>
            <a:prstGeom prst="bentConnector3">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9" name="Picture 8">
            <a:extLst>
              <a:ext uri="{FF2B5EF4-FFF2-40B4-BE49-F238E27FC236}">
                <a16:creationId xmlns:a16="http://schemas.microsoft.com/office/drawing/2014/main" id="{0EBC273B-18C3-48C0-9966-059D5F3CA04B}"/>
              </a:ext>
            </a:extLst>
          </p:cNvPr>
          <p:cNvPicPr>
            <a:picLocks noChangeAspect="1"/>
          </p:cNvPicPr>
          <p:nvPr/>
        </p:nvPicPr>
        <p:blipFill rotWithShape="1">
          <a:blip r:embed="rId3"/>
          <a:srcRect b="50081"/>
          <a:stretch/>
        </p:blipFill>
        <p:spPr>
          <a:xfrm>
            <a:off x="3336468" y="1838357"/>
            <a:ext cx="4572000" cy="587598"/>
          </a:xfrm>
          <a:prstGeom prst="rect">
            <a:avLst/>
          </a:prstGeom>
        </p:spPr>
      </p:pic>
      <p:sp>
        <p:nvSpPr>
          <p:cNvPr id="11" name="Rectangle 10">
            <a:extLst>
              <a:ext uri="{FF2B5EF4-FFF2-40B4-BE49-F238E27FC236}">
                <a16:creationId xmlns:a16="http://schemas.microsoft.com/office/drawing/2014/main" id="{50D2FD70-987A-4DE2-9639-67FF6AAA0EFB}"/>
              </a:ext>
            </a:extLst>
          </p:cNvPr>
          <p:cNvSpPr/>
          <p:nvPr/>
        </p:nvSpPr>
        <p:spPr>
          <a:xfrm>
            <a:off x="990600" y="1284331"/>
            <a:ext cx="8345394" cy="48936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Packages need to be imported before packages can be utilized</a:t>
            </a:r>
          </a:p>
        </p:txBody>
      </p:sp>
      <p:sp>
        <p:nvSpPr>
          <p:cNvPr id="27" name="TextBox 26">
            <a:extLst>
              <a:ext uri="{FF2B5EF4-FFF2-40B4-BE49-F238E27FC236}">
                <a16:creationId xmlns:a16="http://schemas.microsoft.com/office/drawing/2014/main" id="{770C3E09-E44B-4F48-A694-F34ABB286CDC}"/>
              </a:ext>
            </a:extLst>
          </p:cNvPr>
          <p:cNvSpPr txBox="1"/>
          <p:nvPr/>
        </p:nvSpPr>
        <p:spPr>
          <a:xfrm>
            <a:off x="3672104" y="2750054"/>
            <a:ext cx="1999840" cy="369332"/>
          </a:xfrm>
          <a:prstGeom prst="rect">
            <a:avLst/>
          </a:prstGeom>
          <a:noFill/>
        </p:spPr>
        <p:txBody>
          <a:bodyPr wrap="square" rtlCol="0">
            <a:spAutoFit/>
          </a:bodyPr>
          <a:lstStyle/>
          <a:p>
            <a:r>
              <a:rPr lang="en-US" dirty="0"/>
              <a:t>Name of Package</a:t>
            </a:r>
          </a:p>
        </p:txBody>
      </p:sp>
      <p:cxnSp>
        <p:nvCxnSpPr>
          <p:cNvPr id="29" name="Straight Arrow Connector 28">
            <a:extLst>
              <a:ext uri="{FF2B5EF4-FFF2-40B4-BE49-F238E27FC236}">
                <a16:creationId xmlns:a16="http://schemas.microsoft.com/office/drawing/2014/main" id="{AF9F5BDB-DB06-42C3-84BB-E07CEDD87875}"/>
              </a:ext>
            </a:extLst>
          </p:cNvPr>
          <p:cNvCxnSpPr>
            <a:cxnSpLocks/>
          </p:cNvCxnSpPr>
          <p:nvPr/>
        </p:nvCxnSpPr>
        <p:spPr>
          <a:xfrm flipV="1">
            <a:off x="4839521" y="2372227"/>
            <a:ext cx="113479" cy="4521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A3A87B3-E595-4D3B-B96C-7C92AFBA2E3C}"/>
              </a:ext>
            </a:extLst>
          </p:cNvPr>
          <p:cNvSpPr txBox="1"/>
          <p:nvPr/>
        </p:nvSpPr>
        <p:spPr>
          <a:xfrm>
            <a:off x="5833834" y="2759262"/>
            <a:ext cx="4072166" cy="1477328"/>
          </a:xfrm>
          <a:prstGeom prst="rect">
            <a:avLst/>
          </a:prstGeom>
          <a:noFill/>
        </p:spPr>
        <p:txBody>
          <a:bodyPr wrap="square" rtlCol="0">
            <a:spAutoFit/>
          </a:bodyPr>
          <a:lstStyle/>
          <a:p>
            <a:r>
              <a:rPr lang="en-US" dirty="0"/>
              <a:t>Alias, or nickname, assigned to that package within the script.</a:t>
            </a:r>
          </a:p>
          <a:p>
            <a:endParaRPr lang="en-US" dirty="0"/>
          </a:p>
          <a:p>
            <a:r>
              <a:rPr lang="en-US" dirty="0"/>
              <a:t>Note: whatever you put after the “as” is what is used to refer to the function. </a:t>
            </a:r>
          </a:p>
        </p:txBody>
      </p:sp>
      <p:cxnSp>
        <p:nvCxnSpPr>
          <p:cNvPr id="32" name="Straight Arrow Connector 31">
            <a:extLst>
              <a:ext uri="{FF2B5EF4-FFF2-40B4-BE49-F238E27FC236}">
                <a16:creationId xmlns:a16="http://schemas.microsoft.com/office/drawing/2014/main" id="{C453EE82-30C7-4913-AEBF-35A36C521A14}"/>
              </a:ext>
            </a:extLst>
          </p:cNvPr>
          <p:cNvCxnSpPr>
            <a:cxnSpLocks/>
          </p:cNvCxnSpPr>
          <p:nvPr/>
        </p:nvCxnSpPr>
        <p:spPr>
          <a:xfrm flipH="1" flipV="1">
            <a:off x="6109854" y="2436089"/>
            <a:ext cx="353186" cy="4298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27E04CD-0187-4760-B49B-1D6AED06EB86}"/>
              </a:ext>
            </a:extLst>
          </p:cNvPr>
          <p:cNvCxnSpPr>
            <a:cxnSpLocks/>
          </p:cNvCxnSpPr>
          <p:nvPr/>
        </p:nvCxnSpPr>
        <p:spPr>
          <a:xfrm flipH="1">
            <a:off x="4896260" y="3405594"/>
            <a:ext cx="976456" cy="121381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5">
            <a:extLst>
              <a:ext uri="{FF2B5EF4-FFF2-40B4-BE49-F238E27FC236}">
                <a16:creationId xmlns:a16="http://schemas.microsoft.com/office/drawing/2014/main" id="{64BAA2CF-2BE3-DA93-1E08-808129F88570}"/>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9262993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63CB7-A93B-833D-6D7D-BA6CC09F66E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54093B-24C1-174C-3822-4E9BB2690FAC}"/>
              </a:ext>
            </a:extLst>
          </p:cNvPr>
          <p:cNvSpPr>
            <a:spLocks noGrp="1"/>
          </p:cNvSpPr>
          <p:nvPr>
            <p:ph type="sldNum" sz="quarter" idx="12"/>
          </p:nvPr>
        </p:nvSpPr>
        <p:spPr/>
        <p:txBody>
          <a:bodyPr/>
          <a:lstStyle/>
          <a:p>
            <a:fld id="{2E8848B6-D328-4CC8-99C6-D5689AE94DF4}" type="slidenum">
              <a:rPr lang="en-US" smtClean="0"/>
              <a:t>8</a:t>
            </a:fld>
            <a:endParaRPr lang="en-US"/>
          </a:p>
        </p:txBody>
      </p:sp>
      <p:sp>
        <p:nvSpPr>
          <p:cNvPr id="5" name="Rectangle 1">
            <a:extLst>
              <a:ext uri="{FF2B5EF4-FFF2-40B4-BE49-F238E27FC236}">
                <a16:creationId xmlns:a16="http://schemas.microsoft.com/office/drawing/2014/main" id="{83233C62-5E46-FFAC-00A5-4EF7453BEFC3}"/>
              </a:ext>
            </a:extLst>
          </p:cNvPr>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Working with Packages</a:t>
            </a:r>
          </a:p>
        </p:txBody>
      </p:sp>
      <p:sp>
        <p:nvSpPr>
          <p:cNvPr id="16" name="Rectangle 15">
            <a:extLst>
              <a:ext uri="{FF2B5EF4-FFF2-40B4-BE49-F238E27FC236}">
                <a16:creationId xmlns:a16="http://schemas.microsoft.com/office/drawing/2014/main" id="{690D93B0-4CD7-02C6-0953-120F74A7A8CD}"/>
              </a:ext>
            </a:extLst>
          </p:cNvPr>
          <p:cNvSpPr/>
          <p:nvPr/>
        </p:nvSpPr>
        <p:spPr>
          <a:xfrm>
            <a:off x="990600" y="4095745"/>
            <a:ext cx="8345394" cy="48936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Example:</a:t>
            </a:r>
          </a:p>
        </p:txBody>
      </p:sp>
      <p:grpSp>
        <p:nvGrpSpPr>
          <p:cNvPr id="36" name="Group 35">
            <a:extLst>
              <a:ext uri="{FF2B5EF4-FFF2-40B4-BE49-F238E27FC236}">
                <a16:creationId xmlns:a16="http://schemas.microsoft.com/office/drawing/2014/main" id="{96A410F3-361F-A134-AB64-C7AE6CEEE9C3}"/>
              </a:ext>
            </a:extLst>
          </p:cNvPr>
          <p:cNvGrpSpPr/>
          <p:nvPr/>
        </p:nvGrpSpPr>
        <p:grpSpPr>
          <a:xfrm>
            <a:off x="2362200" y="4429232"/>
            <a:ext cx="6750627" cy="1749512"/>
            <a:chOff x="2088573" y="3523328"/>
            <a:chExt cx="6750627" cy="1749512"/>
          </a:xfrm>
        </p:grpSpPr>
        <p:sp>
          <p:nvSpPr>
            <p:cNvPr id="4" name="Rectangle 3">
              <a:extLst>
                <a:ext uri="{FF2B5EF4-FFF2-40B4-BE49-F238E27FC236}">
                  <a16:creationId xmlns:a16="http://schemas.microsoft.com/office/drawing/2014/main" id="{286C57BF-69E1-2C0C-AC9D-AE5AD84A39DB}"/>
                </a:ext>
              </a:extLst>
            </p:cNvPr>
            <p:cNvSpPr/>
            <p:nvPr/>
          </p:nvSpPr>
          <p:spPr>
            <a:xfrm>
              <a:off x="3536373" y="3523328"/>
              <a:ext cx="4966855" cy="513346"/>
            </a:xfrm>
            <a:prstGeom prst="rect">
              <a:avLst/>
            </a:prstGeom>
            <a:noFill/>
          </p:spPr>
          <p:txBody>
            <a:bodyPr wrap="square" rtlCol="0">
              <a:spAutoFit/>
            </a:bodyPr>
            <a:lstStyle/>
            <a:p>
              <a:pPr>
                <a:lnSpc>
                  <a:spcPct val="114000"/>
                </a:lnSpc>
                <a:spcBef>
                  <a:spcPts val="600"/>
                </a:spcBef>
                <a:spcAft>
                  <a:spcPts val="600"/>
                </a:spcAft>
                <a:buClr>
                  <a:schemeClr val="tx1"/>
                </a:buClr>
                <a:buSzPct val="100000"/>
              </a:pPr>
              <a:r>
                <a:rPr lang="en-US" sz="2400" dirty="0">
                  <a:solidFill>
                    <a:schemeClr val="tx1">
                      <a:lumMod val="75000"/>
                      <a:lumOff val="25000"/>
                    </a:schemeClr>
                  </a:solidFill>
                  <a:latin typeface="Courier New" panose="02070309020205020404" pitchFamily="49" charset="0"/>
                  <a:cs typeface="Courier New" panose="02070309020205020404" pitchFamily="49" charset="0"/>
                </a:rPr>
                <a:t>a = </a:t>
              </a:r>
              <a:r>
                <a:rPr lang="en-US" sz="2400" dirty="0" err="1">
                  <a:solidFill>
                    <a:schemeClr val="tx1">
                      <a:lumMod val="75000"/>
                      <a:lumOff val="25000"/>
                    </a:schemeClr>
                  </a:solidFill>
                  <a:latin typeface="Courier New" panose="02070309020205020404" pitchFamily="49" charset="0"/>
                  <a:cs typeface="Courier New" panose="02070309020205020404" pitchFamily="49" charset="0"/>
                </a:rPr>
                <a:t>np.array</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([5,7,4])</a:t>
              </a:r>
            </a:p>
          </p:txBody>
        </p:sp>
        <p:sp>
          <p:nvSpPr>
            <p:cNvPr id="7" name="TextBox 6">
              <a:extLst>
                <a:ext uri="{FF2B5EF4-FFF2-40B4-BE49-F238E27FC236}">
                  <a16:creationId xmlns:a16="http://schemas.microsoft.com/office/drawing/2014/main" id="{87764D45-72A9-309C-669C-EB8E55CB754D}"/>
                </a:ext>
              </a:extLst>
            </p:cNvPr>
            <p:cNvSpPr txBox="1"/>
            <p:nvPr/>
          </p:nvSpPr>
          <p:spPr>
            <a:xfrm>
              <a:off x="2088573" y="4575884"/>
              <a:ext cx="1447800" cy="430887"/>
            </a:xfrm>
            <a:prstGeom prst="rect">
              <a:avLst/>
            </a:prstGeom>
            <a:noFill/>
          </p:spPr>
          <p:txBody>
            <a:bodyPr wrap="square" rtlCol="0">
              <a:spAutoFit/>
            </a:bodyPr>
            <a:lstStyle/>
            <a:p>
              <a:pPr algn="ctr"/>
              <a:r>
                <a:rPr lang="en-US" sz="2200" dirty="0"/>
                <a:t>Output </a:t>
              </a:r>
            </a:p>
          </p:txBody>
        </p:sp>
        <p:sp>
          <p:nvSpPr>
            <p:cNvPr id="12" name="TextBox 11">
              <a:extLst>
                <a:ext uri="{FF2B5EF4-FFF2-40B4-BE49-F238E27FC236}">
                  <a16:creationId xmlns:a16="http://schemas.microsoft.com/office/drawing/2014/main" id="{0A5A43D9-9CDC-9F50-140E-554A59313E41}"/>
                </a:ext>
              </a:extLst>
            </p:cNvPr>
            <p:cNvSpPr txBox="1"/>
            <p:nvPr/>
          </p:nvSpPr>
          <p:spPr>
            <a:xfrm>
              <a:off x="3962400" y="4503399"/>
              <a:ext cx="1447800" cy="769441"/>
            </a:xfrm>
            <a:prstGeom prst="rect">
              <a:avLst/>
            </a:prstGeom>
            <a:noFill/>
          </p:spPr>
          <p:txBody>
            <a:bodyPr wrap="square" rtlCol="0">
              <a:spAutoFit/>
            </a:bodyPr>
            <a:lstStyle/>
            <a:p>
              <a:pPr algn="ctr"/>
              <a:r>
                <a:rPr lang="en-US" sz="2200" dirty="0"/>
                <a:t>Package reference </a:t>
              </a:r>
            </a:p>
          </p:txBody>
        </p:sp>
        <p:sp>
          <p:nvSpPr>
            <p:cNvPr id="13" name="TextBox 12">
              <a:extLst>
                <a:ext uri="{FF2B5EF4-FFF2-40B4-BE49-F238E27FC236}">
                  <a16:creationId xmlns:a16="http://schemas.microsoft.com/office/drawing/2014/main" id="{AB9361EC-72DF-223A-1EE0-C9A261597A13}"/>
                </a:ext>
              </a:extLst>
            </p:cNvPr>
            <p:cNvSpPr txBox="1"/>
            <p:nvPr/>
          </p:nvSpPr>
          <p:spPr>
            <a:xfrm>
              <a:off x="5836227" y="4575884"/>
              <a:ext cx="1447800" cy="430887"/>
            </a:xfrm>
            <a:prstGeom prst="rect">
              <a:avLst/>
            </a:prstGeom>
            <a:noFill/>
          </p:spPr>
          <p:txBody>
            <a:bodyPr wrap="square" rtlCol="0">
              <a:spAutoFit/>
            </a:bodyPr>
            <a:lstStyle/>
            <a:p>
              <a:pPr algn="ctr"/>
              <a:r>
                <a:rPr lang="en-US" sz="2200" dirty="0"/>
                <a:t>Function</a:t>
              </a:r>
            </a:p>
          </p:txBody>
        </p:sp>
        <p:sp>
          <p:nvSpPr>
            <p:cNvPr id="14" name="TextBox 13">
              <a:extLst>
                <a:ext uri="{FF2B5EF4-FFF2-40B4-BE49-F238E27FC236}">
                  <a16:creationId xmlns:a16="http://schemas.microsoft.com/office/drawing/2014/main" id="{8E055C34-0237-9994-36B7-45B094CB1587}"/>
                </a:ext>
              </a:extLst>
            </p:cNvPr>
            <p:cNvSpPr txBox="1"/>
            <p:nvPr/>
          </p:nvSpPr>
          <p:spPr>
            <a:xfrm>
              <a:off x="7391400" y="4579556"/>
              <a:ext cx="1447800" cy="430887"/>
            </a:xfrm>
            <a:prstGeom prst="rect">
              <a:avLst/>
            </a:prstGeom>
            <a:noFill/>
          </p:spPr>
          <p:txBody>
            <a:bodyPr wrap="square" rtlCol="0">
              <a:spAutoFit/>
            </a:bodyPr>
            <a:lstStyle/>
            <a:p>
              <a:pPr algn="ctr"/>
              <a:r>
                <a:rPr lang="en-US" sz="2200" dirty="0"/>
                <a:t>Input</a:t>
              </a:r>
            </a:p>
          </p:txBody>
        </p:sp>
        <p:cxnSp>
          <p:nvCxnSpPr>
            <p:cNvPr id="18" name="Elbow Connector 17">
              <a:extLst>
                <a:ext uri="{FF2B5EF4-FFF2-40B4-BE49-F238E27FC236}">
                  <a16:creationId xmlns:a16="http://schemas.microsoft.com/office/drawing/2014/main" id="{4911A97F-DF8B-A8D4-08DD-9A0E6C9D9276}"/>
                </a:ext>
              </a:extLst>
            </p:cNvPr>
            <p:cNvCxnSpPr>
              <a:stCxn id="7" idx="0"/>
              <a:endCxn id="25" idx="2"/>
            </p:cNvCxnSpPr>
            <p:nvPr/>
          </p:nvCxnSpPr>
          <p:spPr>
            <a:xfrm rot="5400000" flipH="1" flipV="1">
              <a:off x="2958877" y="3890270"/>
              <a:ext cx="539210" cy="832019"/>
            </a:xfrm>
            <a:prstGeom prst="bentConnector3">
              <a:avLst>
                <a:gd name="adj1" fmla="val 50000"/>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F40D77CC-3C6E-51F9-6376-C7CFB3565644}"/>
                </a:ext>
              </a:extLst>
            </p:cNvPr>
            <p:cNvCxnSpPr>
              <a:stCxn id="13" idx="0"/>
              <a:endCxn id="22" idx="2"/>
            </p:cNvCxnSpPr>
            <p:nvPr/>
          </p:nvCxnSpPr>
          <p:spPr>
            <a:xfrm rot="16200000" flipV="1">
              <a:off x="5684879" y="3700636"/>
              <a:ext cx="539210" cy="1211286"/>
            </a:xfrm>
            <a:prstGeom prst="bentConnector3">
              <a:avLst>
                <a:gd name="adj1" fmla="val 50000"/>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A9D9DAC-9A34-BAC4-7841-01EB5792B38C}"/>
                </a:ext>
              </a:extLst>
            </p:cNvPr>
            <p:cNvSpPr/>
            <p:nvPr/>
          </p:nvSpPr>
          <p:spPr>
            <a:xfrm>
              <a:off x="4260273"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08AF2E-E504-E609-3BB9-89B6616C10E4}"/>
                </a:ext>
              </a:extLst>
            </p:cNvPr>
            <p:cNvSpPr/>
            <p:nvPr/>
          </p:nvSpPr>
          <p:spPr>
            <a:xfrm>
              <a:off x="5098593"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87F4551-0B94-045F-0CDF-30C1C26698BB}"/>
                </a:ext>
              </a:extLst>
            </p:cNvPr>
            <p:cNvSpPr/>
            <p:nvPr/>
          </p:nvSpPr>
          <p:spPr>
            <a:xfrm>
              <a:off x="6560127"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34011A4-90EB-2D39-3961-F07BE4D010FA}"/>
                </a:ext>
              </a:extLst>
            </p:cNvPr>
            <p:cNvSpPr/>
            <p:nvPr/>
          </p:nvSpPr>
          <p:spPr>
            <a:xfrm>
              <a:off x="3394244"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Elbow Connector 27">
              <a:extLst>
                <a:ext uri="{FF2B5EF4-FFF2-40B4-BE49-F238E27FC236}">
                  <a16:creationId xmlns:a16="http://schemas.microsoft.com/office/drawing/2014/main" id="{64BED1FA-B8C8-F997-55E1-5D3E9FAA310E}"/>
                </a:ext>
              </a:extLst>
            </p:cNvPr>
            <p:cNvCxnSpPr>
              <a:stCxn id="12" idx="0"/>
              <a:endCxn id="21" idx="2"/>
            </p:cNvCxnSpPr>
            <p:nvPr/>
          </p:nvCxnSpPr>
          <p:spPr>
            <a:xfrm rot="16200000" flipV="1">
              <a:off x="4365049" y="4182147"/>
              <a:ext cx="466725" cy="175779"/>
            </a:xfrm>
            <a:prstGeom prst="bentConnector3">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C187999F-1345-D3CF-11C5-AE771ACAE2A6}"/>
                </a:ext>
              </a:extLst>
            </p:cNvPr>
            <p:cNvCxnSpPr>
              <a:stCxn id="14" idx="0"/>
              <a:endCxn id="23" idx="2"/>
            </p:cNvCxnSpPr>
            <p:nvPr/>
          </p:nvCxnSpPr>
          <p:spPr>
            <a:xfrm rot="16200000" flipV="1">
              <a:off x="7191397" y="3655652"/>
              <a:ext cx="542882" cy="1304925"/>
            </a:xfrm>
            <a:prstGeom prst="bentConnector3">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9" name="Picture 8">
            <a:extLst>
              <a:ext uri="{FF2B5EF4-FFF2-40B4-BE49-F238E27FC236}">
                <a16:creationId xmlns:a16="http://schemas.microsoft.com/office/drawing/2014/main" id="{3D78104E-2687-BED5-A55E-AD2806233C18}"/>
              </a:ext>
            </a:extLst>
          </p:cNvPr>
          <p:cNvPicPr>
            <a:picLocks noChangeAspect="1"/>
          </p:cNvPicPr>
          <p:nvPr/>
        </p:nvPicPr>
        <p:blipFill rotWithShape="1">
          <a:blip r:embed="rId3"/>
          <a:srcRect b="50081"/>
          <a:stretch/>
        </p:blipFill>
        <p:spPr>
          <a:xfrm>
            <a:off x="3336468" y="1838357"/>
            <a:ext cx="4572000" cy="587598"/>
          </a:xfrm>
          <a:prstGeom prst="rect">
            <a:avLst/>
          </a:prstGeom>
        </p:spPr>
      </p:pic>
      <p:sp>
        <p:nvSpPr>
          <p:cNvPr id="11" name="Rectangle 10">
            <a:extLst>
              <a:ext uri="{FF2B5EF4-FFF2-40B4-BE49-F238E27FC236}">
                <a16:creationId xmlns:a16="http://schemas.microsoft.com/office/drawing/2014/main" id="{FAECB8CA-28F1-0E06-5876-D910399AA58E}"/>
              </a:ext>
            </a:extLst>
          </p:cNvPr>
          <p:cNvSpPr/>
          <p:nvPr/>
        </p:nvSpPr>
        <p:spPr>
          <a:xfrm>
            <a:off x="990600" y="1284331"/>
            <a:ext cx="8345394" cy="48936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Packages need to be imported before packages can be utilized</a:t>
            </a:r>
          </a:p>
        </p:txBody>
      </p:sp>
      <p:sp>
        <p:nvSpPr>
          <p:cNvPr id="27" name="TextBox 26">
            <a:extLst>
              <a:ext uri="{FF2B5EF4-FFF2-40B4-BE49-F238E27FC236}">
                <a16:creationId xmlns:a16="http://schemas.microsoft.com/office/drawing/2014/main" id="{8B592394-D754-09F3-E474-94DC9F9CAD59}"/>
              </a:ext>
            </a:extLst>
          </p:cNvPr>
          <p:cNvSpPr txBox="1"/>
          <p:nvPr/>
        </p:nvSpPr>
        <p:spPr>
          <a:xfrm>
            <a:off x="3672104" y="2750054"/>
            <a:ext cx="1999840" cy="369332"/>
          </a:xfrm>
          <a:prstGeom prst="rect">
            <a:avLst/>
          </a:prstGeom>
          <a:noFill/>
        </p:spPr>
        <p:txBody>
          <a:bodyPr wrap="square" rtlCol="0">
            <a:spAutoFit/>
          </a:bodyPr>
          <a:lstStyle/>
          <a:p>
            <a:r>
              <a:rPr lang="en-US" dirty="0"/>
              <a:t>Name of Package</a:t>
            </a:r>
          </a:p>
        </p:txBody>
      </p:sp>
      <p:cxnSp>
        <p:nvCxnSpPr>
          <p:cNvPr id="29" name="Straight Arrow Connector 28">
            <a:extLst>
              <a:ext uri="{FF2B5EF4-FFF2-40B4-BE49-F238E27FC236}">
                <a16:creationId xmlns:a16="http://schemas.microsoft.com/office/drawing/2014/main" id="{6623F332-BFCE-8C41-19D4-6F805B519124}"/>
              </a:ext>
            </a:extLst>
          </p:cNvPr>
          <p:cNvCxnSpPr>
            <a:cxnSpLocks/>
          </p:cNvCxnSpPr>
          <p:nvPr/>
        </p:nvCxnSpPr>
        <p:spPr>
          <a:xfrm flipV="1">
            <a:off x="4839521" y="2372227"/>
            <a:ext cx="113479" cy="4521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3AD5AA7-2E0B-0436-82B5-422198BD2BE9}"/>
              </a:ext>
            </a:extLst>
          </p:cNvPr>
          <p:cNvSpPr txBox="1"/>
          <p:nvPr/>
        </p:nvSpPr>
        <p:spPr>
          <a:xfrm>
            <a:off x="5833834" y="2759262"/>
            <a:ext cx="4072166" cy="1477328"/>
          </a:xfrm>
          <a:prstGeom prst="rect">
            <a:avLst/>
          </a:prstGeom>
          <a:noFill/>
        </p:spPr>
        <p:txBody>
          <a:bodyPr wrap="square" rtlCol="0">
            <a:spAutoFit/>
          </a:bodyPr>
          <a:lstStyle/>
          <a:p>
            <a:r>
              <a:rPr lang="en-US" dirty="0"/>
              <a:t>Alias, or nickname, assigned to that package within the script.</a:t>
            </a:r>
          </a:p>
          <a:p>
            <a:endParaRPr lang="en-US" dirty="0"/>
          </a:p>
          <a:p>
            <a:r>
              <a:rPr lang="en-US" dirty="0"/>
              <a:t>Note: whatever you put after the “as” is what is used to refer to the function. </a:t>
            </a:r>
          </a:p>
        </p:txBody>
      </p:sp>
      <p:cxnSp>
        <p:nvCxnSpPr>
          <p:cNvPr id="32" name="Straight Arrow Connector 31">
            <a:extLst>
              <a:ext uri="{FF2B5EF4-FFF2-40B4-BE49-F238E27FC236}">
                <a16:creationId xmlns:a16="http://schemas.microsoft.com/office/drawing/2014/main" id="{1D54CD2B-D2C2-966D-83FE-EA6F0783CDE3}"/>
              </a:ext>
            </a:extLst>
          </p:cNvPr>
          <p:cNvCxnSpPr>
            <a:cxnSpLocks/>
          </p:cNvCxnSpPr>
          <p:nvPr/>
        </p:nvCxnSpPr>
        <p:spPr>
          <a:xfrm flipH="1" flipV="1">
            <a:off x="6109854" y="2436089"/>
            <a:ext cx="353186" cy="4298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9B78EEA-7691-3590-63A4-CDEB449292AD}"/>
              </a:ext>
            </a:extLst>
          </p:cNvPr>
          <p:cNvCxnSpPr>
            <a:cxnSpLocks/>
          </p:cNvCxnSpPr>
          <p:nvPr/>
        </p:nvCxnSpPr>
        <p:spPr>
          <a:xfrm flipH="1">
            <a:off x="4896260" y="3405594"/>
            <a:ext cx="976456" cy="121381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5">
            <a:extLst>
              <a:ext uri="{FF2B5EF4-FFF2-40B4-BE49-F238E27FC236}">
                <a16:creationId xmlns:a16="http://schemas.microsoft.com/office/drawing/2014/main" id="{B28B5BEF-EBA3-9D49-E27B-F49384C7AC4E}"/>
              </a:ext>
            </a:extLst>
          </p:cNvPr>
          <p:cNvSpPr>
            <a:spLocks noGrp="1"/>
          </p:cNvSpPr>
          <p:nvPr>
            <p:ph type="ftr" sz="quarter" idx="11"/>
          </p:nvPr>
        </p:nvSpPr>
        <p:spPr>
          <a:xfrm>
            <a:off x="4165600" y="6356353"/>
            <a:ext cx="3860800" cy="365125"/>
          </a:xfrm>
        </p:spPr>
        <p:txBody>
          <a:bodyPr/>
          <a:lstStyle/>
          <a:p>
            <a:r>
              <a:rPr lang="en-US" dirty="0"/>
              <a:t>EVE310 Fall 2025 Lab 2</a:t>
            </a:r>
          </a:p>
        </p:txBody>
      </p:sp>
      <p:sp>
        <p:nvSpPr>
          <p:cNvPr id="6" name="Rectangle 5">
            <a:extLst>
              <a:ext uri="{FF2B5EF4-FFF2-40B4-BE49-F238E27FC236}">
                <a16:creationId xmlns:a16="http://schemas.microsoft.com/office/drawing/2014/main" id="{62182FFA-217A-CB15-1AA4-CB00AABF255E}"/>
              </a:ext>
            </a:extLst>
          </p:cNvPr>
          <p:cNvSpPr/>
          <p:nvPr/>
        </p:nvSpPr>
        <p:spPr>
          <a:xfrm>
            <a:off x="1066800" y="6154065"/>
            <a:ext cx="8345394" cy="1064266"/>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If you spell the function incorrectly, you get a </a:t>
            </a:r>
            <a:r>
              <a:rPr lang="en-US" sz="2400" dirty="0" err="1">
                <a:solidFill>
                  <a:schemeClr val="tx1">
                    <a:lumMod val="75000"/>
                    <a:lumOff val="25000"/>
                  </a:schemeClr>
                </a:solidFill>
              </a:rPr>
              <a:t>AttributeError</a:t>
            </a:r>
            <a:r>
              <a:rPr lang="en-US" sz="2400" dirty="0">
                <a:solidFill>
                  <a:schemeClr val="tx1">
                    <a:lumMod val="75000"/>
                    <a:lumOff val="25000"/>
                  </a:schemeClr>
                </a:solidFill>
              </a:rPr>
              <a: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err="1">
                <a:solidFill>
                  <a:schemeClr val="tx1">
                    <a:lumMod val="75000"/>
                    <a:lumOff val="25000"/>
                  </a:schemeClr>
                </a:solidFill>
              </a:rPr>
              <a:t>KeywordError</a:t>
            </a:r>
            <a:endParaRPr lang="en-US" sz="2400" dirty="0">
              <a:solidFill>
                <a:schemeClr val="tx1">
                  <a:lumMod val="75000"/>
                  <a:lumOff val="25000"/>
                </a:schemeClr>
              </a:solidFill>
            </a:endParaRPr>
          </a:p>
        </p:txBody>
      </p:sp>
    </p:spTree>
    <p:extLst>
      <p:ext uri="{BB962C8B-B14F-4D97-AF65-F5344CB8AC3E}">
        <p14:creationId xmlns:p14="http://schemas.microsoft.com/office/powerpoint/2010/main" val="142276004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9</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Installing a Python Package</a:t>
            </a:r>
          </a:p>
        </p:txBody>
      </p:sp>
      <p:pic>
        <p:nvPicPr>
          <p:cNvPr id="7" name="Picture 6">
            <a:extLst>
              <a:ext uri="{FF2B5EF4-FFF2-40B4-BE49-F238E27FC236}">
                <a16:creationId xmlns:a16="http://schemas.microsoft.com/office/drawing/2014/main" id="{C6C3D8A6-175E-4DB0-84A6-738D345CA184}"/>
              </a:ext>
            </a:extLst>
          </p:cNvPr>
          <p:cNvPicPr>
            <a:picLocks noChangeAspect="1"/>
          </p:cNvPicPr>
          <p:nvPr/>
        </p:nvPicPr>
        <p:blipFill>
          <a:blip r:embed="rId3"/>
          <a:stretch>
            <a:fillRect/>
          </a:stretch>
        </p:blipFill>
        <p:spPr>
          <a:xfrm>
            <a:off x="2209800" y="3733800"/>
            <a:ext cx="7772400" cy="1979436"/>
          </a:xfrm>
          <a:prstGeom prst="rect">
            <a:avLst/>
          </a:prstGeom>
        </p:spPr>
      </p:pic>
      <p:sp>
        <p:nvSpPr>
          <p:cNvPr id="9" name="Rectangle 8">
            <a:extLst>
              <a:ext uri="{FF2B5EF4-FFF2-40B4-BE49-F238E27FC236}">
                <a16:creationId xmlns:a16="http://schemas.microsoft.com/office/drawing/2014/main" id="{E8751751-88E1-48B7-B242-E3F1E4D061E6}"/>
              </a:ext>
            </a:extLst>
          </p:cNvPr>
          <p:cNvSpPr/>
          <p:nvPr/>
        </p:nvSpPr>
        <p:spPr>
          <a:xfrm>
            <a:off x="838200" y="1496794"/>
            <a:ext cx="8345394" cy="1906291"/>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Packages need to be installed on your computer before you can import them to your script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If you see the error below, it means the package needs to be installed</a:t>
            </a:r>
          </a:p>
        </p:txBody>
      </p:sp>
      <p:sp>
        <p:nvSpPr>
          <p:cNvPr id="2" name="Footer Placeholder 5">
            <a:extLst>
              <a:ext uri="{FF2B5EF4-FFF2-40B4-BE49-F238E27FC236}">
                <a16:creationId xmlns:a16="http://schemas.microsoft.com/office/drawing/2014/main" id="{D9611331-F13A-9F86-B11E-7881205A650E}"/>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23872903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241800" y="5921652"/>
            <a:ext cx="3860800" cy="365125"/>
          </a:xfrm>
        </p:spPr>
        <p:txBody>
          <a:bodyPr/>
          <a:lstStyle/>
          <a:p>
            <a:r>
              <a:rPr lang="en-US" dirty="0"/>
              <a:t>EVE310 Fall 2022 Lab 2</a:t>
            </a:r>
          </a:p>
        </p:txBody>
      </p:sp>
      <p:sp>
        <p:nvSpPr>
          <p:cNvPr id="3" name="Slide Number Placeholder 2"/>
          <p:cNvSpPr>
            <a:spLocks noGrp="1"/>
          </p:cNvSpPr>
          <p:nvPr>
            <p:ph type="sldNum" sz="quarter" idx="12"/>
          </p:nvPr>
        </p:nvSpPr>
        <p:spPr/>
        <p:txBody>
          <a:bodyPr/>
          <a:lstStyle/>
          <a:p>
            <a:fld id="{2E8848B6-D328-4CC8-99C6-D5689AE94DF4}" type="slidenum">
              <a:rPr lang="en-US" smtClean="0"/>
              <a:t>10</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Installing a Python Package</a:t>
            </a:r>
          </a:p>
        </p:txBody>
      </p:sp>
      <p:sp>
        <p:nvSpPr>
          <p:cNvPr id="8" name="Rectangle 7"/>
          <p:cNvSpPr/>
          <p:nvPr/>
        </p:nvSpPr>
        <p:spPr>
          <a:xfrm>
            <a:off x="685800" y="987285"/>
            <a:ext cx="9753600" cy="249228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Python packages must be installed before using them for the first time</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To install a package, go to the Explorer in </a:t>
            </a:r>
            <a:r>
              <a:rPr lang="en-US" sz="2400" dirty="0" err="1">
                <a:solidFill>
                  <a:schemeClr val="tx1">
                    <a:lumMod val="75000"/>
                    <a:lumOff val="25000"/>
                  </a:schemeClr>
                </a:solidFill>
              </a:rPr>
              <a:t>VSCode</a:t>
            </a:r>
            <a:r>
              <a:rPr lang="en-US" sz="2400" dirty="0">
                <a:solidFill>
                  <a:schemeClr val="tx1">
                    <a:lumMod val="75000"/>
                    <a:lumOff val="25000"/>
                  </a:schemeClr>
                </a:solidFill>
              </a:rPr>
              <a:t>, right click and select “Open in New Integrated Terminal”, and use the following command in the terminal: </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pip install &lt;</a:t>
            </a:r>
            <a:r>
              <a:rPr lang="en-US" sz="2400" dirty="0" err="1">
                <a:solidFill>
                  <a:schemeClr val="tx1">
                    <a:lumMod val="75000"/>
                    <a:lumOff val="25000"/>
                  </a:schemeClr>
                </a:solidFill>
                <a:latin typeface="Courier New" panose="02070309020205020404" pitchFamily="49" charset="0"/>
                <a:cs typeface="Courier New" panose="02070309020205020404" pitchFamily="49" charset="0"/>
              </a:rPr>
              <a:t>package_name</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&gt;</a:t>
            </a:r>
          </a:p>
          <a:p>
            <a:pPr>
              <a:lnSpc>
                <a:spcPct val="114000"/>
              </a:lnSpc>
              <a:spcBef>
                <a:spcPts val="600"/>
              </a:spcBef>
              <a:spcAft>
                <a:spcPts val="600"/>
              </a:spcAft>
              <a:buClr>
                <a:schemeClr val="tx1"/>
              </a:buClr>
              <a:buSzPct val="100000"/>
            </a:pPr>
            <a:r>
              <a:rPr lang="en-US" altLang="en-US" sz="2400" dirty="0">
                <a:solidFill>
                  <a:srgbClr val="0000FF"/>
                </a:solidFill>
              </a:rPr>
              <a:t>	</a:t>
            </a:r>
            <a:endParaRPr lang="en-US" sz="2200" dirty="0">
              <a:solidFill>
                <a:schemeClr val="tx1">
                  <a:lumMod val="75000"/>
                  <a:lumOff val="25000"/>
                </a:schemeClr>
              </a:solidFill>
              <a:latin typeface="Courier New" panose="02070309020205020404" pitchFamily="49" charset="0"/>
              <a:cs typeface="Courier New" panose="02070309020205020404" pitchFamily="49" charset="0"/>
            </a:endParaRPr>
          </a:p>
        </p:txBody>
      </p:sp>
      <p:pic>
        <p:nvPicPr>
          <p:cNvPr id="7" name="Picture 6">
            <a:extLst>
              <a:ext uri="{FF2B5EF4-FFF2-40B4-BE49-F238E27FC236}">
                <a16:creationId xmlns:a16="http://schemas.microsoft.com/office/drawing/2014/main" id="{8BA5B642-36EA-4D95-B32D-3F8646DC162E}"/>
              </a:ext>
            </a:extLst>
          </p:cNvPr>
          <p:cNvPicPr>
            <a:picLocks noChangeAspect="1"/>
          </p:cNvPicPr>
          <p:nvPr/>
        </p:nvPicPr>
        <p:blipFill>
          <a:blip r:embed="rId3"/>
          <a:stretch>
            <a:fillRect/>
          </a:stretch>
        </p:blipFill>
        <p:spPr>
          <a:xfrm>
            <a:off x="838200" y="3116678"/>
            <a:ext cx="9906000" cy="3265466"/>
          </a:xfrm>
          <a:prstGeom prst="rect">
            <a:avLst/>
          </a:prstGeom>
        </p:spPr>
      </p:pic>
      <p:sp>
        <p:nvSpPr>
          <p:cNvPr id="9" name="Rectangle 8">
            <a:extLst>
              <a:ext uri="{FF2B5EF4-FFF2-40B4-BE49-F238E27FC236}">
                <a16:creationId xmlns:a16="http://schemas.microsoft.com/office/drawing/2014/main" id="{084661E0-E0C2-46EB-A4A1-9A1B892DD1A0}"/>
              </a:ext>
            </a:extLst>
          </p:cNvPr>
          <p:cNvSpPr/>
          <p:nvPr/>
        </p:nvSpPr>
        <p:spPr>
          <a:xfrm>
            <a:off x="4953000" y="3044241"/>
            <a:ext cx="5243804" cy="58070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Step 1: Type “pip install </a:t>
            </a:r>
            <a:r>
              <a:rPr lang="en-US" dirty="0" err="1">
                <a:solidFill>
                  <a:schemeClr val="tx1"/>
                </a:solidFill>
              </a:rPr>
              <a:t>usgs</a:t>
            </a:r>
            <a:r>
              <a:rPr lang="en-US" dirty="0">
                <a:solidFill>
                  <a:schemeClr val="tx1"/>
                </a:solidFill>
              </a:rPr>
              <a:t>” (to import the </a:t>
            </a:r>
            <a:r>
              <a:rPr lang="en-US" dirty="0" err="1">
                <a:solidFill>
                  <a:schemeClr val="tx1"/>
                </a:solidFill>
              </a:rPr>
              <a:t>usgs</a:t>
            </a:r>
            <a:r>
              <a:rPr lang="en-US" dirty="0">
                <a:solidFill>
                  <a:schemeClr val="tx1"/>
                </a:solidFill>
              </a:rPr>
              <a:t> package) </a:t>
            </a:r>
          </a:p>
        </p:txBody>
      </p:sp>
      <p:cxnSp>
        <p:nvCxnSpPr>
          <p:cNvPr id="11" name="Straight Arrow Connector 10">
            <a:extLst>
              <a:ext uri="{FF2B5EF4-FFF2-40B4-BE49-F238E27FC236}">
                <a16:creationId xmlns:a16="http://schemas.microsoft.com/office/drawing/2014/main" id="{C06C0B33-CFA7-466C-A15D-6C52A539AA29}"/>
              </a:ext>
            </a:extLst>
          </p:cNvPr>
          <p:cNvCxnSpPr>
            <a:cxnSpLocks/>
            <a:stCxn id="9" idx="1"/>
          </p:cNvCxnSpPr>
          <p:nvPr/>
        </p:nvCxnSpPr>
        <p:spPr>
          <a:xfrm flipH="1" flipV="1">
            <a:off x="3276600" y="3174093"/>
            <a:ext cx="1676400" cy="1605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B7993CC-E12D-4F44-B4CB-EC05A4FAF05A}"/>
              </a:ext>
            </a:extLst>
          </p:cNvPr>
          <p:cNvSpPr/>
          <p:nvPr/>
        </p:nvSpPr>
        <p:spPr>
          <a:xfrm>
            <a:off x="4648200" y="4020126"/>
            <a:ext cx="5243804" cy="58070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Step 2: Wait for the necessary files to download (shouldn’t take too long)</a:t>
            </a:r>
          </a:p>
        </p:txBody>
      </p:sp>
      <p:cxnSp>
        <p:nvCxnSpPr>
          <p:cNvPr id="16" name="Straight Arrow Connector 15">
            <a:extLst>
              <a:ext uri="{FF2B5EF4-FFF2-40B4-BE49-F238E27FC236}">
                <a16:creationId xmlns:a16="http://schemas.microsoft.com/office/drawing/2014/main" id="{440DAFF7-F5F3-4319-A432-825A30E90C4A}"/>
              </a:ext>
            </a:extLst>
          </p:cNvPr>
          <p:cNvCxnSpPr>
            <a:cxnSpLocks/>
          </p:cNvCxnSpPr>
          <p:nvPr/>
        </p:nvCxnSpPr>
        <p:spPr>
          <a:xfrm>
            <a:off x="4648200" y="4617164"/>
            <a:ext cx="0" cy="122392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E5EE3A6-E303-4AC6-9CC8-E7E679E8AC12}"/>
              </a:ext>
            </a:extLst>
          </p:cNvPr>
          <p:cNvSpPr/>
          <p:nvPr/>
        </p:nvSpPr>
        <p:spPr>
          <a:xfrm>
            <a:off x="4165599" y="6149204"/>
            <a:ext cx="6031204" cy="580709"/>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Step 3:When you are able to type again into the Command Prompt/Terminal, you know you’re done installing</a:t>
            </a:r>
          </a:p>
        </p:txBody>
      </p:sp>
      <p:cxnSp>
        <p:nvCxnSpPr>
          <p:cNvPr id="21" name="Straight Arrow Connector 20">
            <a:extLst>
              <a:ext uri="{FF2B5EF4-FFF2-40B4-BE49-F238E27FC236}">
                <a16:creationId xmlns:a16="http://schemas.microsoft.com/office/drawing/2014/main" id="{748635FE-317E-4C2F-9004-84DC48CE6345}"/>
              </a:ext>
            </a:extLst>
          </p:cNvPr>
          <p:cNvCxnSpPr>
            <a:cxnSpLocks/>
            <a:stCxn id="19" idx="1"/>
          </p:cNvCxnSpPr>
          <p:nvPr/>
        </p:nvCxnSpPr>
        <p:spPr>
          <a:xfrm flipH="1" flipV="1">
            <a:off x="2438401" y="6131151"/>
            <a:ext cx="1727198" cy="30840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Footer Placeholder 5">
            <a:extLst>
              <a:ext uri="{FF2B5EF4-FFF2-40B4-BE49-F238E27FC236}">
                <a16:creationId xmlns:a16="http://schemas.microsoft.com/office/drawing/2014/main" id="{083C4DDE-9135-468D-8B4F-35D32530D9C4}"/>
              </a:ext>
            </a:extLst>
          </p:cNvPr>
          <p:cNvSpPr txBox="1">
            <a:spLocks/>
          </p:cNvSpPr>
          <p:nvPr/>
        </p:nvSpPr>
        <p:spPr>
          <a:xfrm>
            <a:off x="4165600" y="6356353"/>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EVE310 Fall 2025 Lab 2</a:t>
            </a:r>
          </a:p>
        </p:txBody>
      </p:sp>
    </p:spTree>
    <p:extLst>
      <p:ext uri="{BB962C8B-B14F-4D97-AF65-F5344CB8AC3E}">
        <p14:creationId xmlns:p14="http://schemas.microsoft.com/office/powerpoint/2010/main" val="34633201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11</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Difference between Installing and Importing</a:t>
            </a:r>
          </a:p>
        </p:txBody>
      </p:sp>
      <p:sp>
        <p:nvSpPr>
          <p:cNvPr id="9" name="Rectangle 8">
            <a:extLst>
              <a:ext uri="{FF2B5EF4-FFF2-40B4-BE49-F238E27FC236}">
                <a16:creationId xmlns:a16="http://schemas.microsoft.com/office/drawing/2014/main" id="{E8751751-88E1-48B7-B242-E3F1E4D061E6}"/>
              </a:ext>
            </a:extLst>
          </p:cNvPr>
          <p:cNvSpPr/>
          <p:nvPr/>
        </p:nvSpPr>
        <p:spPr>
          <a:xfrm>
            <a:off x="347796" y="784843"/>
            <a:ext cx="7714278" cy="5776710"/>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b="1" dirty="0">
                <a:solidFill>
                  <a:schemeClr val="tx1">
                    <a:lumMod val="75000"/>
                    <a:lumOff val="25000"/>
                  </a:schemeClr>
                </a:solidFill>
              </a:rPr>
              <a:t>Install:</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Downloading the files on to your computer</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Use </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pip install &lt;package name&gt; </a:t>
            </a:r>
            <a:r>
              <a:rPr lang="en-US" sz="2400" dirty="0">
                <a:solidFill>
                  <a:schemeClr val="tx1">
                    <a:lumMod val="75000"/>
                    <a:lumOff val="25000"/>
                  </a:schemeClr>
                </a:solidFill>
              </a:rPr>
              <a:t>in the command prompt</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Only needs to be done once for each package</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b="1" dirty="0">
                <a:solidFill>
                  <a:schemeClr val="tx1">
                    <a:lumMod val="75000"/>
                    <a:lumOff val="25000"/>
                  </a:schemeClr>
                </a:solidFill>
              </a:rPr>
              <a:t>Import:</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Making the package available for use in a script or notebook</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Use </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import </a:t>
            </a:r>
            <a:r>
              <a:rPr lang="en-US" sz="2400" dirty="0">
                <a:solidFill>
                  <a:schemeClr val="tx1">
                    <a:lumMod val="75000"/>
                    <a:lumOff val="25000"/>
                  </a:schemeClr>
                </a:solidFill>
              </a:rPr>
              <a:t>on python script/notebook</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 </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Needs to be done each time you use the package in a script or notebook</a:t>
            </a:r>
          </a:p>
        </p:txBody>
      </p:sp>
      <p:grpSp>
        <p:nvGrpSpPr>
          <p:cNvPr id="8" name="Group 7">
            <a:extLst>
              <a:ext uri="{FF2B5EF4-FFF2-40B4-BE49-F238E27FC236}">
                <a16:creationId xmlns:a16="http://schemas.microsoft.com/office/drawing/2014/main" id="{73AD98B4-A38B-430A-AF27-5A368A84059B}"/>
              </a:ext>
            </a:extLst>
          </p:cNvPr>
          <p:cNvGrpSpPr>
            <a:grpSpLocks noChangeAspect="1"/>
          </p:cNvGrpSpPr>
          <p:nvPr/>
        </p:nvGrpSpPr>
        <p:grpSpPr>
          <a:xfrm>
            <a:off x="8092986" y="762000"/>
            <a:ext cx="4130390" cy="1685925"/>
            <a:chOff x="-100265" y="1438275"/>
            <a:chExt cx="9754254" cy="3981450"/>
          </a:xfrm>
        </p:grpSpPr>
        <p:pic>
          <p:nvPicPr>
            <p:cNvPr id="10" name="Picture 9">
              <a:extLst>
                <a:ext uri="{FF2B5EF4-FFF2-40B4-BE49-F238E27FC236}">
                  <a16:creationId xmlns:a16="http://schemas.microsoft.com/office/drawing/2014/main" id="{7B9B34D7-6B80-46F8-9D34-C94028ACC12B}"/>
                </a:ext>
              </a:extLst>
            </p:cNvPr>
            <p:cNvPicPr>
              <a:picLocks noChangeAspect="1"/>
            </p:cNvPicPr>
            <p:nvPr/>
          </p:nvPicPr>
          <p:blipFill>
            <a:blip r:embed="rId3"/>
            <a:stretch>
              <a:fillRect/>
            </a:stretch>
          </p:blipFill>
          <p:spPr>
            <a:xfrm>
              <a:off x="3276600" y="1438275"/>
              <a:ext cx="4192147" cy="3981450"/>
            </a:xfrm>
            <a:prstGeom prst="rect">
              <a:avLst/>
            </a:prstGeom>
          </p:spPr>
        </p:pic>
        <p:sp>
          <p:nvSpPr>
            <p:cNvPr id="11" name="Rectangle 10">
              <a:extLst>
                <a:ext uri="{FF2B5EF4-FFF2-40B4-BE49-F238E27FC236}">
                  <a16:creationId xmlns:a16="http://schemas.microsoft.com/office/drawing/2014/main" id="{96B79470-F037-4891-A71A-903E32B105D9}"/>
                </a:ext>
              </a:extLst>
            </p:cNvPr>
            <p:cNvSpPr/>
            <p:nvPr/>
          </p:nvSpPr>
          <p:spPr>
            <a:xfrm>
              <a:off x="3170104" y="1758739"/>
              <a:ext cx="2616774" cy="36292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75F07E2-FCF8-48E7-903E-3D18D38F20C5}"/>
                </a:ext>
              </a:extLst>
            </p:cNvPr>
            <p:cNvSpPr/>
            <p:nvPr/>
          </p:nvSpPr>
          <p:spPr>
            <a:xfrm>
              <a:off x="5761478" y="1758739"/>
              <a:ext cx="1686726" cy="248284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3" name="Straight Arrow Connector 12">
              <a:extLst>
                <a:ext uri="{FF2B5EF4-FFF2-40B4-BE49-F238E27FC236}">
                  <a16:creationId xmlns:a16="http://schemas.microsoft.com/office/drawing/2014/main" id="{624AFD44-989A-4855-B6B7-9D9703FC483D}"/>
                </a:ext>
              </a:extLst>
            </p:cNvPr>
            <p:cNvCxnSpPr>
              <a:cxnSpLocks/>
            </p:cNvCxnSpPr>
            <p:nvPr/>
          </p:nvCxnSpPr>
          <p:spPr>
            <a:xfrm>
              <a:off x="2328689" y="2653328"/>
              <a:ext cx="799526" cy="3468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046D6A1-8EFF-4908-8FB8-1472E568F311}"/>
                </a:ext>
              </a:extLst>
            </p:cNvPr>
            <p:cNvSpPr txBox="1"/>
            <p:nvPr/>
          </p:nvSpPr>
          <p:spPr>
            <a:xfrm>
              <a:off x="-100265" y="2284671"/>
              <a:ext cx="3938587" cy="1526364"/>
            </a:xfrm>
            <a:prstGeom prst="rect">
              <a:avLst/>
            </a:prstGeom>
            <a:noFill/>
          </p:spPr>
          <p:txBody>
            <a:bodyPr wrap="square" rtlCol="0">
              <a:spAutoFit/>
            </a:bodyPr>
            <a:lstStyle/>
            <a:p>
              <a:r>
                <a:rPr lang="en-US" dirty="0"/>
                <a:t>“Normal” Python</a:t>
              </a:r>
            </a:p>
          </p:txBody>
        </p:sp>
        <p:sp>
          <p:nvSpPr>
            <p:cNvPr id="15" name="TextBox 14">
              <a:extLst>
                <a:ext uri="{FF2B5EF4-FFF2-40B4-BE49-F238E27FC236}">
                  <a16:creationId xmlns:a16="http://schemas.microsoft.com/office/drawing/2014/main" id="{32458DEE-6C32-4786-A6F3-E98FFFF8466E}"/>
                </a:ext>
              </a:extLst>
            </p:cNvPr>
            <p:cNvSpPr txBox="1"/>
            <p:nvPr/>
          </p:nvSpPr>
          <p:spPr>
            <a:xfrm>
              <a:off x="7359958" y="2186708"/>
              <a:ext cx="2294031" cy="872208"/>
            </a:xfrm>
            <a:prstGeom prst="rect">
              <a:avLst/>
            </a:prstGeom>
            <a:noFill/>
          </p:spPr>
          <p:txBody>
            <a:bodyPr wrap="square" rtlCol="0">
              <a:spAutoFit/>
            </a:bodyPr>
            <a:lstStyle/>
            <a:p>
              <a:r>
                <a:rPr lang="en-US" dirty="0"/>
                <a:t>Package</a:t>
              </a:r>
            </a:p>
          </p:txBody>
        </p:sp>
        <p:cxnSp>
          <p:nvCxnSpPr>
            <p:cNvPr id="16" name="Straight Arrow Connector 15">
              <a:extLst>
                <a:ext uri="{FF2B5EF4-FFF2-40B4-BE49-F238E27FC236}">
                  <a16:creationId xmlns:a16="http://schemas.microsoft.com/office/drawing/2014/main" id="{60347821-EBBC-4939-A4A3-F04FFCF0DE09}"/>
                </a:ext>
              </a:extLst>
            </p:cNvPr>
            <p:cNvCxnSpPr>
              <a:cxnSpLocks/>
            </p:cNvCxnSpPr>
            <p:nvPr/>
          </p:nvCxnSpPr>
          <p:spPr>
            <a:xfrm flipH="1" flipV="1">
              <a:off x="7506274" y="2221382"/>
              <a:ext cx="1000699" cy="115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7A95C696-404F-4CB5-ACBB-0C703BA0BC75}"/>
              </a:ext>
            </a:extLst>
          </p:cNvPr>
          <p:cNvSpPr txBox="1"/>
          <p:nvPr/>
        </p:nvSpPr>
        <p:spPr>
          <a:xfrm>
            <a:off x="8915400" y="2590300"/>
            <a:ext cx="3135907" cy="1477328"/>
          </a:xfrm>
          <a:prstGeom prst="rect">
            <a:avLst/>
          </a:prstGeom>
          <a:noFill/>
          <a:ln w="38100">
            <a:solidFill>
              <a:schemeClr val="tx1"/>
            </a:solidFill>
          </a:ln>
        </p:spPr>
        <p:txBody>
          <a:bodyPr wrap="square" rtlCol="0">
            <a:spAutoFit/>
          </a:bodyPr>
          <a:lstStyle/>
          <a:p>
            <a:r>
              <a:rPr lang="en-US" b="1" dirty="0"/>
              <a:t>Install</a:t>
            </a:r>
            <a:r>
              <a:rPr lang="en-US" dirty="0"/>
              <a:t>: Buy the pasta maker from the store</a:t>
            </a:r>
          </a:p>
          <a:p>
            <a:r>
              <a:rPr lang="en-US" b="1" dirty="0"/>
              <a:t>Import</a:t>
            </a:r>
            <a:r>
              <a:rPr lang="en-US" dirty="0"/>
              <a:t>: Put the pasta maker on the Kitchen Aid each time you use it</a:t>
            </a:r>
          </a:p>
        </p:txBody>
      </p:sp>
      <p:sp>
        <p:nvSpPr>
          <p:cNvPr id="2" name="Footer Placeholder 5">
            <a:extLst>
              <a:ext uri="{FF2B5EF4-FFF2-40B4-BE49-F238E27FC236}">
                <a16:creationId xmlns:a16="http://schemas.microsoft.com/office/drawing/2014/main" id="{45FBA584-6FA9-50EB-145D-81F13404A8E3}"/>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66806389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12</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Variables: Different Types for Different Purposes</a:t>
            </a:r>
          </a:p>
        </p:txBody>
      </p:sp>
      <p:sp>
        <p:nvSpPr>
          <p:cNvPr id="8" name="Rectangle 7">
            <a:extLst>
              <a:ext uri="{FF2B5EF4-FFF2-40B4-BE49-F238E27FC236}">
                <a16:creationId xmlns:a16="http://schemas.microsoft.com/office/drawing/2014/main" id="{EE1FC8F6-7BDC-6B4B-9EA7-2D8547DA2DB3}"/>
              </a:ext>
            </a:extLst>
          </p:cNvPr>
          <p:cNvSpPr/>
          <p:nvPr/>
        </p:nvSpPr>
        <p:spPr>
          <a:xfrm>
            <a:off x="838200" y="1600200"/>
            <a:ext cx="8345394" cy="2788969"/>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Numbers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Strings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List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Array</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err="1">
                <a:solidFill>
                  <a:schemeClr val="tx1">
                    <a:lumMod val="75000"/>
                    <a:lumOff val="25000"/>
                  </a:schemeClr>
                </a:solidFill>
              </a:rPr>
              <a:t>Dataframe</a:t>
            </a:r>
            <a:r>
              <a:rPr lang="en-US" sz="2400" dirty="0">
                <a:solidFill>
                  <a:schemeClr val="tx1">
                    <a:lumMod val="75000"/>
                    <a:lumOff val="25000"/>
                  </a:schemeClr>
                </a:solidFill>
              </a:rPr>
              <a:t>  </a:t>
            </a:r>
          </a:p>
        </p:txBody>
      </p:sp>
      <p:sp>
        <p:nvSpPr>
          <p:cNvPr id="2" name="Footer Placeholder 5">
            <a:extLst>
              <a:ext uri="{FF2B5EF4-FFF2-40B4-BE49-F238E27FC236}">
                <a16:creationId xmlns:a16="http://schemas.microsoft.com/office/drawing/2014/main" id="{B8D661C6-DFC6-C9FE-D8B1-DC5000575BD4}"/>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01741677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13</a:t>
            </a:fld>
            <a:endParaRPr lang="en-US"/>
          </a:p>
        </p:txBody>
      </p:sp>
      <p:sp>
        <p:nvSpPr>
          <p:cNvPr id="4" name="Rectangle 3"/>
          <p:cNvSpPr/>
          <p:nvPr/>
        </p:nvSpPr>
        <p:spPr>
          <a:xfrm>
            <a:off x="914400" y="990600"/>
            <a:ext cx="8345394" cy="1639167"/>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b="1" dirty="0">
                <a:solidFill>
                  <a:schemeClr val="tx1">
                    <a:lumMod val="75000"/>
                    <a:lumOff val="25000"/>
                  </a:schemeClr>
                </a:solidFill>
              </a:rPr>
              <a:t>Numbers</a:t>
            </a:r>
            <a:r>
              <a:rPr lang="en-US" sz="2400" dirty="0">
                <a:solidFill>
                  <a:schemeClr val="tx1">
                    <a:lumMod val="75000"/>
                    <a:lumOff val="25000"/>
                  </a:schemeClr>
                </a:solidFill>
              </a:rPr>
              <a:t>: stores a single number</a:t>
            </a:r>
          </a:p>
          <a:p>
            <a:pPr>
              <a:lnSpc>
                <a:spcPct val="114000"/>
              </a:lnSpc>
              <a:spcBef>
                <a:spcPts val="600"/>
              </a:spcBef>
              <a:spcAft>
                <a:spcPts val="600"/>
              </a:spcAft>
              <a:buClr>
                <a:schemeClr val="tx1"/>
              </a:buClr>
              <a:buSzPct val="100000"/>
            </a:pPr>
            <a:endParaRPr lang="en-US" sz="24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b="1" dirty="0">
                <a:solidFill>
                  <a:schemeClr val="tx1">
                    <a:lumMod val="75000"/>
                    <a:lumOff val="25000"/>
                  </a:schemeClr>
                </a:solidFill>
              </a:rPr>
              <a:t>Strings</a:t>
            </a:r>
            <a:r>
              <a:rPr lang="en-US" sz="2400" dirty="0">
                <a:solidFill>
                  <a:schemeClr val="tx1">
                    <a:lumMod val="75000"/>
                    <a:lumOff val="25000"/>
                  </a:schemeClr>
                </a:solidFill>
              </a:rPr>
              <a:t>: stores a sequence of characters as text</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Individual Variables</a:t>
            </a:r>
          </a:p>
        </p:txBody>
      </p:sp>
      <p:pic>
        <p:nvPicPr>
          <p:cNvPr id="7" name="Picture 6">
            <a:extLst>
              <a:ext uri="{FF2B5EF4-FFF2-40B4-BE49-F238E27FC236}">
                <a16:creationId xmlns:a16="http://schemas.microsoft.com/office/drawing/2014/main" id="{9CACFE14-2AB3-4172-9B3B-66BA462A4121}"/>
              </a:ext>
            </a:extLst>
          </p:cNvPr>
          <p:cNvPicPr>
            <a:picLocks noChangeAspect="1"/>
          </p:cNvPicPr>
          <p:nvPr/>
        </p:nvPicPr>
        <p:blipFill>
          <a:blip r:embed="rId3"/>
          <a:stretch>
            <a:fillRect/>
          </a:stretch>
        </p:blipFill>
        <p:spPr>
          <a:xfrm>
            <a:off x="1295400" y="1524000"/>
            <a:ext cx="5638800" cy="447047"/>
          </a:xfrm>
          <a:prstGeom prst="rect">
            <a:avLst/>
          </a:prstGeom>
        </p:spPr>
      </p:pic>
      <p:pic>
        <p:nvPicPr>
          <p:cNvPr id="14" name="Picture 13">
            <a:extLst>
              <a:ext uri="{FF2B5EF4-FFF2-40B4-BE49-F238E27FC236}">
                <a16:creationId xmlns:a16="http://schemas.microsoft.com/office/drawing/2014/main" id="{D9BF29D3-A2B1-4016-9038-B72D9005E2BB}"/>
              </a:ext>
            </a:extLst>
          </p:cNvPr>
          <p:cNvPicPr>
            <a:picLocks noChangeAspect="1"/>
          </p:cNvPicPr>
          <p:nvPr/>
        </p:nvPicPr>
        <p:blipFill>
          <a:blip r:embed="rId4"/>
          <a:stretch>
            <a:fillRect/>
          </a:stretch>
        </p:blipFill>
        <p:spPr>
          <a:xfrm>
            <a:off x="1295400" y="2769851"/>
            <a:ext cx="7278146" cy="393316"/>
          </a:xfrm>
          <a:prstGeom prst="rect">
            <a:avLst/>
          </a:prstGeom>
        </p:spPr>
      </p:pic>
      <p:sp>
        <p:nvSpPr>
          <p:cNvPr id="16" name="TextBox 15">
            <a:extLst>
              <a:ext uri="{FF2B5EF4-FFF2-40B4-BE49-F238E27FC236}">
                <a16:creationId xmlns:a16="http://schemas.microsoft.com/office/drawing/2014/main" id="{AF317BB1-A872-467E-BA02-6007024E4FD6}"/>
              </a:ext>
            </a:extLst>
          </p:cNvPr>
          <p:cNvSpPr txBox="1"/>
          <p:nvPr/>
        </p:nvSpPr>
        <p:spPr>
          <a:xfrm>
            <a:off x="1878007" y="4343400"/>
            <a:ext cx="6112932" cy="1175578"/>
          </a:xfrm>
          <a:prstGeom prst="rect">
            <a:avLst/>
          </a:prstGeom>
          <a:noFill/>
        </p:spPr>
        <p:txBody>
          <a:bodyPr wrap="square">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1800" dirty="0">
                <a:solidFill>
                  <a:schemeClr val="tx1">
                    <a:lumMod val="75000"/>
                    <a:lumOff val="25000"/>
                  </a:schemeClr>
                </a:solidFill>
              </a:rPr>
              <a:t>See Links for more info and tutorials: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1800" dirty="0">
                <a:solidFill>
                  <a:schemeClr val="tx1">
                    <a:lumMod val="75000"/>
                    <a:lumOff val="25000"/>
                  </a:schemeClr>
                </a:solidFill>
              </a:rPr>
              <a:t>Numbers and strings: </a:t>
            </a:r>
            <a:r>
              <a:rPr lang="en-US" sz="1800" dirty="0">
                <a:hlinkClick r:id="rId5"/>
              </a:rPr>
              <a:t>https://www.learnPython.org/en/Variables_and_Types</a:t>
            </a:r>
            <a:endParaRPr lang="en-US" sz="1800" dirty="0"/>
          </a:p>
        </p:txBody>
      </p:sp>
      <p:sp>
        <p:nvSpPr>
          <p:cNvPr id="6" name="Rectangle 5">
            <a:extLst>
              <a:ext uri="{FF2B5EF4-FFF2-40B4-BE49-F238E27FC236}">
                <a16:creationId xmlns:a16="http://schemas.microsoft.com/office/drawing/2014/main" id="{AFEE7729-B279-44FF-B250-657C36FE78AC}"/>
              </a:ext>
            </a:extLst>
          </p:cNvPr>
          <p:cNvSpPr/>
          <p:nvPr/>
        </p:nvSpPr>
        <p:spPr>
          <a:xfrm>
            <a:off x="2209800" y="3505200"/>
            <a:ext cx="28956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Single quotes around a string</a:t>
            </a:r>
          </a:p>
        </p:txBody>
      </p:sp>
      <p:cxnSp>
        <p:nvCxnSpPr>
          <p:cNvPr id="10" name="Straight Arrow Connector 9">
            <a:extLst>
              <a:ext uri="{FF2B5EF4-FFF2-40B4-BE49-F238E27FC236}">
                <a16:creationId xmlns:a16="http://schemas.microsoft.com/office/drawing/2014/main" id="{80C67F4D-572A-4B8E-AF41-88412BE04E56}"/>
              </a:ext>
            </a:extLst>
          </p:cNvPr>
          <p:cNvCxnSpPr>
            <a:cxnSpLocks/>
          </p:cNvCxnSpPr>
          <p:nvPr/>
        </p:nvCxnSpPr>
        <p:spPr>
          <a:xfrm flipV="1">
            <a:off x="2547259" y="3046602"/>
            <a:ext cx="0" cy="44771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1E4171D-5B44-4C1A-A083-12809133F79C}"/>
              </a:ext>
            </a:extLst>
          </p:cNvPr>
          <p:cNvCxnSpPr>
            <a:cxnSpLocks/>
          </p:cNvCxnSpPr>
          <p:nvPr/>
        </p:nvCxnSpPr>
        <p:spPr>
          <a:xfrm flipV="1">
            <a:off x="3751482" y="3045242"/>
            <a:ext cx="0" cy="44771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5">
            <a:extLst>
              <a:ext uri="{FF2B5EF4-FFF2-40B4-BE49-F238E27FC236}">
                <a16:creationId xmlns:a16="http://schemas.microsoft.com/office/drawing/2014/main" id="{2A53CBE2-D0BB-4DEA-1C33-F0EEB46D4E9A}"/>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248950605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14</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Arithmetic operators</a:t>
            </a:r>
          </a:p>
        </p:txBody>
      </p:sp>
      <p:graphicFrame>
        <p:nvGraphicFramePr>
          <p:cNvPr id="4" name="Table 3"/>
          <p:cNvGraphicFramePr>
            <a:graphicFrameLocks noGrp="1"/>
          </p:cNvGraphicFramePr>
          <p:nvPr>
            <p:extLst>
              <p:ext uri="{D42A27DB-BD31-4B8C-83A1-F6EECF244321}">
                <p14:modId xmlns:p14="http://schemas.microsoft.com/office/powerpoint/2010/main" val="1117918682"/>
              </p:ext>
            </p:extLst>
          </p:nvPr>
        </p:nvGraphicFramePr>
        <p:xfrm>
          <a:off x="2171700" y="1692631"/>
          <a:ext cx="7848600" cy="4012587"/>
        </p:xfrm>
        <a:graphic>
          <a:graphicData uri="http://schemas.openxmlformats.org/drawingml/2006/table">
            <a:tbl>
              <a:tblPr/>
              <a:tblGrid>
                <a:gridCol w="1455716">
                  <a:extLst>
                    <a:ext uri="{9D8B030D-6E8A-4147-A177-3AD203B41FA5}">
                      <a16:colId xmlns:a16="http://schemas.microsoft.com/office/drawing/2014/main" val="68557484"/>
                    </a:ext>
                  </a:extLst>
                </a:gridCol>
                <a:gridCol w="3341138">
                  <a:extLst>
                    <a:ext uri="{9D8B030D-6E8A-4147-A177-3AD203B41FA5}">
                      <a16:colId xmlns:a16="http://schemas.microsoft.com/office/drawing/2014/main" val="4239833931"/>
                    </a:ext>
                  </a:extLst>
                </a:gridCol>
                <a:gridCol w="3051746">
                  <a:extLst>
                    <a:ext uri="{9D8B030D-6E8A-4147-A177-3AD203B41FA5}">
                      <a16:colId xmlns:a16="http://schemas.microsoft.com/office/drawing/2014/main" val="337770241"/>
                    </a:ext>
                  </a:extLst>
                </a:gridCol>
              </a:tblGrid>
              <a:tr h="408121">
                <a:tc>
                  <a:txBody>
                    <a:bodyPr/>
                    <a:lstStyle/>
                    <a:p>
                      <a:pPr algn="ctr" fontAlgn="t"/>
                      <a:r>
                        <a:rPr lang="en-US" sz="1600" b="1">
                          <a:effectLst/>
                        </a:rPr>
                        <a:t>Operator</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600" b="1">
                          <a:effectLst/>
                        </a:rPr>
                        <a:t>Description</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600" b="1" dirty="0">
                          <a:effectLst/>
                        </a:rPr>
                        <a:t>Example</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355034343"/>
                  </a:ext>
                </a:extLst>
              </a:tr>
              <a:tr h="717702">
                <a:tc>
                  <a:txBody>
                    <a:bodyPr/>
                    <a:lstStyle/>
                    <a:p>
                      <a:pPr fontAlgn="t"/>
                      <a:r>
                        <a:rPr lang="en-US" sz="1600">
                          <a:effectLst/>
                        </a:rPr>
                        <a:t>+ Addition</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Adds values on either side of the operator.</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a + b = 12</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81497593"/>
                  </a:ext>
                </a:extLst>
              </a:tr>
              <a:tr h="721691">
                <a:tc>
                  <a:txBody>
                    <a:bodyPr/>
                    <a:lstStyle/>
                    <a:p>
                      <a:pPr fontAlgn="t"/>
                      <a:r>
                        <a:rPr lang="en-US" sz="1600">
                          <a:effectLst/>
                        </a:rPr>
                        <a:t>- Subtraction</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Subtracts right hand operand from left hand operand.</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a – b = 8</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67620461"/>
                  </a:ext>
                </a:extLst>
              </a:tr>
              <a:tr h="721691">
                <a:tc>
                  <a:txBody>
                    <a:bodyPr/>
                    <a:lstStyle/>
                    <a:p>
                      <a:pPr fontAlgn="t"/>
                      <a:r>
                        <a:rPr lang="en-US" sz="1600" dirty="0">
                          <a:effectLst/>
                        </a:rPr>
                        <a:t>* Multiplication</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a:effectLst/>
                        </a:rPr>
                        <a:t>Multiplies values on either side of the operator</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a * b = 20</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43260900"/>
                  </a:ext>
                </a:extLst>
              </a:tr>
              <a:tr h="721691">
                <a:tc>
                  <a:txBody>
                    <a:bodyPr/>
                    <a:lstStyle/>
                    <a:p>
                      <a:pPr fontAlgn="t"/>
                      <a:r>
                        <a:rPr lang="en-US" sz="1600" dirty="0">
                          <a:effectLst/>
                        </a:rPr>
                        <a:t>/ Division</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a:effectLst/>
                        </a:rPr>
                        <a:t>Divides left hand operand by right hand operand</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a/ b = 5</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84685874"/>
                  </a:ext>
                </a:extLst>
              </a:tr>
              <a:tr h="721691">
                <a:tc>
                  <a:txBody>
                    <a:bodyPr/>
                    <a:lstStyle/>
                    <a:p>
                      <a:pPr fontAlgn="t"/>
                      <a:r>
                        <a:rPr lang="en-US" sz="1600" dirty="0">
                          <a:effectLst/>
                        </a:rPr>
                        <a:t>** Exponent</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Performs exponential (power) calculation on operators</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effectLst/>
                        </a:rPr>
                        <a:t>a**b =100</a:t>
                      </a:r>
                    </a:p>
                  </a:txBody>
                  <a:tcPr marL="29106" marR="29106" marT="29106" marB="2910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05320531"/>
                  </a:ext>
                </a:extLst>
              </a:tr>
            </a:tbl>
          </a:graphicData>
        </a:graphic>
      </p:graphicFrame>
      <p:sp>
        <p:nvSpPr>
          <p:cNvPr id="9" name="Rectangle 8"/>
          <p:cNvSpPr/>
          <p:nvPr/>
        </p:nvSpPr>
        <p:spPr>
          <a:xfrm>
            <a:off x="1310308" y="947846"/>
            <a:ext cx="9571383" cy="489365"/>
          </a:xfrm>
          <a:prstGeom prst="rect">
            <a:avLst/>
          </a:prstGeom>
          <a:noFill/>
        </p:spPr>
        <p:txBody>
          <a:bodyPr wrap="square" rtlCol="0">
            <a:spAutoFit/>
          </a:bodyPr>
          <a:lstStyle/>
          <a:p>
            <a:pPr>
              <a:lnSpc>
                <a:spcPct val="114000"/>
              </a:lnSpc>
              <a:spcBef>
                <a:spcPts val="600"/>
              </a:spcBef>
              <a:spcAft>
                <a:spcPts val="600"/>
              </a:spcAft>
              <a:buClr>
                <a:schemeClr val="tx1"/>
              </a:buClr>
              <a:buSzPct val="100000"/>
            </a:pPr>
            <a:r>
              <a:rPr lang="en-US" sz="2400" dirty="0">
                <a:solidFill>
                  <a:schemeClr val="tx1">
                    <a:lumMod val="75000"/>
                    <a:lumOff val="25000"/>
                  </a:schemeClr>
                </a:solidFill>
              </a:rPr>
              <a:t>Assume variable </a:t>
            </a:r>
            <a:r>
              <a:rPr lang="en-US" sz="2400" b="1" dirty="0">
                <a:solidFill>
                  <a:schemeClr val="tx1">
                    <a:lumMod val="75000"/>
                    <a:lumOff val="25000"/>
                  </a:schemeClr>
                </a:solidFill>
              </a:rPr>
              <a:t>a</a:t>
            </a:r>
            <a:r>
              <a:rPr lang="en-US" sz="2400" dirty="0">
                <a:solidFill>
                  <a:schemeClr val="tx1">
                    <a:lumMod val="75000"/>
                    <a:lumOff val="25000"/>
                  </a:schemeClr>
                </a:solidFill>
              </a:rPr>
              <a:t> holds the value 10 and variable </a:t>
            </a:r>
            <a:r>
              <a:rPr lang="en-US" sz="2400" b="1" dirty="0">
                <a:solidFill>
                  <a:schemeClr val="tx1">
                    <a:lumMod val="75000"/>
                    <a:lumOff val="25000"/>
                  </a:schemeClr>
                </a:solidFill>
              </a:rPr>
              <a:t>b</a:t>
            </a:r>
            <a:r>
              <a:rPr lang="en-US" sz="2400" dirty="0">
                <a:solidFill>
                  <a:schemeClr val="tx1">
                    <a:lumMod val="75000"/>
                    <a:lumOff val="25000"/>
                  </a:schemeClr>
                </a:solidFill>
              </a:rPr>
              <a:t> holds the value 2, then:</a:t>
            </a:r>
          </a:p>
        </p:txBody>
      </p:sp>
      <p:sp>
        <p:nvSpPr>
          <p:cNvPr id="2" name="Footer Placeholder 5">
            <a:extLst>
              <a:ext uri="{FF2B5EF4-FFF2-40B4-BE49-F238E27FC236}">
                <a16:creationId xmlns:a16="http://schemas.microsoft.com/office/drawing/2014/main" id="{725F6066-7451-27F8-EFD5-B5D0B0BC6D2B}"/>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225032493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15</a:t>
            </a:fld>
            <a:endParaRPr lang="en-US"/>
          </a:p>
        </p:txBody>
      </p:sp>
      <p:sp>
        <p:nvSpPr>
          <p:cNvPr id="4" name="Rectangle 3"/>
          <p:cNvSpPr/>
          <p:nvPr/>
        </p:nvSpPr>
        <p:spPr>
          <a:xfrm>
            <a:off x="914400" y="1200497"/>
            <a:ext cx="8345394" cy="290220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b="1" dirty="0">
                <a:solidFill>
                  <a:schemeClr val="tx1">
                    <a:lumMod val="75000"/>
                    <a:lumOff val="25000"/>
                  </a:schemeClr>
                </a:solidFill>
              </a:rPr>
              <a:t>List</a:t>
            </a:r>
            <a:r>
              <a:rPr lang="en-US" sz="2400" dirty="0">
                <a:solidFill>
                  <a:schemeClr val="tx1">
                    <a:lumMod val="75000"/>
                    <a:lumOff val="25000"/>
                  </a:schemeClr>
                </a:solidFill>
              </a:rPr>
              <a:t>: Multiple numbers or strings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b="1" dirty="0">
                <a:solidFill>
                  <a:schemeClr val="tx1">
                    <a:lumMod val="75000"/>
                    <a:lumOff val="25000"/>
                  </a:schemeClr>
                </a:solidFill>
              </a:rPr>
              <a:t>Arrays</a:t>
            </a:r>
            <a:r>
              <a:rPr lang="en-US" sz="2400" dirty="0">
                <a:solidFill>
                  <a:schemeClr val="tx1">
                    <a:lumMod val="75000"/>
                    <a:lumOff val="25000"/>
                  </a:schemeClr>
                </a:solidFill>
              </a:rPr>
              <a:t>: Multiple numbers, commonly used for mathematical operations (NumPy package)</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b="1" dirty="0" err="1">
                <a:solidFill>
                  <a:schemeClr val="tx1">
                    <a:lumMod val="75000"/>
                    <a:lumOff val="25000"/>
                  </a:schemeClr>
                </a:solidFill>
              </a:rPr>
              <a:t>Dataframes</a:t>
            </a:r>
            <a:r>
              <a:rPr lang="en-US" sz="2400" dirty="0">
                <a:solidFill>
                  <a:schemeClr val="tx1">
                    <a:lumMod val="75000"/>
                    <a:lumOff val="25000"/>
                  </a:schemeClr>
                </a:solidFill>
              </a:rPr>
              <a:t>: Similar to an array, with more functionality (Pandas package. Note: will explore </a:t>
            </a:r>
            <a:r>
              <a:rPr lang="en-US" sz="2400" dirty="0" err="1">
                <a:solidFill>
                  <a:schemeClr val="tx1">
                    <a:lumMod val="75000"/>
                    <a:lumOff val="25000"/>
                  </a:schemeClr>
                </a:solidFill>
              </a:rPr>
              <a:t>dataframes</a:t>
            </a:r>
            <a:r>
              <a:rPr lang="en-US" sz="2400" dirty="0">
                <a:solidFill>
                  <a:schemeClr val="tx1">
                    <a:lumMod val="75000"/>
                    <a:lumOff val="25000"/>
                  </a:schemeClr>
                </a:solidFill>
              </a:rPr>
              <a:t> more in depth during Lab 3)  </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Variable Types: Lists, Arrays, </a:t>
            </a:r>
            <a:r>
              <a:rPr lang="en-US" dirty="0" err="1"/>
              <a:t>Dataframes</a:t>
            </a:r>
            <a:r>
              <a:rPr lang="en-US" dirty="0"/>
              <a:t>:</a:t>
            </a:r>
          </a:p>
        </p:txBody>
      </p:sp>
      <p:sp>
        <p:nvSpPr>
          <p:cNvPr id="9" name="Rectangle 8">
            <a:extLst>
              <a:ext uri="{FF2B5EF4-FFF2-40B4-BE49-F238E27FC236}">
                <a16:creationId xmlns:a16="http://schemas.microsoft.com/office/drawing/2014/main" id="{5405C1CC-CA04-42A4-B5EE-F30ADF140D20}"/>
              </a:ext>
            </a:extLst>
          </p:cNvPr>
          <p:cNvSpPr/>
          <p:nvPr/>
        </p:nvSpPr>
        <p:spPr>
          <a:xfrm>
            <a:off x="914400" y="4617400"/>
            <a:ext cx="8345394" cy="1122871"/>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1400" dirty="0">
                <a:solidFill>
                  <a:schemeClr val="tx1">
                    <a:lumMod val="75000"/>
                    <a:lumOff val="25000"/>
                  </a:schemeClr>
                </a:solidFill>
              </a:rPr>
              <a:t>Lists: </a:t>
            </a:r>
            <a:r>
              <a:rPr lang="en-US" sz="1400" dirty="0">
                <a:hlinkClick r:id="rId3"/>
              </a:rPr>
              <a:t>https://www.datacamp.com/community/tutorials/lists-Python</a:t>
            </a:r>
            <a:endParaRPr lang="en-US" sz="1400" dirty="0"/>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1400" dirty="0"/>
              <a:t>Arrays: </a:t>
            </a:r>
            <a:r>
              <a:rPr lang="en-US" sz="1400" dirty="0">
                <a:hlinkClick r:id="rId4"/>
              </a:rPr>
              <a:t>https://www.datacamp.com/community/tutorials/Python-NumPy-tutorial</a:t>
            </a:r>
            <a:endParaRPr lang="en-US" sz="1400" dirty="0"/>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1400" dirty="0" err="1"/>
              <a:t>Dataframes</a:t>
            </a:r>
            <a:r>
              <a:rPr lang="en-US" sz="1400" dirty="0"/>
              <a:t>: </a:t>
            </a:r>
            <a:r>
              <a:rPr lang="en-US" sz="1400" dirty="0">
                <a:hlinkClick r:id="rId5"/>
              </a:rPr>
              <a:t>https://www.datacamp.com/community/tutorials/Pandas-tutorial-dataframe-Python</a:t>
            </a:r>
            <a:endParaRPr lang="en-US" sz="1400" dirty="0">
              <a:solidFill>
                <a:schemeClr val="tx1">
                  <a:lumMod val="75000"/>
                  <a:lumOff val="25000"/>
                </a:schemeClr>
              </a:solidFill>
            </a:endParaRPr>
          </a:p>
        </p:txBody>
      </p:sp>
      <p:sp>
        <p:nvSpPr>
          <p:cNvPr id="2" name="Footer Placeholder 5">
            <a:extLst>
              <a:ext uri="{FF2B5EF4-FFF2-40B4-BE49-F238E27FC236}">
                <a16:creationId xmlns:a16="http://schemas.microsoft.com/office/drawing/2014/main" id="{4C3B2394-4E08-D4BA-91C9-DA7B612EA185}"/>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227839646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16</a:t>
            </a:fld>
            <a:endParaRPr lang="en-US"/>
          </a:p>
        </p:txBody>
      </p:sp>
      <p:sp>
        <p:nvSpPr>
          <p:cNvPr id="4" name="Rectangle 3"/>
          <p:cNvSpPr/>
          <p:nvPr/>
        </p:nvSpPr>
        <p:spPr>
          <a:xfrm>
            <a:off x="838200" y="1298578"/>
            <a:ext cx="8345394" cy="3938771"/>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Numbers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Strings</a:t>
            </a:r>
          </a:p>
          <a:p>
            <a:pPr>
              <a:lnSpc>
                <a:spcPct val="114000"/>
              </a:lnSpc>
              <a:spcBef>
                <a:spcPts val="600"/>
              </a:spcBef>
              <a:spcAft>
                <a:spcPts val="600"/>
              </a:spcAft>
              <a:buClr>
                <a:schemeClr val="tx1"/>
              </a:buClr>
              <a:buSzPct val="100000"/>
            </a:pPr>
            <a:endParaRPr lang="en-US" sz="2400" dirty="0">
              <a:solidFill>
                <a:schemeClr val="tx1">
                  <a:lumMod val="75000"/>
                  <a:lumOff val="25000"/>
                </a:schemeClr>
              </a:solidFill>
            </a:endParaRPr>
          </a:p>
          <a:p>
            <a:pPr>
              <a:lnSpc>
                <a:spcPct val="114000"/>
              </a:lnSpc>
              <a:spcBef>
                <a:spcPts val="600"/>
              </a:spcBef>
              <a:spcAft>
                <a:spcPts val="600"/>
              </a:spcAft>
              <a:buClr>
                <a:schemeClr val="tx1"/>
              </a:buClr>
              <a:buSzPct val="100000"/>
            </a:pPr>
            <a:endParaRPr lang="en-US" sz="24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List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Array</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err="1">
                <a:solidFill>
                  <a:schemeClr val="tx1">
                    <a:lumMod val="75000"/>
                    <a:lumOff val="25000"/>
                  </a:schemeClr>
                </a:solidFill>
              </a:rPr>
              <a:t>Dataframe</a:t>
            </a:r>
            <a:r>
              <a:rPr lang="en-US" sz="2400" dirty="0">
                <a:solidFill>
                  <a:schemeClr val="tx1">
                    <a:lumMod val="75000"/>
                    <a:lumOff val="25000"/>
                  </a:schemeClr>
                </a:solidFill>
              </a:rPr>
              <a:t>  </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Standard Variable Types Summary</a:t>
            </a:r>
          </a:p>
        </p:txBody>
      </p:sp>
      <p:sp>
        <p:nvSpPr>
          <p:cNvPr id="6" name="Rectangle 5">
            <a:extLst>
              <a:ext uri="{FF2B5EF4-FFF2-40B4-BE49-F238E27FC236}">
                <a16:creationId xmlns:a16="http://schemas.microsoft.com/office/drawing/2014/main" id="{141511C8-8C24-49AE-9305-62E8618E4F03}"/>
              </a:ext>
            </a:extLst>
          </p:cNvPr>
          <p:cNvSpPr/>
          <p:nvPr/>
        </p:nvSpPr>
        <p:spPr>
          <a:xfrm>
            <a:off x="3767691" y="1504271"/>
            <a:ext cx="2082800" cy="6928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Individual Elements</a:t>
            </a:r>
          </a:p>
          <a:p>
            <a:pPr algn="ctr"/>
            <a:r>
              <a:rPr lang="en-US" dirty="0"/>
              <a:t>(Individual eggs)</a:t>
            </a:r>
          </a:p>
        </p:txBody>
      </p:sp>
      <p:cxnSp>
        <p:nvCxnSpPr>
          <p:cNvPr id="8" name="Straight Arrow Connector 7">
            <a:extLst>
              <a:ext uri="{FF2B5EF4-FFF2-40B4-BE49-F238E27FC236}">
                <a16:creationId xmlns:a16="http://schemas.microsoft.com/office/drawing/2014/main" id="{C233532B-7E6B-4835-B313-969C0FA75655}"/>
              </a:ext>
            </a:extLst>
          </p:cNvPr>
          <p:cNvCxnSpPr>
            <a:cxnSpLocks/>
          </p:cNvCxnSpPr>
          <p:nvPr/>
        </p:nvCxnSpPr>
        <p:spPr>
          <a:xfrm flipH="1" flipV="1">
            <a:off x="2826397" y="1627931"/>
            <a:ext cx="914400" cy="2098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B5BC359-D0D0-4BFD-8C6B-BC14007E960F}"/>
              </a:ext>
            </a:extLst>
          </p:cNvPr>
          <p:cNvCxnSpPr>
            <a:cxnSpLocks/>
          </p:cNvCxnSpPr>
          <p:nvPr/>
        </p:nvCxnSpPr>
        <p:spPr>
          <a:xfrm flipH="1">
            <a:off x="2624691" y="2113080"/>
            <a:ext cx="1111624" cy="11744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A9B33FF-E090-458E-B357-CCFABB682F2A}"/>
              </a:ext>
            </a:extLst>
          </p:cNvPr>
          <p:cNvSpPr/>
          <p:nvPr/>
        </p:nvSpPr>
        <p:spPr>
          <a:xfrm>
            <a:off x="3772045" y="4069157"/>
            <a:ext cx="2082800" cy="5583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Groups of Elements</a:t>
            </a:r>
          </a:p>
          <a:p>
            <a:pPr algn="ctr"/>
            <a:r>
              <a:rPr lang="en-US" dirty="0"/>
              <a:t>(Egg cartons)</a:t>
            </a:r>
          </a:p>
        </p:txBody>
      </p:sp>
      <p:cxnSp>
        <p:nvCxnSpPr>
          <p:cNvPr id="15" name="Straight Arrow Connector 14">
            <a:extLst>
              <a:ext uri="{FF2B5EF4-FFF2-40B4-BE49-F238E27FC236}">
                <a16:creationId xmlns:a16="http://schemas.microsoft.com/office/drawing/2014/main" id="{1026FE2C-2413-4EDE-B6A4-A66755432121}"/>
              </a:ext>
            </a:extLst>
          </p:cNvPr>
          <p:cNvCxnSpPr>
            <a:cxnSpLocks/>
          </p:cNvCxnSpPr>
          <p:nvPr/>
        </p:nvCxnSpPr>
        <p:spPr>
          <a:xfrm flipH="1" flipV="1">
            <a:off x="2274939" y="3816045"/>
            <a:ext cx="1465730" cy="35881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6196078-CE62-4776-8F52-A4BEF42B153B}"/>
              </a:ext>
            </a:extLst>
          </p:cNvPr>
          <p:cNvCxnSpPr>
            <a:cxnSpLocks/>
            <a:stCxn id="14" idx="1"/>
          </p:cNvCxnSpPr>
          <p:nvPr/>
        </p:nvCxnSpPr>
        <p:spPr>
          <a:xfrm flipH="1">
            <a:off x="2333209" y="4348318"/>
            <a:ext cx="1438836" cy="6157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B0FB52A-6650-49E7-BA93-A928836CB300}"/>
              </a:ext>
            </a:extLst>
          </p:cNvPr>
          <p:cNvCxnSpPr>
            <a:cxnSpLocks/>
          </p:cNvCxnSpPr>
          <p:nvPr/>
        </p:nvCxnSpPr>
        <p:spPr>
          <a:xfrm flipH="1">
            <a:off x="2971945" y="4627479"/>
            <a:ext cx="800100" cy="3496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5E99AF16-6ACD-A64F-9679-642E04B68FDD}"/>
              </a:ext>
            </a:extLst>
          </p:cNvPr>
          <p:cNvPicPr>
            <a:picLocks noChangeAspect="1"/>
          </p:cNvPicPr>
          <p:nvPr/>
        </p:nvPicPr>
        <p:blipFill>
          <a:blip r:embed="rId3"/>
          <a:stretch>
            <a:fillRect/>
          </a:stretch>
        </p:blipFill>
        <p:spPr>
          <a:xfrm>
            <a:off x="6858000" y="3596511"/>
            <a:ext cx="3556484" cy="2425913"/>
          </a:xfrm>
          <a:prstGeom prst="rect">
            <a:avLst/>
          </a:prstGeom>
        </p:spPr>
      </p:pic>
      <p:pic>
        <p:nvPicPr>
          <p:cNvPr id="1026" name="Picture 2" descr="New approach for table egg pasteurization in development | WATTAgNet">
            <a:extLst>
              <a:ext uri="{FF2B5EF4-FFF2-40B4-BE49-F238E27FC236}">
                <a16:creationId xmlns:a16="http://schemas.microsoft.com/office/drawing/2014/main" id="{870DB8F6-9442-BD47-B918-D4234AFFA4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2910" y="931207"/>
            <a:ext cx="2354263" cy="258986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5">
            <a:extLst>
              <a:ext uri="{FF2B5EF4-FFF2-40B4-BE49-F238E27FC236}">
                <a16:creationId xmlns:a16="http://schemas.microsoft.com/office/drawing/2014/main" id="{6F102FD0-3E7D-1CA3-0C39-3CB3C4853AAD}"/>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36270811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17</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Creating a List</a:t>
            </a:r>
          </a:p>
        </p:txBody>
      </p:sp>
      <p:pic>
        <p:nvPicPr>
          <p:cNvPr id="9" name="Picture 8">
            <a:extLst>
              <a:ext uri="{FF2B5EF4-FFF2-40B4-BE49-F238E27FC236}">
                <a16:creationId xmlns:a16="http://schemas.microsoft.com/office/drawing/2014/main" id="{A106BC14-050D-4067-BDF6-2DC853948685}"/>
              </a:ext>
            </a:extLst>
          </p:cNvPr>
          <p:cNvPicPr>
            <a:picLocks noChangeAspect="1"/>
          </p:cNvPicPr>
          <p:nvPr/>
        </p:nvPicPr>
        <p:blipFill>
          <a:blip r:embed="rId3"/>
          <a:stretch>
            <a:fillRect/>
          </a:stretch>
        </p:blipFill>
        <p:spPr>
          <a:xfrm>
            <a:off x="3586165" y="2590800"/>
            <a:ext cx="4567237" cy="1547543"/>
          </a:xfrm>
          <a:prstGeom prst="rect">
            <a:avLst/>
          </a:prstGeom>
        </p:spPr>
      </p:pic>
      <p:sp>
        <p:nvSpPr>
          <p:cNvPr id="16" name="TextBox 15">
            <a:extLst>
              <a:ext uri="{FF2B5EF4-FFF2-40B4-BE49-F238E27FC236}">
                <a16:creationId xmlns:a16="http://schemas.microsoft.com/office/drawing/2014/main" id="{937D8F97-120C-44D6-9852-AB0055C9DE5D}"/>
              </a:ext>
            </a:extLst>
          </p:cNvPr>
          <p:cNvSpPr txBox="1"/>
          <p:nvPr/>
        </p:nvSpPr>
        <p:spPr>
          <a:xfrm>
            <a:off x="1295400" y="2895600"/>
            <a:ext cx="2380840" cy="369332"/>
          </a:xfrm>
          <a:prstGeom prst="rect">
            <a:avLst/>
          </a:prstGeom>
          <a:noFill/>
        </p:spPr>
        <p:txBody>
          <a:bodyPr wrap="square" rtlCol="0">
            <a:spAutoFit/>
          </a:bodyPr>
          <a:lstStyle/>
          <a:p>
            <a:r>
              <a:rPr lang="en-US" dirty="0"/>
              <a:t>Name of the variable</a:t>
            </a:r>
          </a:p>
        </p:txBody>
      </p:sp>
      <p:cxnSp>
        <p:nvCxnSpPr>
          <p:cNvPr id="18" name="Straight Arrow Connector 17">
            <a:extLst>
              <a:ext uri="{FF2B5EF4-FFF2-40B4-BE49-F238E27FC236}">
                <a16:creationId xmlns:a16="http://schemas.microsoft.com/office/drawing/2014/main" id="{C6ED97E7-2941-4A31-A0BA-7FEA368AAB33}"/>
              </a:ext>
            </a:extLst>
          </p:cNvPr>
          <p:cNvCxnSpPr>
            <a:cxnSpLocks/>
          </p:cNvCxnSpPr>
          <p:nvPr/>
        </p:nvCxnSpPr>
        <p:spPr>
          <a:xfrm flipV="1">
            <a:off x="3450988" y="3080266"/>
            <a:ext cx="587612" cy="413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AF06312-305E-41C3-A26E-41C1A866B771}"/>
              </a:ext>
            </a:extLst>
          </p:cNvPr>
          <p:cNvSpPr txBox="1"/>
          <p:nvPr/>
        </p:nvSpPr>
        <p:spPr>
          <a:xfrm>
            <a:off x="5257800" y="1992868"/>
            <a:ext cx="4114800" cy="369332"/>
          </a:xfrm>
          <a:prstGeom prst="rect">
            <a:avLst/>
          </a:prstGeom>
          <a:noFill/>
        </p:spPr>
        <p:txBody>
          <a:bodyPr wrap="square" rtlCol="0">
            <a:spAutoFit/>
          </a:bodyPr>
          <a:lstStyle/>
          <a:p>
            <a:r>
              <a:rPr lang="en-US" dirty="0"/>
              <a:t>Square Brackets on either end</a:t>
            </a:r>
          </a:p>
        </p:txBody>
      </p:sp>
      <p:cxnSp>
        <p:nvCxnSpPr>
          <p:cNvPr id="21" name="Straight Arrow Connector 20">
            <a:extLst>
              <a:ext uri="{FF2B5EF4-FFF2-40B4-BE49-F238E27FC236}">
                <a16:creationId xmlns:a16="http://schemas.microsoft.com/office/drawing/2014/main" id="{DE9BCD34-1502-41FF-BA30-FAB8383B2A4A}"/>
              </a:ext>
            </a:extLst>
          </p:cNvPr>
          <p:cNvCxnSpPr>
            <a:cxnSpLocks/>
          </p:cNvCxnSpPr>
          <p:nvPr/>
        </p:nvCxnSpPr>
        <p:spPr>
          <a:xfrm flipH="1">
            <a:off x="5170606" y="2302133"/>
            <a:ext cx="296333" cy="6696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7053847-5B39-41D0-AC9D-9ECBC5F416C3}"/>
              </a:ext>
            </a:extLst>
          </p:cNvPr>
          <p:cNvSpPr txBox="1"/>
          <p:nvPr/>
        </p:nvSpPr>
        <p:spPr>
          <a:xfrm>
            <a:off x="7620000" y="3773776"/>
            <a:ext cx="4114800" cy="646331"/>
          </a:xfrm>
          <a:prstGeom prst="rect">
            <a:avLst/>
          </a:prstGeom>
          <a:noFill/>
        </p:spPr>
        <p:txBody>
          <a:bodyPr wrap="square" rtlCol="0">
            <a:spAutoFit/>
          </a:bodyPr>
          <a:lstStyle/>
          <a:p>
            <a:r>
              <a:rPr lang="en-US" dirty="0"/>
              <a:t>Each element of the list separated by a comma</a:t>
            </a:r>
          </a:p>
        </p:txBody>
      </p:sp>
      <p:cxnSp>
        <p:nvCxnSpPr>
          <p:cNvPr id="27" name="Straight Arrow Connector 26">
            <a:extLst>
              <a:ext uri="{FF2B5EF4-FFF2-40B4-BE49-F238E27FC236}">
                <a16:creationId xmlns:a16="http://schemas.microsoft.com/office/drawing/2014/main" id="{C8D2C3E2-806F-4133-AE33-7AAEF4933D07}"/>
              </a:ext>
            </a:extLst>
          </p:cNvPr>
          <p:cNvCxnSpPr>
            <a:cxnSpLocks/>
          </p:cNvCxnSpPr>
          <p:nvPr/>
        </p:nvCxnSpPr>
        <p:spPr>
          <a:xfrm>
            <a:off x="7924800" y="2302133"/>
            <a:ext cx="0" cy="6696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137017E8-21BE-4041-B6B3-9857E63B0D1F}"/>
              </a:ext>
            </a:extLst>
          </p:cNvPr>
          <p:cNvSpPr/>
          <p:nvPr/>
        </p:nvSpPr>
        <p:spPr>
          <a:xfrm>
            <a:off x="5181600" y="2971800"/>
            <a:ext cx="2666999" cy="228600"/>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3C5F6421-FEAF-4519-9904-D4105D0EBD99}"/>
              </a:ext>
            </a:extLst>
          </p:cNvPr>
          <p:cNvCxnSpPr>
            <a:cxnSpLocks/>
          </p:cNvCxnSpPr>
          <p:nvPr/>
        </p:nvCxnSpPr>
        <p:spPr>
          <a:xfrm flipH="1" flipV="1">
            <a:off x="7315200" y="3200400"/>
            <a:ext cx="381000" cy="5334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2C97CDA-1C4F-427A-85DD-D08DFF479BB5}"/>
              </a:ext>
            </a:extLst>
          </p:cNvPr>
          <p:cNvSpPr txBox="1"/>
          <p:nvPr/>
        </p:nvSpPr>
        <p:spPr>
          <a:xfrm>
            <a:off x="1143000" y="4876800"/>
            <a:ext cx="5486400" cy="369332"/>
          </a:xfrm>
          <a:prstGeom prst="rect">
            <a:avLst/>
          </a:prstGeom>
          <a:noFill/>
        </p:spPr>
        <p:txBody>
          <a:bodyPr wrap="square" rtlCol="0">
            <a:spAutoFit/>
          </a:bodyPr>
          <a:lstStyle/>
          <a:p>
            <a:r>
              <a:rPr lang="en-US" dirty="0"/>
              <a:t>Note: lists cannot be used in mathematical operations </a:t>
            </a:r>
          </a:p>
        </p:txBody>
      </p:sp>
      <p:sp>
        <p:nvSpPr>
          <p:cNvPr id="2" name="Footer Placeholder 5">
            <a:extLst>
              <a:ext uri="{FF2B5EF4-FFF2-40B4-BE49-F238E27FC236}">
                <a16:creationId xmlns:a16="http://schemas.microsoft.com/office/drawing/2014/main" id="{FFD104BD-0333-9AA7-8AA5-0B2777D335B5}"/>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212369327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18</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Creating a 1D Array (requires NumPy package)</a:t>
            </a:r>
          </a:p>
        </p:txBody>
      </p:sp>
      <p:pic>
        <p:nvPicPr>
          <p:cNvPr id="6" name="Picture 5">
            <a:extLst>
              <a:ext uri="{FF2B5EF4-FFF2-40B4-BE49-F238E27FC236}">
                <a16:creationId xmlns:a16="http://schemas.microsoft.com/office/drawing/2014/main" id="{7C3A93D8-997C-470B-8360-6E2B54AAB0A2}"/>
              </a:ext>
            </a:extLst>
          </p:cNvPr>
          <p:cNvPicPr>
            <a:picLocks noChangeAspect="1"/>
          </p:cNvPicPr>
          <p:nvPr/>
        </p:nvPicPr>
        <p:blipFill>
          <a:blip r:embed="rId3"/>
          <a:stretch>
            <a:fillRect/>
          </a:stretch>
        </p:blipFill>
        <p:spPr>
          <a:xfrm>
            <a:off x="3657600" y="1828800"/>
            <a:ext cx="4578415" cy="1524356"/>
          </a:xfrm>
          <a:prstGeom prst="rect">
            <a:avLst/>
          </a:prstGeom>
        </p:spPr>
      </p:pic>
      <p:grpSp>
        <p:nvGrpSpPr>
          <p:cNvPr id="7" name="Group 6">
            <a:extLst>
              <a:ext uri="{FF2B5EF4-FFF2-40B4-BE49-F238E27FC236}">
                <a16:creationId xmlns:a16="http://schemas.microsoft.com/office/drawing/2014/main" id="{0EF48167-3952-4F36-B585-D646458888C1}"/>
              </a:ext>
            </a:extLst>
          </p:cNvPr>
          <p:cNvGrpSpPr/>
          <p:nvPr/>
        </p:nvGrpSpPr>
        <p:grpSpPr>
          <a:xfrm>
            <a:off x="2514600" y="4038600"/>
            <a:ext cx="6750627" cy="1800270"/>
            <a:chOff x="2088573" y="3523328"/>
            <a:chExt cx="6750627" cy="1800270"/>
          </a:xfrm>
        </p:grpSpPr>
        <p:sp>
          <p:nvSpPr>
            <p:cNvPr id="8" name="Rectangle 7">
              <a:extLst>
                <a:ext uri="{FF2B5EF4-FFF2-40B4-BE49-F238E27FC236}">
                  <a16:creationId xmlns:a16="http://schemas.microsoft.com/office/drawing/2014/main" id="{A3EE8873-6A81-4D33-9892-83769E408012}"/>
                </a:ext>
              </a:extLst>
            </p:cNvPr>
            <p:cNvSpPr/>
            <p:nvPr/>
          </p:nvSpPr>
          <p:spPr>
            <a:xfrm>
              <a:off x="2926773" y="3523328"/>
              <a:ext cx="5576455" cy="500458"/>
            </a:xfrm>
            <a:prstGeom prst="rect">
              <a:avLst/>
            </a:prstGeom>
            <a:noFill/>
          </p:spPr>
          <p:txBody>
            <a:bodyPr wrap="square" rtlCol="0">
              <a:spAutoFit/>
            </a:bodyPr>
            <a:lstStyle/>
            <a:p>
              <a:pPr>
                <a:lnSpc>
                  <a:spcPct val="114000"/>
                </a:lnSpc>
                <a:spcBef>
                  <a:spcPts val="600"/>
                </a:spcBef>
                <a:spcAft>
                  <a:spcPts val="600"/>
                </a:spcAft>
                <a:buClr>
                  <a:schemeClr val="tx1"/>
                </a:buClr>
                <a:buSzPct val="100000"/>
              </a:pPr>
              <a:r>
                <a:rPr lang="en-US" sz="2400" dirty="0">
                  <a:solidFill>
                    <a:schemeClr val="tx1">
                      <a:lumMod val="75000"/>
                      <a:lumOff val="25000"/>
                    </a:schemeClr>
                  </a:solidFill>
                  <a:latin typeface="Courier New" panose="02070309020205020404" pitchFamily="49" charset="0"/>
                  <a:cs typeface="Courier New" panose="02070309020205020404" pitchFamily="49" charset="0"/>
                </a:rPr>
                <a:t>my_array = np.array([5,7,4])</a:t>
              </a:r>
            </a:p>
          </p:txBody>
        </p:sp>
        <p:sp>
          <p:nvSpPr>
            <p:cNvPr id="9" name="TextBox 8">
              <a:extLst>
                <a:ext uri="{FF2B5EF4-FFF2-40B4-BE49-F238E27FC236}">
                  <a16:creationId xmlns:a16="http://schemas.microsoft.com/office/drawing/2014/main" id="{9A62844E-2972-420F-B3A0-DED44C236E6B}"/>
                </a:ext>
              </a:extLst>
            </p:cNvPr>
            <p:cNvSpPr txBox="1"/>
            <p:nvPr/>
          </p:nvSpPr>
          <p:spPr>
            <a:xfrm>
              <a:off x="2088573" y="4575884"/>
              <a:ext cx="1447800" cy="430887"/>
            </a:xfrm>
            <a:prstGeom prst="rect">
              <a:avLst/>
            </a:prstGeom>
            <a:noFill/>
          </p:spPr>
          <p:txBody>
            <a:bodyPr wrap="square" rtlCol="0">
              <a:spAutoFit/>
            </a:bodyPr>
            <a:lstStyle/>
            <a:p>
              <a:pPr algn="ctr"/>
              <a:r>
                <a:rPr lang="en-US" sz="2200" dirty="0"/>
                <a:t>Output </a:t>
              </a:r>
            </a:p>
          </p:txBody>
        </p:sp>
        <p:sp>
          <p:nvSpPr>
            <p:cNvPr id="10" name="TextBox 9">
              <a:extLst>
                <a:ext uri="{FF2B5EF4-FFF2-40B4-BE49-F238E27FC236}">
                  <a16:creationId xmlns:a16="http://schemas.microsoft.com/office/drawing/2014/main" id="{D9158F8F-6A19-4DB1-AF8A-B4E62F865B6E}"/>
                </a:ext>
              </a:extLst>
            </p:cNvPr>
            <p:cNvSpPr txBox="1"/>
            <p:nvPr/>
          </p:nvSpPr>
          <p:spPr>
            <a:xfrm>
              <a:off x="4624941" y="4554157"/>
              <a:ext cx="1447800" cy="769441"/>
            </a:xfrm>
            <a:prstGeom prst="rect">
              <a:avLst/>
            </a:prstGeom>
            <a:noFill/>
          </p:spPr>
          <p:txBody>
            <a:bodyPr wrap="square" rtlCol="0">
              <a:spAutoFit/>
            </a:bodyPr>
            <a:lstStyle/>
            <a:p>
              <a:pPr algn="ctr"/>
              <a:r>
                <a:rPr lang="en-US" sz="2200" dirty="0"/>
                <a:t>Package reference </a:t>
              </a:r>
            </a:p>
          </p:txBody>
        </p:sp>
        <p:sp>
          <p:nvSpPr>
            <p:cNvPr id="11" name="TextBox 10">
              <a:extLst>
                <a:ext uri="{FF2B5EF4-FFF2-40B4-BE49-F238E27FC236}">
                  <a16:creationId xmlns:a16="http://schemas.microsoft.com/office/drawing/2014/main" id="{201F7999-B86A-462A-9569-7652BD7F4FD7}"/>
                </a:ext>
              </a:extLst>
            </p:cNvPr>
            <p:cNvSpPr txBox="1"/>
            <p:nvPr/>
          </p:nvSpPr>
          <p:spPr>
            <a:xfrm>
              <a:off x="5836227" y="4575884"/>
              <a:ext cx="1447800" cy="430887"/>
            </a:xfrm>
            <a:prstGeom prst="rect">
              <a:avLst/>
            </a:prstGeom>
            <a:noFill/>
          </p:spPr>
          <p:txBody>
            <a:bodyPr wrap="square" rtlCol="0">
              <a:spAutoFit/>
            </a:bodyPr>
            <a:lstStyle/>
            <a:p>
              <a:pPr algn="ctr"/>
              <a:r>
                <a:rPr lang="en-US" sz="2200" dirty="0"/>
                <a:t>Function</a:t>
              </a:r>
            </a:p>
          </p:txBody>
        </p:sp>
        <p:sp>
          <p:nvSpPr>
            <p:cNvPr id="12" name="TextBox 11">
              <a:extLst>
                <a:ext uri="{FF2B5EF4-FFF2-40B4-BE49-F238E27FC236}">
                  <a16:creationId xmlns:a16="http://schemas.microsoft.com/office/drawing/2014/main" id="{21833D64-96D4-431B-B3DB-2B5982148C22}"/>
                </a:ext>
              </a:extLst>
            </p:cNvPr>
            <p:cNvSpPr txBox="1"/>
            <p:nvPr/>
          </p:nvSpPr>
          <p:spPr>
            <a:xfrm>
              <a:off x="7391400" y="4579556"/>
              <a:ext cx="1447800" cy="430887"/>
            </a:xfrm>
            <a:prstGeom prst="rect">
              <a:avLst/>
            </a:prstGeom>
            <a:noFill/>
          </p:spPr>
          <p:txBody>
            <a:bodyPr wrap="square" rtlCol="0">
              <a:spAutoFit/>
            </a:bodyPr>
            <a:lstStyle/>
            <a:p>
              <a:pPr algn="ctr"/>
              <a:r>
                <a:rPr lang="en-US" sz="2200" dirty="0"/>
                <a:t>Input</a:t>
              </a:r>
            </a:p>
          </p:txBody>
        </p:sp>
        <p:cxnSp>
          <p:nvCxnSpPr>
            <p:cNvPr id="13" name="Elbow Connector 17">
              <a:extLst>
                <a:ext uri="{FF2B5EF4-FFF2-40B4-BE49-F238E27FC236}">
                  <a16:creationId xmlns:a16="http://schemas.microsoft.com/office/drawing/2014/main" id="{9824CABC-9A99-4609-9C1D-3B667781A123}"/>
                </a:ext>
              </a:extLst>
            </p:cNvPr>
            <p:cNvCxnSpPr>
              <a:stCxn id="9" idx="0"/>
              <a:endCxn id="18" idx="2"/>
            </p:cNvCxnSpPr>
            <p:nvPr/>
          </p:nvCxnSpPr>
          <p:spPr>
            <a:xfrm rot="5400000" flipH="1" flipV="1">
              <a:off x="2958877" y="3890270"/>
              <a:ext cx="539210" cy="832019"/>
            </a:xfrm>
            <a:prstGeom prst="bentConnector3">
              <a:avLst>
                <a:gd name="adj1" fmla="val 50000"/>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9">
              <a:extLst>
                <a:ext uri="{FF2B5EF4-FFF2-40B4-BE49-F238E27FC236}">
                  <a16:creationId xmlns:a16="http://schemas.microsoft.com/office/drawing/2014/main" id="{121FA025-BA1E-42F1-B8C0-B1B1245BE3D7}"/>
                </a:ext>
              </a:extLst>
            </p:cNvPr>
            <p:cNvCxnSpPr>
              <a:cxnSpLocks/>
            </p:cNvCxnSpPr>
            <p:nvPr/>
          </p:nvCxnSpPr>
          <p:spPr>
            <a:xfrm rot="16200000" flipV="1">
              <a:off x="5911764" y="4037323"/>
              <a:ext cx="694922" cy="601805"/>
            </a:xfrm>
            <a:prstGeom prst="bentConnector3">
              <a:avLst>
                <a:gd name="adj1" fmla="val 50000"/>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734B7CC-A8D7-4AF9-991B-26148A8BA2A9}"/>
                </a:ext>
              </a:extLst>
            </p:cNvPr>
            <p:cNvSpPr/>
            <p:nvPr/>
          </p:nvSpPr>
          <p:spPr>
            <a:xfrm>
              <a:off x="4260273"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4E5C2D7-1F49-41B3-9722-61B2B502A365}"/>
                </a:ext>
              </a:extLst>
            </p:cNvPr>
            <p:cNvSpPr/>
            <p:nvPr/>
          </p:nvSpPr>
          <p:spPr>
            <a:xfrm>
              <a:off x="5098593"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36201E4-BB3B-4F19-AE76-0ED8B05304F6}"/>
                </a:ext>
              </a:extLst>
            </p:cNvPr>
            <p:cNvSpPr/>
            <p:nvPr/>
          </p:nvSpPr>
          <p:spPr>
            <a:xfrm>
              <a:off x="6560127"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A5C9C5A-0720-491B-9887-14B187FDBA0F}"/>
                </a:ext>
              </a:extLst>
            </p:cNvPr>
            <p:cNvSpPr/>
            <p:nvPr/>
          </p:nvSpPr>
          <p:spPr>
            <a:xfrm>
              <a:off x="3394244" y="3635368"/>
              <a:ext cx="500496" cy="401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Elbow Connector 27">
              <a:extLst>
                <a:ext uri="{FF2B5EF4-FFF2-40B4-BE49-F238E27FC236}">
                  <a16:creationId xmlns:a16="http://schemas.microsoft.com/office/drawing/2014/main" id="{79849467-4FDA-4ADE-942C-267E4E4B5FC4}"/>
                </a:ext>
              </a:extLst>
            </p:cNvPr>
            <p:cNvCxnSpPr>
              <a:cxnSpLocks/>
              <a:stCxn id="10" idx="0"/>
            </p:cNvCxnSpPr>
            <p:nvPr/>
          </p:nvCxnSpPr>
          <p:spPr>
            <a:xfrm rot="16200000" flipV="1">
              <a:off x="5023296" y="4228612"/>
              <a:ext cx="530371" cy="120720"/>
            </a:xfrm>
            <a:prstGeom prst="bentConnector3">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29">
              <a:extLst>
                <a:ext uri="{FF2B5EF4-FFF2-40B4-BE49-F238E27FC236}">
                  <a16:creationId xmlns:a16="http://schemas.microsoft.com/office/drawing/2014/main" id="{7351A531-75D0-4FE1-996E-A8CE59124007}"/>
                </a:ext>
              </a:extLst>
            </p:cNvPr>
            <p:cNvCxnSpPr>
              <a:cxnSpLocks/>
            </p:cNvCxnSpPr>
            <p:nvPr/>
          </p:nvCxnSpPr>
          <p:spPr>
            <a:xfrm rot="16200000" flipV="1">
              <a:off x="7480618" y="3998368"/>
              <a:ext cx="675228" cy="594135"/>
            </a:xfrm>
            <a:prstGeom prst="bentConnector3">
              <a:avLst>
                <a:gd name="adj1" fmla="val 50000"/>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Footer Placeholder 5">
            <a:extLst>
              <a:ext uri="{FF2B5EF4-FFF2-40B4-BE49-F238E27FC236}">
                <a16:creationId xmlns:a16="http://schemas.microsoft.com/office/drawing/2014/main" id="{CEEEB2C3-2265-1488-CA97-74AE862E685C}"/>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24662014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19</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Indexing 1D Arrays and Lists</a:t>
            </a:r>
          </a:p>
        </p:txBody>
      </p:sp>
      <p:sp>
        <p:nvSpPr>
          <p:cNvPr id="8" name="Rectangle 7">
            <a:extLst>
              <a:ext uri="{FF2B5EF4-FFF2-40B4-BE49-F238E27FC236}">
                <a16:creationId xmlns:a16="http://schemas.microsoft.com/office/drawing/2014/main" id="{31F15320-6D35-4E69-A4AE-D9784FD66B46}"/>
              </a:ext>
            </a:extLst>
          </p:cNvPr>
          <p:cNvSpPr/>
          <p:nvPr/>
        </p:nvSpPr>
        <p:spPr>
          <a:xfrm>
            <a:off x="990600" y="1730458"/>
            <a:ext cx="5562600" cy="1485278"/>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An array or list has multiple elements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Can use specific elements of the array or list by using an index</a:t>
            </a:r>
          </a:p>
        </p:txBody>
      </p:sp>
      <p:grpSp>
        <p:nvGrpSpPr>
          <p:cNvPr id="41" name="Group 40">
            <a:extLst>
              <a:ext uri="{FF2B5EF4-FFF2-40B4-BE49-F238E27FC236}">
                <a16:creationId xmlns:a16="http://schemas.microsoft.com/office/drawing/2014/main" id="{EDCD7869-BA86-4D7B-9A45-9D61AD2902E4}"/>
              </a:ext>
            </a:extLst>
          </p:cNvPr>
          <p:cNvGrpSpPr/>
          <p:nvPr/>
        </p:nvGrpSpPr>
        <p:grpSpPr>
          <a:xfrm>
            <a:off x="6477000" y="3831733"/>
            <a:ext cx="4847937" cy="1169762"/>
            <a:chOff x="6553907" y="3023381"/>
            <a:chExt cx="4057073" cy="811237"/>
          </a:xfrm>
        </p:grpSpPr>
        <p:pic>
          <p:nvPicPr>
            <p:cNvPr id="14" name="Picture 13">
              <a:extLst>
                <a:ext uri="{FF2B5EF4-FFF2-40B4-BE49-F238E27FC236}">
                  <a16:creationId xmlns:a16="http://schemas.microsoft.com/office/drawing/2014/main" id="{09BD749A-1FB1-408E-8EA6-1EEBC901461D}"/>
                </a:ext>
              </a:extLst>
            </p:cNvPr>
            <p:cNvPicPr>
              <a:picLocks noChangeAspect="1"/>
            </p:cNvPicPr>
            <p:nvPr/>
          </p:nvPicPr>
          <p:blipFill rotWithShape="1">
            <a:blip r:embed="rId3"/>
            <a:srcRect r="50000" b="55364"/>
            <a:stretch/>
          </p:blipFill>
          <p:spPr>
            <a:xfrm>
              <a:off x="7543800" y="3023381"/>
              <a:ext cx="2667000" cy="811237"/>
            </a:xfrm>
            <a:prstGeom prst="rect">
              <a:avLst/>
            </a:prstGeom>
          </p:spPr>
        </p:pic>
        <p:sp>
          <p:nvSpPr>
            <p:cNvPr id="4" name="TextBox 3">
              <a:extLst>
                <a:ext uri="{FF2B5EF4-FFF2-40B4-BE49-F238E27FC236}">
                  <a16:creationId xmlns:a16="http://schemas.microsoft.com/office/drawing/2014/main" id="{60B83253-2A0B-4698-900D-6DDEE9B1D763}"/>
                </a:ext>
              </a:extLst>
            </p:cNvPr>
            <p:cNvSpPr txBox="1"/>
            <p:nvPr/>
          </p:nvSpPr>
          <p:spPr>
            <a:xfrm>
              <a:off x="6553907" y="3183077"/>
              <a:ext cx="4057073" cy="576302"/>
            </a:xfrm>
            <a:prstGeom prst="rect">
              <a:avLst/>
            </a:prstGeom>
            <a:noFill/>
          </p:spPr>
          <p:txBody>
            <a:bodyPr wrap="square" rtlCol="0">
              <a:spAutoFit/>
            </a:bodyPr>
            <a:lstStyle/>
            <a:p>
              <a:r>
                <a:rPr lang="en-US" sz="2400" dirty="0"/>
                <a:t>Value:          5              7              4</a:t>
              </a:r>
            </a:p>
            <a:p>
              <a:r>
                <a:rPr lang="en-US" sz="2400" dirty="0"/>
                <a:t>Index:          0              1              2</a:t>
              </a:r>
            </a:p>
          </p:txBody>
        </p:sp>
      </p:grpSp>
      <p:sp>
        <p:nvSpPr>
          <p:cNvPr id="49" name="TextBox 48">
            <a:extLst>
              <a:ext uri="{FF2B5EF4-FFF2-40B4-BE49-F238E27FC236}">
                <a16:creationId xmlns:a16="http://schemas.microsoft.com/office/drawing/2014/main" id="{FBA745D6-1EFE-4DEA-BCA5-9DD12AE636BD}"/>
              </a:ext>
            </a:extLst>
          </p:cNvPr>
          <p:cNvSpPr txBox="1"/>
          <p:nvPr/>
        </p:nvSpPr>
        <p:spPr>
          <a:xfrm>
            <a:off x="7144327" y="1982596"/>
            <a:ext cx="4057073" cy="923330"/>
          </a:xfrm>
          <a:prstGeom prst="rect">
            <a:avLst/>
          </a:prstGeom>
          <a:noFill/>
          <a:ln w="28575">
            <a:solidFill>
              <a:schemeClr val="tx1"/>
            </a:solidFill>
          </a:ln>
        </p:spPr>
        <p:txBody>
          <a:bodyPr wrap="square" rtlCol="0">
            <a:spAutoFit/>
          </a:bodyPr>
          <a:lstStyle/>
          <a:p>
            <a:r>
              <a:rPr lang="en-US" b="1" dirty="0"/>
              <a:t>Array (or List): </a:t>
            </a:r>
            <a:r>
              <a:rPr lang="en-US" dirty="0"/>
              <a:t>A box of eggs</a:t>
            </a:r>
          </a:p>
          <a:p>
            <a:r>
              <a:rPr lang="en-US" b="1" dirty="0"/>
              <a:t>Value</a:t>
            </a:r>
            <a:r>
              <a:rPr lang="en-US" dirty="0"/>
              <a:t>: Contents of the egg</a:t>
            </a:r>
          </a:p>
          <a:p>
            <a:r>
              <a:rPr lang="en-US" b="1" dirty="0"/>
              <a:t>Index</a:t>
            </a:r>
            <a:r>
              <a:rPr lang="en-US" dirty="0"/>
              <a:t>: Position of the egg in the box</a:t>
            </a:r>
          </a:p>
        </p:txBody>
      </p:sp>
      <p:sp>
        <p:nvSpPr>
          <p:cNvPr id="26" name="TextBox 25">
            <a:extLst>
              <a:ext uri="{FF2B5EF4-FFF2-40B4-BE49-F238E27FC236}">
                <a16:creationId xmlns:a16="http://schemas.microsoft.com/office/drawing/2014/main" id="{32188B63-9B4C-0E49-A2A0-FC273C66BDA1}"/>
              </a:ext>
            </a:extLst>
          </p:cNvPr>
          <p:cNvSpPr txBox="1"/>
          <p:nvPr/>
        </p:nvSpPr>
        <p:spPr>
          <a:xfrm>
            <a:off x="1518014" y="3971701"/>
            <a:ext cx="3690825" cy="923330"/>
          </a:xfrm>
          <a:prstGeom prst="rect">
            <a:avLst/>
          </a:prstGeom>
          <a:solidFill>
            <a:schemeClr val="accent6">
              <a:lumMod val="40000"/>
              <a:lumOff val="60000"/>
            </a:schemeClr>
          </a:solidFill>
          <a:ln>
            <a:solidFill>
              <a:schemeClr val="accent6">
                <a:lumMod val="50000"/>
              </a:schemeClr>
            </a:solidFill>
          </a:ln>
        </p:spPr>
        <p:txBody>
          <a:bodyPr wrap="square" rtlCol="0">
            <a:spAutoFit/>
          </a:bodyPr>
          <a:lstStyle/>
          <a:p>
            <a:r>
              <a:rPr lang="en-US" dirty="0"/>
              <a:t>Important! Python (unlike MATLAB) indexes from 0. Meaning that at the first position, the index = 0</a:t>
            </a:r>
          </a:p>
        </p:txBody>
      </p:sp>
      <p:sp>
        <p:nvSpPr>
          <p:cNvPr id="2" name="Footer Placeholder 5">
            <a:extLst>
              <a:ext uri="{FF2B5EF4-FFF2-40B4-BE49-F238E27FC236}">
                <a16:creationId xmlns:a16="http://schemas.microsoft.com/office/drawing/2014/main" id="{BF3FEFBB-A468-6299-2FC1-567E7DC260AD}"/>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62625411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Text&#10;&#10;Description automatically generated">
            <a:extLst>
              <a:ext uri="{FF2B5EF4-FFF2-40B4-BE49-F238E27FC236}">
                <a16:creationId xmlns:a16="http://schemas.microsoft.com/office/drawing/2014/main" id="{F25F75C2-538C-FC43-B8E2-7B5677C904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70" y="1293781"/>
            <a:ext cx="3928173" cy="1366321"/>
          </a:xfrm>
          <a:prstGeom prst="rect">
            <a:avLst/>
          </a:prstGeom>
        </p:spPr>
      </p:pic>
      <p:sp>
        <p:nvSpPr>
          <p:cNvPr id="3" name="Slide Number Placeholder 2"/>
          <p:cNvSpPr>
            <a:spLocks noGrp="1"/>
          </p:cNvSpPr>
          <p:nvPr>
            <p:ph type="sldNum" sz="quarter" idx="12"/>
          </p:nvPr>
        </p:nvSpPr>
        <p:spPr/>
        <p:txBody>
          <a:bodyPr/>
          <a:lstStyle/>
          <a:p>
            <a:fld id="{2E8848B6-D328-4CC8-99C6-D5689AE94DF4}" type="slidenum">
              <a:rPr lang="en-US" smtClean="0"/>
              <a:t>20</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Indexing 1D Arrays and Lists</a:t>
            </a:r>
          </a:p>
        </p:txBody>
      </p:sp>
      <p:grpSp>
        <p:nvGrpSpPr>
          <p:cNvPr id="41" name="Group 40">
            <a:extLst>
              <a:ext uri="{FF2B5EF4-FFF2-40B4-BE49-F238E27FC236}">
                <a16:creationId xmlns:a16="http://schemas.microsoft.com/office/drawing/2014/main" id="{EDCD7869-BA86-4D7B-9A45-9D61AD2902E4}"/>
              </a:ext>
            </a:extLst>
          </p:cNvPr>
          <p:cNvGrpSpPr/>
          <p:nvPr/>
        </p:nvGrpSpPr>
        <p:grpSpPr>
          <a:xfrm>
            <a:off x="7472548" y="1700871"/>
            <a:ext cx="4057073" cy="811237"/>
            <a:chOff x="6705600" y="3023381"/>
            <a:chExt cx="4057073" cy="811237"/>
          </a:xfrm>
        </p:grpSpPr>
        <p:pic>
          <p:nvPicPr>
            <p:cNvPr id="14" name="Picture 13">
              <a:extLst>
                <a:ext uri="{FF2B5EF4-FFF2-40B4-BE49-F238E27FC236}">
                  <a16:creationId xmlns:a16="http://schemas.microsoft.com/office/drawing/2014/main" id="{09BD749A-1FB1-408E-8EA6-1EEBC901461D}"/>
                </a:ext>
              </a:extLst>
            </p:cNvPr>
            <p:cNvPicPr>
              <a:picLocks noChangeAspect="1"/>
            </p:cNvPicPr>
            <p:nvPr/>
          </p:nvPicPr>
          <p:blipFill rotWithShape="1">
            <a:blip r:embed="rId4"/>
            <a:srcRect r="50000" b="55364"/>
            <a:stretch/>
          </p:blipFill>
          <p:spPr>
            <a:xfrm>
              <a:off x="7543800" y="3023381"/>
              <a:ext cx="2667000" cy="811237"/>
            </a:xfrm>
            <a:prstGeom prst="rect">
              <a:avLst/>
            </a:prstGeom>
          </p:spPr>
        </p:pic>
        <p:sp>
          <p:nvSpPr>
            <p:cNvPr id="4" name="TextBox 3">
              <a:extLst>
                <a:ext uri="{FF2B5EF4-FFF2-40B4-BE49-F238E27FC236}">
                  <a16:creationId xmlns:a16="http://schemas.microsoft.com/office/drawing/2014/main" id="{60B83253-2A0B-4698-900D-6DDEE9B1D763}"/>
                </a:ext>
              </a:extLst>
            </p:cNvPr>
            <p:cNvSpPr txBox="1"/>
            <p:nvPr/>
          </p:nvSpPr>
          <p:spPr>
            <a:xfrm>
              <a:off x="6705600" y="3105833"/>
              <a:ext cx="4057073" cy="646331"/>
            </a:xfrm>
            <a:prstGeom prst="rect">
              <a:avLst/>
            </a:prstGeom>
            <a:noFill/>
          </p:spPr>
          <p:txBody>
            <a:bodyPr wrap="square" rtlCol="0">
              <a:spAutoFit/>
            </a:bodyPr>
            <a:lstStyle/>
            <a:p>
              <a:r>
                <a:rPr lang="en-US" dirty="0"/>
                <a:t>Value:          5               7               4</a:t>
              </a:r>
            </a:p>
            <a:p>
              <a:r>
                <a:rPr lang="en-US" dirty="0"/>
                <a:t>Index:          0               1               2</a:t>
              </a:r>
            </a:p>
          </p:txBody>
        </p:sp>
      </p:grpSp>
      <p:sp>
        <p:nvSpPr>
          <p:cNvPr id="10" name="TextBox 9">
            <a:extLst>
              <a:ext uri="{FF2B5EF4-FFF2-40B4-BE49-F238E27FC236}">
                <a16:creationId xmlns:a16="http://schemas.microsoft.com/office/drawing/2014/main" id="{D3D590A5-19D2-4EDD-8E89-6670FF747398}"/>
              </a:ext>
            </a:extLst>
          </p:cNvPr>
          <p:cNvSpPr txBox="1"/>
          <p:nvPr/>
        </p:nvSpPr>
        <p:spPr>
          <a:xfrm>
            <a:off x="3642580" y="659342"/>
            <a:ext cx="838200" cy="369332"/>
          </a:xfrm>
          <a:prstGeom prst="rect">
            <a:avLst/>
          </a:prstGeom>
          <a:noFill/>
        </p:spPr>
        <p:txBody>
          <a:bodyPr wrap="square" rtlCol="0">
            <a:spAutoFit/>
          </a:bodyPr>
          <a:lstStyle/>
          <a:p>
            <a:r>
              <a:rPr lang="en-US" dirty="0"/>
              <a:t>array</a:t>
            </a:r>
          </a:p>
        </p:txBody>
      </p:sp>
      <p:sp>
        <p:nvSpPr>
          <p:cNvPr id="33" name="TextBox 32">
            <a:extLst>
              <a:ext uri="{FF2B5EF4-FFF2-40B4-BE49-F238E27FC236}">
                <a16:creationId xmlns:a16="http://schemas.microsoft.com/office/drawing/2014/main" id="{613CA37E-337E-42A5-B9F1-82269E342752}"/>
              </a:ext>
            </a:extLst>
          </p:cNvPr>
          <p:cNvSpPr txBox="1"/>
          <p:nvPr/>
        </p:nvSpPr>
        <p:spPr>
          <a:xfrm>
            <a:off x="132132" y="2746139"/>
            <a:ext cx="838200" cy="369332"/>
          </a:xfrm>
          <a:prstGeom prst="rect">
            <a:avLst/>
          </a:prstGeom>
          <a:noFill/>
        </p:spPr>
        <p:txBody>
          <a:bodyPr wrap="square" rtlCol="0">
            <a:spAutoFit/>
          </a:bodyPr>
          <a:lstStyle/>
          <a:p>
            <a:r>
              <a:rPr lang="en-US" dirty="0"/>
              <a:t>value</a:t>
            </a:r>
          </a:p>
        </p:txBody>
      </p:sp>
      <p:cxnSp>
        <p:nvCxnSpPr>
          <p:cNvPr id="34" name="Straight Arrow Connector 33">
            <a:extLst>
              <a:ext uri="{FF2B5EF4-FFF2-40B4-BE49-F238E27FC236}">
                <a16:creationId xmlns:a16="http://schemas.microsoft.com/office/drawing/2014/main" id="{A607B951-3DEC-4647-9064-864743DE60D7}"/>
              </a:ext>
            </a:extLst>
          </p:cNvPr>
          <p:cNvCxnSpPr>
            <a:cxnSpLocks/>
          </p:cNvCxnSpPr>
          <p:nvPr/>
        </p:nvCxnSpPr>
        <p:spPr>
          <a:xfrm flipV="1">
            <a:off x="465570" y="2473424"/>
            <a:ext cx="342900" cy="2014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5EF0DC3-9E0C-4D4D-87DF-655D118A3659}"/>
              </a:ext>
            </a:extLst>
          </p:cNvPr>
          <p:cNvCxnSpPr>
            <a:cxnSpLocks/>
          </p:cNvCxnSpPr>
          <p:nvPr/>
        </p:nvCxnSpPr>
        <p:spPr>
          <a:xfrm flipH="1">
            <a:off x="3730992" y="1028674"/>
            <a:ext cx="140188" cy="3472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FEFC9B6-935E-48CE-A356-DAB78832F24C}"/>
              </a:ext>
            </a:extLst>
          </p:cNvPr>
          <p:cNvCxnSpPr>
            <a:cxnSpLocks/>
          </p:cNvCxnSpPr>
          <p:nvPr/>
        </p:nvCxnSpPr>
        <p:spPr>
          <a:xfrm flipH="1">
            <a:off x="3702265" y="1786091"/>
            <a:ext cx="111776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2DEE13-2886-3A46-9DA3-DBA55CD0588C}"/>
              </a:ext>
            </a:extLst>
          </p:cNvPr>
          <p:cNvSpPr txBox="1"/>
          <p:nvPr/>
        </p:nvSpPr>
        <p:spPr>
          <a:xfrm>
            <a:off x="7236571" y="4428347"/>
            <a:ext cx="4529025" cy="923330"/>
          </a:xfrm>
          <a:prstGeom prst="rect">
            <a:avLst/>
          </a:prstGeom>
          <a:solidFill>
            <a:schemeClr val="accent6">
              <a:lumMod val="40000"/>
              <a:lumOff val="60000"/>
            </a:schemeClr>
          </a:solidFill>
          <a:ln>
            <a:solidFill>
              <a:schemeClr val="accent6">
                <a:lumMod val="50000"/>
              </a:schemeClr>
            </a:solidFill>
          </a:ln>
        </p:spPr>
        <p:txBody>
          <a:bodyPr wrap="square" rtlCol="0">
            <a:spAutoFit/>
          </a:bodyPr>
          <a:lstStyle/>
          <a:p>
            <a:r>
              <a:rPr lang="en-US" dirty="0"/>
              <a:t>When selecting a range of elements, indexing is </a:t>
            </a:r>
            <a:r>
              <a:rPr lang="en-US" i="1" dirty="0"/>
              <a:t>not inclusive</a:t>
            </a:r>
            <a:r>
              <a:rPr lang="en-US" dirty="0"/>
              <a:t>, meaning it does not include the value associated with the end index. </a:t>
            </a:r>
          </a:p>
        </p:txBody>
      </p:sp>
      <p:pic>
        <p:nvPicPr>
          <p:cNvPr id="15" name="Picture 14" descr="Text&#10;&#10;Description automatically generated with medium confidence">
            <a:extLst>
              <a:ext uri="{FF2B5EF4-FFF2-40B4-BE49-F238E27FC236}">
                <a16:creationId xmlns:a16="http://schemas.microsoft.com/office/drawing/2014/main" id="{226D3D1A-D964-F64E-AFF4-76960950A3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909" y="3908285"/>
            <a:ext cx="3958733" cy="1111699"/>
          </a:xfrm>
          <a:prstGeom prst="rect">
            <a:avLst/>
          </a:prstGeom>
        </p:spPr>
      </p:pic>
      <p:pic>
        <p:nvPicPr>
          <p:cNvPr id="17" name="Picture 16" descr="Text&#10;&#10;Description automatically generated">
            <a:extLst>
              <a:ext uri="{FF2B5EF4-FFF2-40B4-BE49-F238E27FC236}">
                <a16:creationId xmlns:a16="http://schemas.microsoft.com/office/drawing/2014/main" id="{DAB1F7AC-CFB7-8545-ADC2-E2C5C8B0B3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908" y="5279147"/>
            <a:ext cx="3958733" cy="1077206"/>
          </a:xfrm>
          <a:prstGeom prst="rect">
            <a:avLst/>
          </a:prstGeom>
        </p:spPr>
      </p:pic>
      <p:sp>
        <p:nvSpPr>
          <p:cNvPr id="22" name="TextBox 21">
            <a:extLst>
              <a:ext uri="{FF2B5EF4-FFF2-40B4-BE49-F238E27FC236}">
                <a16:creationId xmlns:a16="http://schemas.microsoft.com/office/drawing/2014/main" id="{F4B05C2C-D81B-CB41-9394-51A773C16656}"/>
              </a:ext>
            </a:extLst>
          </p:cNvPr>
          <p:cNvSpPr txBox="1"/>
          <p:nvPr/>
        </p:nvSpPr>
        <p:spPr>
          <a:xfrm>
            <a:off x="4855119" y="1601425"/>
            <a:ext cx="838200" cy="369332"/>
          </a:xfrm>
          <a:prstGeom prst="rect">
            <a:avLst/>
          </a:prstGeom>
          <a:noFill/>
        </p:spPr>
        <p:txBody>
          <a:bodyPr wrap="square" rtlCol="0">
            <a:spAutoFit/>
          </a:bodyPr>
          <a:lstStyle/>
          <a:p>
            <a:r>
              <a:rPr lang="en-US" dirty="0"/>
              <a:t>index</a:t>
            </a:r>
          </a:p>
        </p:txBody>
      </p:sp>
      <p:sp>
        <p:nvSpPr>
          <p:cNvPr id="11" name="TextBox 10">
            <a:extLst>
              <a:ext uri="{FF2B5EF4-FFF2-40B4-BE49-F238E27FC236}">
                <a16:creationId xmlns:a16="http://schemas.microsoft.com/office/drawing/2014/main" id="{4A857A49-8D4F-9040-8357-19C6D14833EA}"/>
              </a:ext>
            </a:extLst>
          </p:cNvPr>
          <p:cNvSpPr txBox="1"/>
          <p:nvPr/>
        </p:nvSpPr>
        <p:spPr>
          <a:xfrm>
            <a:off x="20782" y="805912"/>
            <a:ext cx="2288640" cy="369332"/>
          </a:xfrm>
          <a:prstGeom prst="rect">
            <a:avLst/>
          </a:prstGeom>
          <a:noFill/>
        </p:spPr>
        <p:txBody>
          <a:bodyPr wrap="none" rtlCol="0">
            <a:spAutoFit/>
          </a:bodyPr>
          <a:lstStyle/>
          <a:p>
            <a:r>
              <a:rPr lang="en-US" dirty="0"/>
              <a:t>Indexing one element:</a:t>
            </a:r>
          </a:p>
        </p:txBody>
      </p:sp>
      <p:sp>
        <p:nvSpPr>
          <p:cNvPr id="13" name="TextBox 12">
            <a:extLst>
              <a:ext uri="{FF2B5EF4-FFF2-40B4-BE49-F238E27FC236}">
                <a16:creationId xmlns:a16="http://schemas.microsoft.com/office/drawing/2014/main" id="{4498D813-5D92-A249-9F7B-E01EBBCF76F2}"/>
              </a:ext>
            </a:extLst>
          </p:cNvPr>
          <p:cNvSpPr txBox="1"/>
          <p:nvPr/>
        </p:nvSpPr>
        <p:spPr>
          <a:xfrm>
            <a:off x="20782" y="3351866"/>
            <a:ext cx="6582315" cy="369332"/>
          </a:xfrm>
          <a:prstGeom prst="rect">
            <a:avLst/>
          </a:prstGeom>
          <a:noFill/>
        </p:spPr>
        <p:txBody>
          <a:bodyPr wrap="none" rtlCol="0">
            <a:spAutoFit/>
          </a:bodyPr>
          <a:lstStyle/>
          <a:p>
            <a:r>
              <a:rPr lang="en-US" dirty="0"/>
              <a:t>Indexing all elements in a range (ex: the first two values in the array):</a:t>
            </a:r>
          </a:p>
        </p:txBody>
      </p:sp>
      <p:cxnSp>
        <p:nvCxnSpPr>
          <p:cNvPr id="25" name="Straight Arrow Connector 24">
            <a:extLst>
              <a:ext uri="{FF2B5EF4-FFF2-40B4-BE49-F238E27FC236}">
                <a16:creationId xmlns:a16="http://schemas.microsoft.com/office/drawing/2014/main" id="{8DA895AA-107A-9241-BD37-13A9A8DCAA73}"/>
              </a:ext>
            </a:extLst>
          </p:cNvPr>
          <p:cNvCxnSpPr>
            <a:cxnSpLocks/>
          </p:cNvCxnSpPr>
          <p:nvPr/>
        </p:nvCxnSpPr>
        <p:spPr>
          <a:xfrm flipH="1">
            <a:off x="1447800" y="4724400"/>
            <a:ext cx="111776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04C89A5-71C6-3249-B879-B29DF4E52402}"/>
              </a:ext>
            </a:extLst>
          </p:cNvPr>
          <p:cNvSpPr txBox="1"/>
          <p:nvPr/>
        </p:nvSpPr>
        <p:spPr>
          <a:xfrm>
            <a:off x="2619335" y="4532755"/>
            <a:ext cx="4529026" cy="646331"/>
          </a:xfrm>
          <a:prstGeom prst="rect">
            <a:avLst/>
          </a:prstGeom>
          <a:noFill/>
        </p:spPr>
        <p:txBody>
          <a:bodyPr wrap="square" rtlCol="0">
            <a:spAutoFit/>
          </a:bodyPr>
          <a:lstStyle/>
          <a:p>
            <a:r>
              <a:rPr lang="en-US" dirty="0"/>
              <a:t>only give the first value, because indexing is not inclusive of end value!</a:t>
            </a:r>
          </a:p>
        </p:txBody>
      </p:sp>
      <p:sp>
        <p:nvSpPr>
          <p:cNvPr id="19" name="TextBox 18">
            <a:extLst>
              <a:ext uri="{FF2B5EF4-FFF2-40B4-BE49-F238E27FC236}">
                <a16:creationId xmlns:a16="http://schemas.microsoft.com/office/drawing/2014/main" id="{2CC721CC-90B2-E140-BBAC-011463D40CD1}"/>
              </a:ext>
            </a:extLst>
          </p:cNvPr>
          <p:cNvSpPr txBox="1"/>
          <p:nvPr/>
        </p:nvSpPr>
        <p:spPr>
          <a:xfrm>
            <a:off x="432250" y="4496764"/>
            <a:ext cx="504888" cy="523220"/>
          </a:xfrm>
          <a:prstGeom prst="rect">
            <a:avLst/>
          </a:prstGeom>
          <a:noFill/>
        </p:spPr>
        <p:txBody>
          <a:bodyPr wrap="square" rtlCol="0">
            <a:spAutoFit/>
          </a:bodyPr>
          <a:lstStyle/>
          <a:p>
            <a:r>
              <a:rPr lang="en-US" sz="2800" dirty="0">
                <a:solidFill>
                  <a:srgbClr val="FF0000"/>
                </a:solidFill>
              </a:rPr>
              <a:t>X</a:t>
            </a:r>
          </a:p>
        </p:txBody>
      </p:sp>
      <p:sp>
        <p:nvSpPr>
          <p:cNvPr id="28" name="TextBox 27">
            <a:extLst>
              <a:ext uri="{FF2B5EF4-FFF2-40B4-BE49-F238E27FC236}">
                <a16:creationId xmlns:a16="http://schemas.microsoft.com/office/drawing/2014/main" id="{6CCE0394-525C-0B4B-99E9-1572114134C4}"/>
              </a:ext>
            </a:extLst>
          </p:cNvPr>
          <p:cNvSpPr txBox="1"/>
          <p:nvPr/>
        </p:nvSpPr>
        <p:spPr>
          <a:xfrm>
            <a:off x="2631920" y="5936991"/>
            <a:ext cx="4529026" cy="369332"/>
          </a:xfrm>
          <a:prstGeom prst="rect">
            <a:avLst/>
          </a:prstGeom>
          <a:noFill/>
        </p:spPr>
        <p:txBody>
          <a:bodyPr wrap="square" rtlCol="0">
            <a:spAutoFit/>
          </a:bodyPr>
          <a:lstStyle/>
          <a:p>
            <a:r>
              <a:rPr lang="en-US" dirty="0"/>
              <a:t>now correctly gives the first two values</a:t>
            </a:r>
          </a:p>
        </p:txBody>
      </p:sp>
      <p:cxnSp>
        <p:nvCxnSpPr>
          <p:cNvPr id="29" name="Straight Arrow Connector 28">
            <a:extLst>
              <a:ext uri="{FF2B5EF4-FFF2-40B4-BE49-F238E27FC236}">
                <a16:creationId xmlns:a16="http://schemas.microsoft.com/office/drawing/2014/main" id="{810CF2BD-D6A7-3F4C-B7A0-7310032B18C8}"/>
              </a:ext>
            </a:extLst>
          </p:cNvPr>
          <p:cNvCxnSpPr>
            <a:cxnSpLocks/>
          </p:cNvCxnSpPr>
          <p:nvPr/>
        </p:nvCxnSpPr>
        <p:spPr>
          <a:xfrm flipH="1">
            <a:off x="1501572" y="6110741"/>
            <a:ext cx="111776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5">
            <a:extLst>
              <a:ext uri="{FF2B5EF4-FFF2-40B4-BE49-F238E27FC236}">
                <a16:creationId xmlns:a16="http://schemas.microsoft.com/office/drawing/2014/main" id="{615FD666-BB64-9B9A-C731-8947DA5AD9B5}"/>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3600271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40840BF-057F-4708-978F-2DEFDA379E1D}"/>
              </a:ext>
            </a:extLst>
          </p:cNvPr>
          <p:cNvPicPr>
            <a:picLocks noChangeAspect="1"/>
          </p:cNvPicPr>
          <p:nvPr/>
        </p:nvPicPr>
        <p:blipFill>
          <a:blip r:embed="rId3"/>
          <a:stretch>
            <a:fillRect/>
          </a:stretch>
        </p:blipFill>
        <p:spPr>
          <a:xfrm>
            <a:off x="688516" y="5053328"/>
            <a:ext cx="4874083" cy="441354"/>
          </a:xfrm>
          <a:prstGeom prst="rect">
            <a:avLst/>
          </a:prstGeom>
        </p:spPr>
      </p:pic>
      <p:pic>
        <p:nvPicPr>
          <p:cNvPr id="9" name="Picture 8">
            <a:extLst>
              <a:ext uri="{FF2B5EF4-FFF2-40B4-BE49-F238E27FC236}">
                <a16:creationId xmlns:a16="http://schemas.microsoft.com/office/drawing/2014/main" id="{894F511E-6394-455C-B0B1-EAE036AB01A5}"/>
              </a:ext>
            </a:extLst>
          </p:cNvPr>
          <p:cNvPicPr>
            <a:picLocks noChangeAspect="1"/>
          </p:cNvPicPr>
          <p:nvPr/>
        </p:nvPicPr>
        <p:blipFill>
          <a:blip r:embed="rId4"/>
          <a:stretch>
            <a:fillRect/>
          </a:stretch>
        </p:blipFill>
        <p:spPr>
          <a:xfrm>
            <a:off x="609600" y="1793197"/>
            <a:ext cx="4514842" cy="1429186"/>
          </a:xfrm>
          <a:prstGeom prst="rect">
            <a:avLst/>
          </a:prstGeom>
        </p:spPr>
      </p:pic>
      <p:pic>
        <p:nvPicPr>
          <p:cNvPr id="6" name="Picture 5">
            <a:extLst>
              <a:ext uri="{FF2B5EF4-FFF2-40B4-BE49-F238E27FC236}">
                <a16:creationId xmlns:a16="http://schemas.microsoft.com/office/drawing/2014/main" id="{095295A6-DFBB-428D-9894-31B5C86BC72C}"/>
              </a:ext>
            </a:extLst>
          </p:cNvPr>
          <p:cNvPicPr>
            <a:picLocks noChangeAspect="1"/>
          </p:cNvPicPr>
          <p:nvPr/>
        </p:nvPicPr>
        <p:blipFill rotWithShape="1">
          <a:blip r:embed="rId5"/>
          <a:srcRect t="1" r="50000" b="336"/>
          <a:stretch/>
        </p:blipFill>
        <p:spPr>
          <a:xfrm>
            <a:off x="8153400" y="1524000"/>
            <a:ext cx="2667000" cy="1811310"/>
          </a:xfrm>
          <a:prstGeom prst="rect">
            <a:avLst/>
          </a:prstGeom>
        </p:spPr>
      </p:pic>
      <p:sp>
        <p:nvSpPr>
          <p:cNvPr id="3" name="Slide Number Placeholder 2"/>
          <p:cNvSpPr>
            <a:spLocks noGrp="1"/>
          </p:cNvSpPr>
          <p:nvPr>
            <p:ph type="sldNum" sz="quarter" idx="12"/>
          </p:nvPr>
        </p:nvSpPr>
        <p:spPr/>
        <p:txBody>
          <a:bodyPr/>
          <a:lstStyle/>
          <a:p>
            <a:fld id="{2E8848B6-D328-4CC8-99C6-D5689AE94DF4}" type="slidenum">
              <a:rPr lang="en-US" smtClean="0"/>
              <a:t>21</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Indexing 2D Arrays and Lists</a:t>
            </a:r>
          </a:p>
        </p:txBody>
      </p:sp>
      <p:sp>
        <p:nvSpPr>
          <p:cNvPr id="4" name="TextBox 3">
            <a:extLst>
              <a:ext uri="{FF2B5EF4-FFF2-40B4-BE49-F238E27FC236}">
                <a16:creationId xmlns:a16="http://schemas.microsoft.com/office/drawing/2014/main" id="{60B83253-2A0B-4698-900D-6DDEE9B1D763}"/>
              </a:ext>
            </a:extLst>
          </p:cNvPr>
          <p:cNvSpPr txBox="1"/>
          <p:nvPr/>
        </p:nvSpPr>
        <p:spPr>
          <a:xfrm>
            <a:off x="7315200" y="1634862"/>
            <a:ext cx="4057073" cy="646331"/>
          </a:xfrm>
          <a:prstGeom prst="rect">
            <a:avLst/>
          </a:prstGeom>
          <a:noFill/>
        </p:spPr>
        <p:txBody>
          <a:bodyPr wrap="square" rtlCol="0">
            <a:spAutoFit/>
          </a:bodyPr>
          <a:lstStyle/>
          <a:p>
            <a:r>
              <a:rPr lang="en-US" dirty="0"/>
              <a:t>Value:          5               7               4</a:t>
            </a:r>
          </a:p>
          <a:p>
            <a:r>
              <a:rPr lang="en-US" dirty="0"/>
              <a:t>Index:       [0,0]         [0,1]         [0,2]</a:t>
            </a:r>
          </a:p>
        </p:txBody>
      </p:sp>
      <p:sp>
        <p:nvSpPr>
          <p:cNvPr id="7" name="TextBox 6">
            <a:extLst>
              <a:ext uri="{FF2B5EF4-FFF2-40B4-BE49-F238E27FC236}">
                <a16:creationId xmlns:a16="http://schemas.microsoft.com/office/drawing/2014/main" id="{EF5663D3-16DE-49DB-931D-00C5ADEC79C1}"/>
              </a:ext>
            </a:extLst>
          </p:cNvPr>
          <p:cNvSpPr txBox="1"/>
          <p:nvPr/>
        </p:nvSpPr>
        <p:spPr>
          <a:xfrm>
            <a:off x="7315200" y="2480505"/>
            <a:ext cx="4057073" cy="646331"/>
          </a:xfrm>
          <a:prstGeom prst="rect">
            <a:avLst/>
          </a:prstGeom>
          <a:noFill/>
        </p:spPr>
        <p:txBody>
          <a:bodyPr wrap="square" rtlCol="0">
            <a:spAutoFit/>
          </a:bodyPr>
          <a:lstStyle/>
          <a:p>
            <a:r>
              <a:rPr lang="en-US" dirty="0"/>
              <a:t>Value:          8               9               2</a:t>
            </a:r>
          </a:p>
          <a:p>
            <a:r>
              <a:rPr lang="en-US" dirty="0"/>
              <a:t>Index:       [1,0]         [1,1]         [1,2]</a:t>
            </a:r>
          </a:p>
        </p:txBody>
      </p:sp>
      <p:sp>
        <p:nvSpPr>
          <p:cNvPr id="23" name="TextBox 22">
            <a:extLst>
              <a:ext uri="{FF2B5EF4-FFF2-40B4-BE49-F238E27FC236}">
                <a16:creationId xmlns:a16="http://schemas.microsoft.com/office/drawing/2014/main" id="{747B9813-A07C-49FB-AADA-E2E053F2161B}"/>
              </a:ext>
            </a:extLst>
          </p:cNvPr>
          <p:cNvSpPr txBox="1"/>
          <p:nvPr/>
        </p:nvSpPr>
        <p:spPr>
          <a:xfrm>
            <a:off x="3044864" y="1275909"/>
            <a:ext cx="1096665" cy="369332"/>
          </a:xfrm>
          <a:prstGeom prst="rect">
            <a:avLst/>
          </a:prstGeom>
          <a:noFill/>
        </p:spPr>
        <p:txBody>
          <a:bodyPr wrap="square" rtlCol="0">
            <a:spAutoFit/>
          </a:bodyPr>
          <a:lstStyle/>
          <a:p>
            <a:r>
              <a:rPr lang="en-US" dirty="0"/>
              <a:t>First row</a:t>
            </a:r>
          </a:p>
        </p:txBody>
      </p:sp>
      <p:sp>
        <p:nvSpPr>
          <p:cNvPr id="27" name="TextBox 26">
            <a:extLst>
              <a:ext uri="{FF2B5EF4-FFF2-40B4-BE49-F238E27FC236}">
                <a16:creationId xmlns:a16="http://schemas.microsoft.com/office/drawing/2014/main" id="{3D091253-ED8D-482E-A042-C089FD352612}"/>
              </a:ext>
            </a:extLst>
          </p:cNvPr>
          <p:cNvSpPr txBox="1"/>
          <p:nvPr/>
        </p:nvSpPr>
        <p:spPr>
          <a:xfrm>
            <a:off x="4088938" y="1278753"/>
            <a:ext cx="1638583" cy="369332"/>
          </a:xfrm>
          <a:prstGeom prst="rect">
            <a:avLst/>
          </a:prstGeom>
          <a:noFill/>
        </p:spPr>
        <p:txBody>
          <a:bodyPr wrap="square" rtlCol="0">
            <a:spAutoFit/>
          </a:bodyPr>
          <a:lstStyle/>
          <a:p>
            <a:r>
              <a:rPr lang="en-US" dirty="0"/>
              <a:t>Second row</a:t>
            </a:r>
          </a:p>
        </p:txBody>
      </p:sp>
      <p:cxnSp>
        <p:nvCxnSpPr>
          <p:cNvPr id="28" name="Straight Arrow Connector 27">
            <a:extLst>
              <a:ext uri="{FF2B5EF4-FFF2-40B4-BE49-F238E27FC236}">
                <a16:creationId xmlns:a16="http://schemas.microsoft.com/office/drawing/2014/main" id="{6C53B854-D898-4018-B485-28126268E58E}"/>
              </a:ext>
            </a:extLst>
          </p:cNvPr>
          <p:cNvCxnSpPr>
            <a:cxnSpLocks/>
          </p:cNvCxnSpPr>
          <p:nvPr/>
        </p:nvCxnSpPr>
        <p:spPr>
          <a:xfrm>
            <a:off x="4452703" y="1700311"/>
            <a:ext cx="0" cy="3341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6E65333-DD6B-4204-A05D-8002B3033151}"/>
              </a:ext>
            </a:extLst>
          </p:cNvPr>
          <p:cNvSpPr txBox="1"/>
          <p:nvPr/>
        </p:nvSpPr>
        <p:spPr>
          <a:xfrm>
            <a:off x="457200" y="974182"/>
            <a:ext cx="2288717" cy="369332"/>
          </a:xfrm>
          <a:prstGeom prst="rect">
            <a:avLst/>
          </a:prstGeom>
          <a:noFill/>
        </p:spPr>
        <p:txBody>
          <a:bodyPr wrap="square" rtlCol="0">
            <a:spAutoFit/>
          </a:bodyPr>
          <a:lstStyle/>
          <a:p>
            <a:r>
              <a:rPr lang="en-US" dirty="0"/>
              <a:t>Creating a 2D Array:</a:t>
            </a:r>
          </a:p>
        </p:txBody>
      </p:sp>
      <p:sp>
        <p:nvSpPr>
          <p:cNvPr id="18" name="TextBox 17">
            <a:extLst>
              <a:ext uri="{FF2B5EF4-FFF2-40B4-BE49-F238E27FC236}">
                <a16:creationId xmlns:a16="http://schemas.microsoft.com/office/drawing/2014/main" id="{1BE8B209-57B1-4A8E-88FE-A0A3F1B852A8}"/>
              </a:ext>
            </a:extLst>
          </p:cNvPr>
          <p:cNvSpPr txBox="1"/>
          <p:nvPr/>
        </p:nvSpPr>
        <p:spPr>
          <a:xfrm>
            <a:off x="457200" y="3918886"/>
            <a:ext cx="2288717" cy="369332"/>
          </a:xfrm>
          <a:prstGeom prst="rect">
            <a:avLst/>
          </a:prstGeom>
          <a:noFill/>
        </p:spPr>
        <p:txBody>
          <a:bodyPr wrap="square" rtlCol="0">
            <a:spAutoFit/>
          </a:bodyPr>
          <a:lstStyle/>
          <a:p>
            <a:r>
              <a:rPr lang="en-US" dirty="0"/>
              <a:t>Indexing a 2D Array:</a:t>
            </a:r>
          </a:p>
        </p:txBody>
      </p:sp>
      <p:cxnSp>
        <p:nvCxnSpPr>
          <p:cNvPr id="24" name="Straight Arrow Connector 23">
            <a:extLst>
              <a:ext uri="{FF2B5EF4-FFF2-40B4-BE49-F238E27FC236}">
                <a16:creationId xmlns:a16="http://schemas.microsoft.com/office/drawing/2014/main" id="{AC8694E3-396A-4547-904C-ACBAA645AB49}"/>
              </a:ext>
            </a:extLst>
          </p:cNvPr>
          <p:cNvCxnSpPr>
            <a:cxnSpLocks/>
          </p:cNvCxnSpPr>
          <p:nvPr/>
        </p:nvCxnSpPr>
        <p:spPr>
          <a:xfrm>
            <a:off x="3352800" y="4876800"/>
            <a:ext cx="304800" cy="4171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1043550-9EF8-4ADA-90E9-ADE2A3ED6FCF}"/>
              </a:ext>
            </a:extLst>
          </p:cNvPr>
          <p:cNvCxnSpPr>
            <a:cxnSpLocks/>
          </p:cNvCxnSpPr>
          <p:nvPr/>
        </p:nvCxnSpPr>
        <p:spPr>
          <a:xfrm>
            <a:off x="3654156" y="1712759"/>
            <a:ext cx="0" cy="3339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3932D18-BBB9-4B91-A96A-953E4C9E3C87}"/>
              </a:ext>
            </a:extLst>
          </p:cNvPr>
          <p:cNvSpPr txBox="1"/>
          <p:nvPr/>
        </p:nvSpPr>
        <p:spPr>
          <a:xfrm>
            <a:off x="2234328" y="4537812"/>
            <a:ext cx="1308972" cy="369332"/>
          </a:xfrm>
          <a:prstGeom prst="rect">
            <a:avLst/>
          </a:prstGeom>
          <a:noFill/>
        </p:spPr>
        <p:txBody>
          <a:bodyPr wrap="square" rtlCol="0">
            <a:spAutoFit/>
          </a:bodyPr>
          <a:lstStyle/>
          <a:p>
            <a:r>
              <a:rPr lang="en-US" dirty="0"/>
              <a:t>Row index</a:t>
            </a:r>
          </a:p>
        </p:txBody>
      </p:sp>
      <p:sp>
        <p:nvSpPr>
          <p:cNvPr id="25" name="TextBox 24">
            <a:extLst>
              <a:ext uri="{FF2B5EF4-FFF2-40B4-BE49-F238E27FC236}">
                <a16:creationId xmlns:a16="http://schemas.microsoft.com/office/drawing/2014/main" id="{B0FC4797-25FF-4343-8B7F-94B42ECCE6CC}"/>
              </a:ext>
            </a:extLst>
          </p:cNvPr>
          <p:cNvSpPr txBox="1"/>
          <p:nvPr/>
        </p:nvSpPr>
        <p:spPr>
          <a:xfrm>
            <a:off x="4147589" y="4486107"/>
            <a:ext cx="1521283" cy="369332"/>
          </a:xfrm>
          <a:prstGeom prst="rect">
            <a:avLst/>
          </a:prstGeom>
          <a:noFill/>
        </p:spPr>
        <p:txBody>
          <a:bodyPr wrap="square" rtlCol="0">
            <a:spAutoFit/>
          </a:bodyPr>
          <a:lstStyle/>
          <a:p>
            <a:r>
              <a:rPr lang="en-US" dirty="0"/>
              <a:t>Column index</a:t>
            </a:r>
          </a:p>
        </p:txBody>
      </p:sp>
      <p:cxnSp>
        <p:nvCxnSpPr>
          <p:cNvPr id="42" name="Straight Arrow Connector 41">
            <a:extLst>
              <a:ext uri="{FF2B5EF4-FFF2-40B4-BE49-F238E27FC236}">
                <a16:creationId xmlns:a16="http://schemas.microsoft.com/office/drawing/2014/main" id="{4F1B2466-1A12-4D8C-83F0-D99677EC151D}"/>
              </a:ext>
            </a:extLst>
          </p:cNvPr>
          <p:cNvCxnSpPr>
            <a:cxnSpLocks/>
          </p:cNvCxnSpPr>
          <p:nvPr/>
        </p:nvCxnSpPr>
        <p:spPr>
          <a:xfrm flipH="1">
            <a:off x="3962400" y="4760960"/>
            <a:ext cx="762000" cy="5330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A5F7E6FE-DD7A-4E7A-80AA-6CA386D1C0CB}"/>
              </a:ext>
            </a:extLst>
          </p:cNvPr>
          <p:cNvPicPr>
            <a:picLocks noChangeAspect="1"/>
          </p:cNvPicPr>
          <p:nvPr/>
        </p:nvPicPr>
        <p:blipFill>
          <a:blip r:embed="rId6"/>
          <a:stretch>
            <a:fillRect/>
          </a:stretch>
        </p:blipFill>
        <p:spPr>
          <a:xfrm>
            <a:off x="609600" y="5878294"/>
            <a:ext cx="5029200" cy="461763"/>
          </a:xfrm>
          <a:prstGeom prst="rect">
            <a:avLst/>
          </a:prstGeom>
        </p:spPr>
      </p:pic>
      <p:cxnSp>
        <p:nvCxnSpPr>
          <p:cNvPr id="29" name="Straight Arrow Connector 28">
            <a:extLst>
              <a:ext uri="{FF2B5EF4-FFF2-40B4-BE49-F238E27FC236}">
                <a16:creationId xmlns:a16="http://schemas.microsoft.com/office/drawing/2014/main" id="{A41C62EA-C64D-455B-8C1A-C99EC96E30A6}"/>
              </a:ext>
            </a:extLst>
          </p:cNvPr>
          <p:cNvCxnSpPr>
            <a:cxnSpLocks/>
            <a:stCxn id="30" idx="1"/>
          </p:cNvCxnSpPr>
          <p:nvPr/>
        </p:nvCxnSpPr>
        <p:spPr>
          <a:xfrm flipH="1">
            <a:off x="3886202" y="5778892"/>
            <a:ext cx="1186834" cy="3810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6059A31-A515-471F-B0F6-183B88EA79AC}"/>
              </a:ext>
            </a:extLst>
          </p:cNvPr>
          <p:cNvSpPr txBox="1"/>
          <p:nvPr/>
        </p:nvSpPr>
        <p:spPr>
          <a:xfrm>
            <a:off x="5073036" y="5594226"/>
            <a:ext cx="2013563" cy="369332"/>
          </a:xfrm>
          <a:prstGeom prst="rect">
            <a:avLst/>
          </a:prstGeom>
          <a:noFill/>
        </p:spPr>
        <p:txBody>
          <a:bodyPr wrap="square" rtlCol="0">
            <a:spAutoFit/>
          </a:bodyPr>
          <a:lstStyle/>
          <a:p>
            <a:r>
              <a:rPr lang="en-US" dirty="0"/>
              <a:t>Colon means “all”</a:t>
            </a:r>
          </a:p>
        </p:txBody>
      </p:sp>
      <p:sp>
        <p:nvSpPr>
          <p:cNvPr id="2" name="Footer Placeholder 5">
            <a:extLst>
              <a:ext uri="{FF2B5EF4-FFF2-40B4-BE49-F238E27FC236}">
                <a16:creationId xmlns:a16="http://schemas.microsoft.com/office/drawing/2014/main" id="{22A2446F-A6F6-C1BB-1D86-37537E2FA0D3}"/>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89114553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22</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Basic Computation with Arrays</a:t>
            </a:r>
          </a:p>
        </p:txBody>
      </p:sp>
      <p:sp>
        <p:nvSpPr>
          <p:cNvPr id="8" name="Rectangle 7">
            <a:extLst>
              <a:ext uri="{FF2B5EF4-FFF2-40B4-BE49-F238E27FC236}">
                <a16:creationId xmlns:a16="http://schemas.microsoft.com/office/drawing/2014/main" id="{26B72FFB-D8F0-44F8-810A-4B709290933B}"/>
              </a:ext>
            </a:extLst>
          </p:cNvPr>
          <p:cNvSpPr/>
          <p:nvPr/>
        </p:nvSpPr>
        <p:spPr>
          <a:xfrm>
            <a:off x="609600" y="914400"/>
            <a:ext cx="10515600" cy="5520678"/>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Use </a:t>
            </a:r>
            <a:r>
              <a:rPr lang="en-US" sz="2400" b="1" dirty="0">
                <a:solidFill>
                  <a:schemeClr val="tx1">
                    <a:lumMod val="75000"/>
                    <a:lumOff val="25000"/>
                  </a:schemeClr>
                </a:solidFill>
              </a:rPr>
              <a:t>NumPy</a:t>
            </a:r>
            <a:r>
              <a:rPr lang="en-US" sz="2400" dirty="0">
                <a:solidFill>
                  <a:schemeClr val="tx1">
                    <a:lumMod val="75000"/>
                    <a:lumOff val="25000"/>
                  </a:schemeClr>
                </a:solidFill>
              </a:rPr>
              <a:t> functions to do basic computations with arrays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Examples of operations are: sum, max, min, and standard deviation</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To use these functions, follow this format:</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err="1">
                <a:solidFill>
                  <a:schemeClr val="tx1">
                    <a:lumMod val="75000"/>
                    <a:lumOff val="25000"/>
                  </a:schemeClr>
                </a:solidFill>
              </a:rPr>
              <a:t>np.function_name</a:t>
            </a:r>
            <a:r>
              <a:rPr lang="en-US" sz="2400" dirty="0">
                <a:solidFill>
                  <a:schemeClr val="tx1">
                    <a:lumMod val="75000"/>
                    <a:lumOff val="25000"/>
                  </a:schemeClr>
                </a:solidFill>
              </a:rPr>
              <a:t>(array) where the </a:t>
            </a:r>
            <a:r>
              <a:rPr lang="en-US" sz="2400" dirty="0" err="1">
                <a:solidFill>
                  <a:schemeClr val="tx1">
                    <a:lumMod val="75000"/>
                    <a:lumOff val="25000"/>
                  </a:schemeClr>
                </a:solidFill>
              </a:rPr>
              <a:t>function_name</a:t>
            </a:r>
            <a:r>
              <a:rPr lang="en-US" sz="2400" dirty="0">
                <a:solidFill>
                  <a:schemeClr val="tx1">
                    <a:lumMod val="75000"/>
                    <a:lumOff val="25000"/>
                  </a:schemeClr>
                </a:solidFill>
              </a:rPr>
              <a:t> is the name of the function and array is the variable name of the array</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For example, if finding the minimum of the array called </a:t>
            </a:r>
            <a:r>
              <a:rPr lang="en-US" sz="2400" dirty="0" err="1">
                <a:solidFill>
                  <a:schemeClr val="tx1">
                    <a:lumMod val="75000"/>
                    <a:lumOff val="25000"/>
                  </a:schemeClr>
                </a:solidFill>
              </a:rPr>
              <a:t>my_array</a:t>
            </a:r>
            <a:r>
              <a:rPr lang="en-US" sz="2400" dirty="0">
                <a:solidFill>
                  <a:schemeClr val="tx1">
                    <a:lumMod val="75000"/>
                    <a:lumOff val="25000"/>
                  </a:schemeClr>
                </a:solidFill>
              </a:rPr>
              <a:t>, use:</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err="1">
                <a:solidFill>
                  <a:schemeClr val="tx1">
                    <a:lumMod val="75000"/>
                    <a:lumOff val="25000"/>
                  </a:schemeClr>
                </a:solidFill>
              </a:rPr>
              <a:t>np.min</a:t>
            </a:r>
            <a:r>
              <a:rPr lang="en-US" sz="2400" dirty="0">
                <a:solidFill>
                  <a:schemeClr val="tx1">
                    <a:lumMod val="75000"/>
                    <a:lumOff val="25000"/>
                  </a:schemeClr>
                </a:solidFill>
              </a:rPr>
              <a:t>(</a:t>
            </a:r>
            <a:r>
              <a:rPr lang="en-US" sz="2400" dirty="0" err="1">
                <a:solidFill>
                  <a:schemeClr val="tx1">
                    <a:lumMod val="75000"/>
                    <a:lumOff val="25000"/>
                  </a:schemeClr>
                </a:solidFill>
              </a:rPr>
              <a:t>my_array</a:t>
            </a:r>
            <a:r>
              <a:rPr lang="en-US" sz="2400" dirty="0">
                <a:solidFill>
                  <a:schemeClr val="tx1">
                    <a:lumMod val="75000"/>
                    <a:lumOff val="25000"/>
                  </a:schemeClr>
                </a:solidFill>
              </a:rPr>
              <a: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Other operations (same format): </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Maximum: </a:t>
            </a:r>
            <a:r>
              <a:rPr lang="en-US" sz="2400" dirty="0" err="1">
                <a:solidFill>
                  <a:schemeClr val="tx1">
                    <a:lumMod val="75000"/>
                    <a:lumOff val="25000"/>
                  </a:schemeClr>
                </a:solidFill>
              </a:rPr>
              <a:t>np.max</a:t>
            </a:r>
            <a:r>
              <a:rPr lang="en-US" sz="2400" dirty="0">
                <a:solidFill>
                  <a:schemeClr val="tx1">
                    <a:lumMod val="75000"/>
                    <a:lumOff val="25000"/>
                  </a:schemeClr>
                </a:solidFill>
              </a:rPr>
              <a:t>(</a:t>
            </a:r>
            <a:r>
              <a:rPr lang="en-US" sz="2400" dirty="0" err="1">
                <a:solidFill>
                  <a:schemeClr val="tx1">
                    <a:lumMod val="75000"/>
                    <a:lumOff val="25000"/>
                  </a:schemeClr>
                </a:solidFill>
              </a:rPr>
              <a:t>my_array</a:t>
            </a:r>
            <a:r>
              <a:rPr lang="en-US" sz="2400" dirty="0">
                <a:solidFill>
                  <a:schemeClr val="tx1">
                    <a:lumMod val="75000"/>
                    <a:lumOff val="25000"/>
                  </a:schemeClr>
                </a:solidFill>
              </a:rPr>
              <a:t>)</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Standard deviation: </a:t>
            </a:r>
            <a:r>
              <a:rPr lang="en-US" sz="2400" dirty="0" err="1">
                <a:solidFill>
                  <a:schemeClr val="tx1">
                    <a:lumMod val="75000"/>
                    <a:lumOff val="25000"/>
                  </a:schemeClr>
                </a:solidFill>
              </a:rPr>
              <a:t>np.std</a:t>
            </a:r>
            <a:r>
              <a:rPr lang="en-US" sz="2400" dirty="0">
                <a:solidFill>
                  <a:schemeClr val="tx1">
                    <a:lumMod val="75000"/>
                    <a:lumOff val="25000"/>
                  </a:schemeClr>
                </a:solidFill>
              </a:rPr>
              <a:t>(</a:t>
            </a:r>
            <a:r>
              <a:rPr lang="en-US" sz="2400" dirty="0" err="1">
                <a:solidFill>
                  <a:schemeClr val="tx1">
                    <a:lumMod val="75000"/>
                    <a:lumOff val="25000"/>
                  </a:schemeClr>
                </a:solidFill>
              </a:rPr>
              <a:t>my_array</a:t>
            </a:r>
            <a:r>
              <a:rPr lang="en-US" sz="2400" dirty="0">
                <a:solidFill>
                  <a:schemeClr val="tx1">
                    <a:lumMod val="75000"/>
                    <a:lumOff val="25000"/>
                  </a:schemeClr>
                </a:solidFill>
              </a:rPr>
              <a:t>)</a:t>
            </a:r>
            <a:r>
              <a:rPr lang="en-US" sz="2400" dirty="0">
                <a:solidFill>
                  <a:schemeClr val="tx1">
                    <a:lumMod val="75000"/>
                    <a:lumOff val="25000"/>
                  </a:schemeClr>
                </a:solidFill>
                <a:latin typeface="Courier New" panose="02070309020205020404" pitchFamily="49" charset="0"/>
                <a:cs typeface="Courier New" panose="02070309020205020404" pitchFamily="49" charset="0"/>
              </a:rPr>
              <a:t> </a:t>
            </a:r>
          </a:p>
        </p:txBody>
      </p:sp>
      <p:sp>
        <p:nvSpPr>
          <p:cNvPr id="2" name="Footer Placeholder 5">
            <a:extLst>
              <a:ext uri="{FF2B5EF4-FFF2-40B4-BE49-F238E27FC236}">
                <a16:creationId xmlns:a16="http://schemas.microsoft.com/office/drawing/2014/main" id="{8DEE5A1B-E5B8-EBF9-B09B-C93505D97EA3}"/>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207203804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23</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Importing Data</a:t>
            </a:r>
          </a:p>
        </p:txBody>
      </p:sp>
      <p:sp>
        <p:nvSpPr>
          <p:cNvPr id="4" name="Rectangle 3">
            <a:extLst>
              <a:ext uri="{FF2B5EF4-FFF2-40B4-BE49-F238E27FC236}">
                <a16:creationId xmlns:a16="http://schemas.microsoft.com/office/drawing/2014/main" id="{8BBDDB40-87D7-41BF-B967-E3CED4D5565E}"/>
              </a:ext>
            </a:extLst>
          </p:cNvPr>
          <p:cNvSpPr/>
          <p:nvPr/>
        </p:nvSpPr>
        <p:spPr>
          <a:xfrm>
            <a:off x="609600" y="940660"/>
            <a:ext cx="10515600" cy="3056093"/>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Python can import data from a file to be turned into a Python variable</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For our purposes, the data file must be saved in the same folder as your Python script or notebook (see below)</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Importing data uses the Pandas package and imports data to Python as a </a:t>
            </a:r>
            <a:r>
              <a:rPr lang="en-US" sz="2400" dirty="0" err="1">
                <a:solidFill>
                  <a:schemeClr val="tx1">
                    <a:lumMod val="75000"/>
                    <a:lumOff val="25000"/>
                  </a:schemeClr>
                </a:solidFill>
              </a:rPr>
              <a:t>dataframe</a:t>
            </a:r>
            <a:endParaRPr lang="en-US" sz="24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(more on </a:t>
            </a:r>
            <a:r>
              <a:rPr lang="en-US" sz="2400" dirty="0" err="1">
                <a:solidFill>
                  <a:schemeClr val="tx1">
                    <a:lumMod val="75000"/>
                    <a:lumOff val="25000"/>
                  </a:schemeClr>
                </a:solidFill>
              </a:rPr>
              <a:t>dataframes</a:t>
            </a:r>
            <a:r>
              <a:rPr lang="en-US" sz="2400" dirty="0">
                <a:solidFill>
                  <a:schemeClr val="tx1">
                    <a:lumMod val="75000"/>
                    <a:lumOff val="25000"/>
                  </a:schemeClr>
                </a:solidFill>
              </a:rPr>
              <a:t> next time!)</a:t>
            </a:r>
          </a:p>
        </p:txBody>
      </p:sp>
      <p:pic>
        <p:nvPicPr>
          <p:cNvPr id="8" name="Picture 7">
            <a:extLst>
              <a:ext uri="{FF2B5EF4-FFF2-40B4-BE49-F238E27FC236}">
                <a16:creationId xmlns:a16="http://schemas.microsoft.com/office/drawing/2014/main" id="{36FE1117-863B-43A2-A5BA-3C4B79C3869B}"/>
              </a:ext>
            </a:extLst>
          </p:cNvPr>
          <p:cNvPicPr>
            <a:picLocks noChangeAspect="1"/>
          </p:cNvPicPr>
          <p:nvPr/>
        </p:nvPicPr>
        <p:blipFill>
          <a:blip r:embed="rId3"/>
          <a:stretch>
            <a:fillRect/>
          </a:stretch>
        </p:blipFill>
        <p:spPr>
          <a:xfrm>
            <a:off x="5559919" y="3048000"/>
            <a:ext cx="6248400" cy="2079109"/>
          </a:xfrm>
          <a:prstGeom prst="rect">
            <a:avLst/>
          </a:prstGeom>
        </p:spPr>
      </p:pic>
      <p:pic>
        <p:nvPicPr>
          <p:cNvPr id="7" name="Picture 6">
            <a:extLst>
              <a:ext uri="{FF2B5EF4-FFF2-40B4-BE49-F238E27FC236}">
                <a16:creationId xmlns:a16="http://schemas.microsoft.com/office/drawing/2014/main" id="{A526F920-F5B8-4757-96B0-CFB0172B377A}"/>
              </a:ext>
            </a:extLst>
          </p:cNvPr>
          <p:cNvPicPr>
            <a:picLocks noChangeAspect="1"/>
          </p:cNvPicPr>
          <p:nvPr/>
        </p:nvPicPr>
        <p:blipFill>
          <a:blip r:embed="rId4"/>
          <a:stretch>
            <a:fillRect/>
          </a:stretch>
        </p:blipFill>
        <p:spPr>
          <a:xfrm>
            <a:off x="831850" y="4202425"/>
            <a:ext cx="3517900" cy="1466030"/>
          </a:xfrm>
          <a:prstGeom prst="rect">
            <a:avLst/>
          </a:prstGeom>
        </p:spPr>
      </p:pic>
      <p:sp>
        <p:nvSpPr>
          <p:cNvPr id="9" name="TextBox 8">
            <a:extLst>
              <a:ext uri="{FF2B5EF4-FFF2-40B4-BE49-F238E27FC236}">
                <a16:creationId xmlns:a16="http://schemas.microsoft.com/office/drawing/2014/main" id="{76064AA7-E7B2-43B8-95F9-15C9D6C81475}"/>
              </a:ext>
            </a:extLst>
          </p:cNvPr>
          <p:cNvSpPr txBox="1"/>
          <p:nvPr/>
        </p:nvSpPr>
        <p:spPr>
          <a:xfrm>
            <a:off x="3265432" y="5657670"/>
            <a:ext cx="1638583" cy="1200329"/>
          </a:xfrm>
          <a:prstGeom prst="rect">
            <a:avLst/>
          </a:prstGeom>
          <a:noFill/>
        </p:spPr>
        <p:txBody>
          <a:bodyPr wrap="square" rtlCol="0">
            <a:spAutoFit/>
          </a:bodyPr>
          <a:lstStyle/>
          <a:p>
            <a:r>
              <a:rPr lang="en-US" dirty="0"/>
              <a:t>Data and notebook (or script) in the same folder</a:t>
            </a:r>
          </a:p>
        </p:txBody>
      </p:sp>
      <p:cxnSp>
        <p:nvCxnSpPr>
          <p:cNvPr id="10" name="Straight Arrow Connector 9">
            <a:extLst>
              <a:ext uri="{FF2B5EF4-FFF2-40B4-BE49-F238E27FC236}">
                <a16:creationId xmlns:a16="http://schemas.microsoft.com/office/drawing/2014/main" id="{5E5360CF-74F9-4F17-9F4B-FA671480CF3D}"/>
              </a:ext>
            </a:extLst>
          </p:cNvPr>
          <p:cNvCxnSpPr>
            <a:cxnSpLocks/>
          </p:cNvCxnSpPr>
          <p:nvPr/>
        </p:nvCxnSpPr>
        <p:spPr>
          <a:xfrm flipH="1" flipV="1">
            <a:off x="2590800" y="4800600"/>
            <a:ext cx="838200" cy="8170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DDD2255-F2A8-4B8F-9A07-9CF56F1BBB15}"/>
              </a:ext>
            </a:extLst>
          </p:cNvPr>
          <p:cNvCxnSpPr>
            <a:cxnSpLocks/>
          </p:cNvCxnSpPr>
          <p:nvPr/>
        </p:nvCxnSpPr>
        <p:spPr>
          <a:xfrm flipH="1" flipV="1">
            <a:off x="3273919" y="5171843"/>
            <a:ext cx="475756" cy="4458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449266F-775B-6547-97B7-E052BA51FD48}"/>
              </a:ext>
            </a:extLst>
          </p:cNvPr>
          <p:cNvSpPr txBox="1"/>
          <p:nvPr/>
        </p:nvSpPr>
        <p:spPr>
          <a:xfrm>
            <a:off x="6172200" y="5358578"/>
            <a:ext cx="5286103" cy="954107"/>
          </a:xfrm>
          <a:prstGeom prst="rect">
            <a:avLst/>
          </a:prstGeom>
          <a:solidFill>
            <a:schemeClr val="accent6">
              <a:lumMod val="40000"/>
              <a:lumOff val="60000"/>
            </a:schemeClr>
          </a:solidFill>
          <a:ln>
            <a:solidFill>
              <a:schemeClr val="accent6">
                <a:lumMod val="50000"/>
              </a:schemeClr>
            </a:solidFill>
          </a:ln>
        </p:spPr>
        <p:txBody>
          <a:bodyPr wrap="square" rtlCol="0">
            <a:spAutoFit/>
          </a:bodyPr>
          <a:lstStyle/>
          <a:p>
            <a:r>
              <a:rPr lang="en-US" sz="1400" dirty="0"/>
              <a:t>Tip: Good file storage/management is key for this class and coding/research in general! Create an EVE 310 folder on your computer with a separate subfolder for each lab. Store lab handouts, data, and activities here as soon as you download from Canvas. </a:t>
            </a:r>
          </a:p>
        </p:txBody>
      </p:sp>
      <p:sp>
        <p:nvSpPr>
          <p:cNvPr id="2" name="Footer Placeholder 5">
            <a:extLst>
              <a:ext uri="{FF2B5EF4-FFF2-40B4-BE49-F238E27FC236}">
                <a16:creationId xmlns:a16="http://schemas.microsoft.com/office/drawing/2014/main" id="{3AE500A5-37E2-7262-0F17-7ABD468D6D66}"/>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11591952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24</a:t>
            </a:fld>
            <a:endParaRPr lang="en-US"/>
          </a:p>
        </p:txBody>
      </p:sp>
      <p:sp>
        <p:nvSpPr>
          <p:cNvPr id="4" name="Rectangle 3"/>
          <p:cNvSpPr/>
          <p:nvPr/>
        </p:nvSpPr>
        <p:spPr>
          <a:xfrm>
            <a:off x="283550" y="2693755"/>
            <a:ext cx="8348299" cy="3802579"/>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000" dirty="0" err="1">
                <a:solidFill>
                  <a:schemeClr val="tx1">
                    <a:lumMod val="75000"/>
                    <a:lumOff val="25000"/>
                  </a:schemeClr>
                </a:solidFill>
              </a:rPr>
              <a:t>NaN</a:t>
            </a:r>
            <a:r>
              <a:rPr lang="en-US" sz="2000" dirty="0">
                <a:solidFill>
                  <a:schemeClr val="tx1">
                    <a:lumMod val="75000"/>
                    <a:lumOff val="25000"/>
                  </a:schemeClr>
                </a:solidFill>
              </a:rPr>
              <a:t>: very common in real world data</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000" dirty="0" err="1">
                <a:solidFill>
                  <a:schemeClr val="tx1">
                    <a:lumMod val="75000"/>
                    <a:lumOff val="25000"/>
                  </a:schemeClr>
                </a:solidFill>
              </a:rPr>
              <a:t>np.min</a:t>
            </a:r>
            <a:r>
              <a:rPr lang="en-US" sz="2000" dirty="0">
                <a:solidFill>
                  <a:schemeClr val="tx1">
                    <a:lumMod val="75000"/>
                    <a:lumOff val="25000"/>
                  </a:schemeClr>
                </a:solidFill>
              </a:rPr>
              <a:t> and </a:t>
            </a:r>
            <a:r>
              <a:rPr lang="en-US" sz="2000" dirty="0" err="1">
                <a:solidFill>
                  <a:schemeClr val="tx1">
                    <a:lumMod val="75000"/>
                    <a:lumOff val="25000"/>
                  </a:schemeClr>
                </a:solidFill>
              </a:rPr>
              <a:t>np.max</a:t>
            </a:r>
            <a:r>
              <a:rPr lang="en-US" sz="2000" dirty="0">
                <a:solidFill>
                  <a:schemeClr val="tx1">
                    <a:lumMod val="75000"/>
                    <a:lumOff val="25000"/>
                  </a:schemeClr>
                </a:solidFill>
              </a:rPr>
              <a:t> do not work with arrays with </a:t>
            </a:r>
            <a:r>
              <a:rPr lang="en-US" sz="2000" dirty="0" err="1">
                <a:solidFill>
                  <a:schemeClr val="tx1">
                    <a:lumMod val="75000"/>
                    <a:lumOff val="25000"/>
                  </a:schemeClr>
                </a:solidFill>
              </a:rPr>
              <a:t>NaN</a:t>
            </a:r>
            <a:r>
              <a:rPr lang="en-US" sz="2000" dirty="0">
                <a:solidFill>
                  <a:schemeClr val="tx1">
                    <a:lumMod val="75000"/>
                    <a:lumOff val="25000"/>
                  </a:schemeClr>
                </a:solidFill>
              </a:rPr>
              <a:t> values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000" dirty="0">
                <a:solidFill>
                  <a:schemeClr val="tx1">
                    <a:lumMod val="75000"/>
                    <a:lumOff val="25000"/>
                  </a:schemeClr>
                </a:solidFill>
              </a:rPr>
              <a:t>min() and max() do not work if array starts with </a:t>
            </a:r>
            <a:r>
              <a:rPr lang="en-US" sz="2000" dirty="0" err="1">
                <a:solidFill>
                  <a:schemeClr val="tx1">
                    <a:lumMod val="75000"/>
                    <a:lumOff val="25000"/>
                  </a:schemeClr>
                </a:solidFill>
              </a:rPr>
              <a:t>NaN</a:t>
            </a:r>
            <a:r>
              <a:rPr lang="en-US" sz="2000" dirty="0">
                <a:solidFill>
                  <a:schemeClr val="tx1">
                    <a:lumMod val="75000"/>
                    <a:lumOff val="25000"/>
                  </a:schemeClr>
                </a:solidFill>
              </a:rPr>
              <a:t> values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000" b="1" dirty="0">
                <a:solidFill>
                  <a:schemeClr val="tx1">
                    <a:lumMod val="75000"/>
                    <a:lumOff val="25000"/>
                  </a:schemeClr>
                </a:solidFill>
              </a:rPr>
              <a:t>Instead, use:</a:t>
            </a:r>
          </a:p>
          <a:p>
            <a:pPr marL="800100" lvl="1" indent="-342900">
              <a:lnSpc>
                <a:spcPct val="114000"/>
              </a:lnSpc>
              <a:spcBef>
                <a:spcPts val="600"/>
              </a:spcBef>
              <a:spcAft>
                <a:spcPts val="600"/>
              </a:spcAft>
              <a:buClr>
                <a:schemeClr val="tx1"/>
              </a:buClr>
              <a:buSzPct val="100000"/>
              <a:buFont typeface="Arial" panose="020B0604020202020204" pitchFamily="34" charset="0"/>
              <a:buChar char="•"/>
            </a:pPr>
            <a:r>
              <a:rPr lang="en-US" sz="2000" dirty="0" err="1">
                <a:solidFill>
                  <a:schemeClr val="tx1">
                    <a:lumMod val="75000"/>
                    <a:lumOff val="25000"/>
                  </a:schemeClr>
                </a:solidFill>
              </a:rPr>
              <a:t>np.nanmin</a:t>
            </a:r>
            <a:r>
              <a:rPr lang="en-US" sz="2000" dirty="0">
                <a:solidFill>
                  <a:schemeClr val="tx1">
                    <a:lumMod val="75000"/>
                    <a:lumOff val="25000"/>
                  </a:schemeClr>
                </a:solidFill>
              </a:rPr>
              <a:t>() and </a:t>
            </a:r>
            <a:r>
              <a:rPr lang="en-US" sz="2000" dirty="0" err="1">
                <a:solidFill>
                  <a:schemeClr val="tx1">
                    <a:lumMod val="75000"/>
                    <a:lumOff val="25000"/>
                  </a:schemeClr>
                </a:solidFill>
              </a:rPr>
              <a:t>np.nanmax</a:t>
            </a:r>
            <a:r>
              <a:rPr lang="en-US" sz="2000" dirty="0">
                <a:solidFill>
                  <a:schemeClr val="tx1">
                    <a:lumMod val="75000"/>
                    <a:lumOff val="25000"/>
                  </a:schemeClr>
                </a:solidFill>
              </a:rPr>
              <a:t>() are the most robust functions to handle </a:t>
            </a:r>
            <a:r>
              <a:rPr lang="en-US" sz="2000" dirty="0" err="1">
                <a:solidFill>
                  <a:schemeClr val="tx1">
                    <a:lumMod val="75000"/>
                    <a:lumOff val="25000"/>
                  </a:schemeClr>
                </a:solidFill>
              </a:rPr>
              <a:t>NaNs</a:t>
            </a:r>
            <a:endParaRPr lang="en-US" sz="20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000" dirty="0">
                <a:solidFill>
                  <a:schemeClr val="tx1">
                    <a:lumMod val="75000"/>
                    <a:lumOff val="25000"/>
                  </a:schemeClr>
                </a:solidFill>
              </a:rPr>
              <a:t>If we use </a:t>
            </a:r>
            <a:r>
              <a:rPr lang="en-US" sz="2000" dirty="0" err="1">
                <a:solidFill>
                  <a:schemeClr val="tx1">
                    <a:lumMod val="75000"/>
                    <a:lumOff val="25000"/>
                  </a:schemeClr>
                </a:solidFill>
              </a:rPr>
              <a:t>np.min</a:t>
            </a:r>
            <a:r>
              <a:rPr lang="en-US" sz="2000" dirty="0">
                <a:solidFill>
                  <a:schemeClr val="tx1">
                    <a:lumMod val="75000"/>
                    <a:lumOff val="25000"/>
                  </a:schemeClr>
                </a:solidFill>
              </a:rPr>
              <a:t> and </a:t>
            </a:r>
            <a:r>
              <a:rPr lang="en-US" sz="2000" dirty="0" err="1">
                <a:solidFill>
                  <a:schemeClr val="tx1">
                    <a:lumMod val="75000"/>
                    <a:lumOff val="25000"/>
                  </a:schemeClr>
                </a:solidFill>
              </a:rPr>
              <a:t>np.max</a:t>
            </a:r>
            <a:r>
              <a:rPr lang="en-US" sz="2000" dirty="0">
                <a:solidFill>
                  <a:schemeClr val="tx1">
                    <a:lumMod val="75000"/>
                    <a:lumOff val="25000"/>
                  </a:schemeClr>
                </a:solidFill>
              </a:rPr>
              <a:t> with this data, our answers will be incorrect!</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000" dirty="0">
                <a:solidFill>
                  <a:schemeClr val="tx1">
                    <a:lumMod val="75000"/>
                    <a:lumOff val="25000"/>
                  </a:schemeClr>
                </a:solidFill>
              </a:rPr>
              <a:t>Always inspect your data and spot check your work</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Let’s talk about NaN!</a:t>
            </a:r>
          </a:p>
        </p:txBody>
      </p:sp>
      <p:sp>
        <p:nvSpPr>
          <p:cNvPr id="6" name="TextBox 5">
            <a:extLst>
              <a:ext uri="{FF2B5EF4-FFF2-40B4-BE49-F238E27FC236}">
                <a16:creationId xmlns:a16="http://schemas.microsoft.com/office/drawing/2014/main" id="{F7BD78B2-1A21-BF4B-AA7D-27285E6FBA84}"/>
              </a:ext>
            </a:extLst>
          </p:cNvPr>
          <p:cNvSpPr txBox="1"/>
          <p:nvPr/>
        </p:nvSpPr>
        <p:spPr>
          <a:xfrm>
            <a:off x="7483679" y="5960803"/>
            <a:ext cx="4594761" cy="369332"/>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just"/>
            <a:r>
              <a:rPr lang="en-US" dirty="0"/>
              <a:t>More to come on data cleaning this semester!</a:t>
            </a:r>
          </a:p>
        </p:txBody>
      </p:sp>
      <p:pic>
        <p:nvPicPr>
          <p:cNvPr id="9" name="Picture 8" descr="Table&#10;&#10;Description automatically generated with low confidence">
            <a:extLst>
              <a:ext uri="{FF2B5EF4-FFF2-40B4-BE49-F238E27FC236}">
                <a16:creationId xmlns:a16="http://schemas.microsoft.com/office/drawing/2014/main" id="{3995C11E-3982-D241-A6E5-2C45A125C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9756" y="881620"/>
            <a:ext cx="3418684" cy="3918979"/>
          </a:xfrm>
          <a:prstGeom prst="rect">
            <a:avLst/>
          </a:prstGeom>
        </p:spPr>
      </p:pic>
      <p:cxnSp>
        <p:nvCxnSpPr>
          <p:cNvPr id="11" name="Straight Arrow Connector 10">
            <a:extLst>
              <a:ext uri="{FF2B5EF4-FFF2-40B4-BE49-F238E27FC236}">
                <a16:creationId xmlns:a16="http://schemas.microsoft.com/office/drawing/2014/main" id="{A72C1A76-BB96-9542-89B1-AB5F5735D7E3}"/>
              </a:ext>
            </a:extLst>
          </p:cNvPr>
          <p:cNvCxnSpPr>
            <a:cxnSpLocks/>
          </p:cNvCxnSpPr>
          <p:nvPr/>
        </p:nvCxnSpPr>
        <p:spPr>
          <a:xfrm flipV="1">
            <a:off x="8915400" y="3886200"/>
            <a:ext cx="609600" cy="13764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4A02AFF-37FB-E548-AA5C-A035E52419C5}"/>
              </a:ext>
            </a:extLst>
          </p:cNvPr>
          <p:cNvCxnSpPr>
            <a:cxnSpLocks/>
          </p:cNvCxnSpPr>
          <p:nvPr/>
        </p:nvCxnSpPr>
        <p:spPr>
          <a:xfrm>
            <a:off x="8915400" y="4191000"/>
            <a:ext cx="60960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D9489D3-0238-114B-AC32-FEA83F082825}"/>
              </a:ext>
            </a:extLst>
          </p:cNvPr>
          <p:cNvCxnSpPr>
            <a:cxnSpLocks/>
          </p:cNvCxnSpPr>
          <p:nvPr/>
        </p:nvCxnSpPr>
        <p:spPr>
          <a:xfrm>
            <a:off x="8915400" y="4378473"/>
            <a:ext cx="624958" cy="11732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9BA5A2D-2F72-4648-8D93-F42B433B6BE1}"/>
              </a:ext>
            </a:extLst>
          </p:cNvPr>
          <p:cNvSpPr txBox="1"/>
          <p:nvPr/>
        </p:nvSpPr>
        <p:spPr>
          <a:xfrm>
            <a:off x="8051032" y="3884328"/>
            <a:ext cx="990600" cy="738664"/>
          </a:xfrm>
          <a:prstGeom prst="rect">
            <a:avLst/>
          </a:prstGeom>
          <a:noFill/>
        </p:spPr>
        <p:txBody>
          <a:bodyPr wrap="square" rtlCol="0">
            <a:spAutoFit/>
          </a:bodyPr>
          <a:lstStyle/>
          <a:p>
            <a:r>
              <a:rPr lang="en-US" sz="1400" dirty="0"/>
              <a:t>Incorrect</a:t>
            </a:r>
          </a:p>
          <a:p>
            <a:r>
              <a:rPr lang="en-US" sz="1400" dirty="0"/>
              <a:t>Correct</a:t>
            </a:r>
          </a:p>
          <a:p>
            <a:r>
              <a:rPr lang="en-US" sz="1400" dirty="0"/>
              <a:t>Correct</a:t>
            </a:r>
          </a:p>
        </p:txBody>
      </p:sp>
      <p:pic>
        <p:nvPicPr>
          <p:cNvPr id="19" name="Picture 18" descr="Table&#10;&#10;Description automatically generated">
            <a:extLst>
              <a:ext uri="{FF2B5EF4-FFF2-40B4-BE49-F238E27FC236}">
                <a16:creationId xmlns:a16="http://schemas.microsoft.com/office/drawing/2014/main" id="{0881D102-F617-BA48-8E37-E58A8A24A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009" y="950165"/>
            <a:ext cx="7607300" cy="1422400"/>
          </a:xfrm>
          <a:prstGeom prst="rect">
            <a:avLst/>
          </a:prstGeom>
          <a:ln>
            <a:solidFill>
              <a:schemeClr val="tx1"/>
            </a:solidFill>
          </a:ln>
        </p:spPr>
      </p:pic>
      <p:sp>
        <p:nvSpPr>
          <p:cNvPr id="21" name="Rectangle 20">
            <a:extLst>
              <a:ext uri="{FF2B5EF4-FFF2-40B4-BE49-F238E27FC236}">
                <a16:creationId xmlns:a16="http://schemas.microsoft.com/office/drawing/2014/main" id="{7B842417-99BF-3641-AF09-7B0F92DFBD9A}"/>
              </a:ext>
            </a:extLst>
          </p:cNvPr>
          <p:cNvSpPr/>
          <p:nvPr/>
        </p:nvSpPr>
        <p:spPr>
          <a:xfrm>
            <a:off x="4038600" y="1143000"/>
            <a:ext cx="838200" cy="381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5D823EF-56A2-5742-B6BF-9E9C1FD9D4AC}"/>
              </a:ext>
            </a:extLst>
          </p:cNvPr>
          <p:cNvSpPr/>
          <p:nvPr/>
        </p:nvSpPr>
        <p:spPr>
          <a:xfrm>
            <a:off x="1600200" y="1371105"/>
            <a:ext cx="838200" cy="381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5">
            <a:extLst>
              <a:ext uri="{FF2B5EF4-FFF2-40B4-BE49-F238E27FC236}">
                <a16:creationId xmlns:a16="http://schemas.microsoft.com/office/drawing/2014/main" id="{7EB57540-9266-71DF-AB03-BDE152E26BA6}"/>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264319482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25</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Indenting</a:t>
            </a:r>
          </a:p>
        </p:txBody>
      </p:sp>
      <p:sp>
        <p:nvSpPr>
          <p:cNvPr id="6" name="Rectangle 5">
            <a:extLst>
              <a:ext uri="{FF2B5EF4-FFF2-40B4-BE49-F238E27FC236}">
                <a16:creationId xmlns:a16="http://schemas.microsoft.com/office/drawing/2014/main" id="{C3784741-1E67-40A4-A65E-4048BCB11E03}"/>
              </a:ext>
            </a:extLst>
          </p:cNvPr>
          <p:cNvSpPr/>
          <p:nvPr/>
        </p:nvSpPr>
        <p:spPr>
          <a:xfrm>
            <a:off x="609600" y="1090587"/>
            <a:ext cx="10515600" cy="910377"/>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Except for specific cases, Python expects there to be no indents or spaces when beginning a line of code</a:t>
            </a:r>
          </a:p>
        </p:txBody>
      </p:sp>
      <p:pic>
        <p:nvPicPr>
          <p:cNvPr id="10" name="Picture 9">
            <a:extLst>
              <a:ext uri="{FF2B5EF4-FFF2-40B4-BE49-F238E27FC236}">
                <a16:creationId xmlns:a16="http://schemas.microsoft.com/office/drawing/2014/main" id="{86E2392B-07B1-4F10-8D50-4EFF355EB70C}"/>
              </a:ext>
            </a:extLst>
          </p:cNvPr>
          <p:cNvPicPr>
            <a:picLocks noChangeAspect="1"/>
          </p:cNvPicPr>
          <p:nvPr/>
        </p:nvPicPr>
        <p:blipFill rotWithShape="1">
          <a:blip r:embed="rId3"/>
          <a:srcRect l="2307"/>
          <a:stretch/>
        </p:blipFill>
        <p:spPr>
          <a:xfrm>
            <a:off x="3733800" y="2393051"/>
            <a:ext cx="4838700" cy="2751666"/>
          </a:xfrm>
          <a:prstGeom prst="rect">
            <a:avLst/>
          </a:prstGeom>
        </p:spPr>
      </p:pic>
      <p:sp>
        <p:nvSpPr>
          <p:cNvPr id="11" name="TextBox 10">
            <a:extLst>
              <a:ext uri="{FF2B5EF4-FFF2-40B4-BE49-F238E27FC236}">
                <a16:creationId xmlns:a16="http://schemas.microsoft.com/office/drawing/2014/main" id="{2634E5DE-9053-4C22-8050-6FE535C090FC}"/>
              </a:ext>
            </a:extLst>
          </p:cNvPr>
          <p:cNvSpPr txBox="1"/>
          <p:nvPr/>
        </p:nvSpPr>
        <p:spPr>
          <a:xfrm>
            <a:off x="2061350" y="3645827"/>
            <a:ext cx="1638583" cy="646331"/>
          </a:xfrm>
          <a:prstGeom prst="rect">
            <a:avLst/>
          </a:prstGeom>
          <a:noFill/>
        </p:spPr>
        <p:txBody>
          <a:bodyPr wrap="square" rtlCol="0">
            <a:spAutoFit/>
          </a:bodyPr>
          <a:lstStyle/>
          <a:p>
            <a:r>
              <a:rPr lang="en-US" dirty="0"/>
              <a:t>There is a space there</a:t>
            </a:r>
          </a:p>
        </p:txBody>
      </p:sp>
      <p:cxnSp>
        <p:nvCxnSpPr>
          <p:cNvPr id="12" name="Straight Arrow Connector 11">
            <a:extLst>
              <a:ext uri="{FF2B5EF4-FFF2-40B4-BE49-F238E27FC236}">
                <a16:creationId xmlns:a16="http://schemas.microsoft.com/office/drawing/2014/main" id="{4C0A235A-6195-4046-85F3-837AD398C70A}"/>
              </a:ext>
            </a:extLst>
          </p:cNvPr>
          <p:cNvCxnSpPr>
            <a:cxnSpLocks/>
          </p:cNvCxnSpPr>
          <p:nvPr/>
        </p:nvCxnSpPr>
        <p:spPr>
          <a:xfrm flipV="1">
            <a:off x="3352800" y="3429000"/>
            <a:ext cx="812800" cy="3048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5">
            <a:extLst>
              <a:ext uri="{FF2B5EF4-FFF2-40B4-BE49-F238E27FC236}">
                <a16:creationId xmlns:a16="http://schemas.microsoft.com/office/drawing/2014/main" id="{8FE0C1F6-CA10-CE15-F1E2-9096E54DE715}"/>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84799705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26</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Resetting the Workspace</a:t>
            </a:r>
          </a:p>
        </p:txBody>
      </p:sp>
      <p:sp>
        <p:nvSpPr>
          <p:cNvPr id="6" name="Rectangle 5">
            <a:extLst>
              <a:ext uri="{FF2B5EF4-FFF2-40B4-BE49-F238E27FC236}">
                <a16:creationId xmlns:a16="http://schemas.microsoft.com/office/drawing/2014/main" id="{C3784741-1E67-40A4-A65E-4048BCB11E03}"/>
              </a:ext>
            </a:extLst>
          </p:cNvPr>
          <p:cNvSpPr/>
          <p:nvPr/>
        </p:nvSpPr>
        <p:spPr>
          <a:xfrm>
            <a:off x="609600" y="1090587"/>
            <a:ext cx="10515600" cy="1485278"/>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Sometimes you will want to run your code again and clear all existing variables in the workspace. </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In a Jupyter Notebook, click the “        Restart” button on the top</a:t>
            </a:r>
          </a:p>
        </p:txBody>
      </p:sp>
      <p:pic>
        <p:nvPicPr>
          <p:cNvPr id="7" name="Picture 6">
            <a:extLst>
              <a:ext uri="{FF2B5EF4-FFF2-40B4-BE49-F238E27FC236}">
                <a16:creationId xmlns:a16="http://schemas.microsoft.com/office/drawing/2014/main" id="{CAC6879B-6459-42BD-9F4A-0131E78B7076}"/>
              </a:ext>
            </a:extLst>
          </p:cNvPr>
          <p:cNvPicPr>
            <a:picLocks noChangeAspect="1"/>
          </p:cNvPicPr>
          <p:nvPr/>
        </p:nvPicPr>
        <p:blipFill>
          <a:blip r:embed="rId3"/>
          <a:stretch>
            <a:fillRect/>
          </a:stretch>
        </p:blipFill>
        <p:spPr>
          <a:xfrm flipH="1">
            <a:off x="5181600" y="2141756"/>
            <a:ext cx="457200" cy="434109"/>
          </a:xfrm>
          <a:prstGeom prst="rect">
            <a:avLst/>
          </a:prstGeom>
        </p:spPr>
      </p:pic>
      <p:sp>
        <p:nvSpPr>
          <p:cNvPr id="2" name="Footer Placeholder 5">
            <a:extLst>
              <a:ext uri="{FF2B5EF4-FFF2-40B4-BE49-F238E27FC236}">
                <a16:creationId xmlns:a16="http://schemas.microsoft.com/office/drawing/2014/main" id="{5A3AE9A2-92F8-32E2-2264-4786C0A95C5F}"/>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27630439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27</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Look at the NumPy Cheat Sheet on Canvas</a:t>
            </a:r>
          </a:p>
        </p:txBody>
      </p:sp>
      <p:pic>
        <p:nvPicPr>
          <p:cNvPr id="8" name="Picture 7">
            <a:extLst>
              <a:ext uri="{FF2B5EF4-FFF2-40B4-BE49-F238E27FC236}">
                <a16:creationId xmlns:a16="http://schemas.microsoft.com/office/drawing/2014/main" id="{0C41DE35-4AC1-48B7-97C2-D6EA1A13B4BF}"/>
              </a:ext>
            </a:extLst>
          </p:cNvPr>
          <p:cNvPicPr>
            <a:picLocks noChangeAspect="1"/>
          </p:cNvPicPr>
          <p:nvPr/>
        </p:nvPicPr>
        <p:blipFill>
          <a:blip r:embed="rId3"/>
          <a:stretch>
            <a:fillRect/>
          </a:stretch>
        </p:blipFill>
        <p:spPr>
          <a:xfrm>
            <a:off x="2590800" y="860896"/>
            <a:ext cx="7772400" cy="5495457"/>
          </a:xfrm>
          <a:prstGeom prst="rect">
            <a:avLst/>
          </a:prstGeom>
        </p:spPr>
      </p:pic>
      <p:sp>
        <p:nvSpPr>
          <p:cNvPr id="2" name="Footer Placeholder 5">
            <a:extLst>
              <a:ext uri="{FF2B5EF4-FFF2-40B4-BE49-F238E27FC236}">
                <a16:creationId xmlns:a16="http://schemas.microsoft.com/office/drawing/2014/main" id="{101D23BC-8E96-6039-8C86-EC2A5624921E}"/>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34983882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28</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 Class Activity</a:t>
            </a:r>
          </a:p>
        </p:txBody>
      </p:sp>
      <p:sp>
        <p:nvSpPr>
          <p:cNvPr id="6" name="Rectangle 5">
            <a:extLst>
              <a:ext uri="{FF2B5EF4-FFF2-40B4-BE49-F238E27FC236}">
                <a16:creationId xmlns:a16="http://schemas.microsoft.com/office/drawing/2014/main" id="{34A4690D-7070-D546-AD5F-3FC2B7EFB363}"/>
              </a:ext>
            </a:extLst>
          </p:cNvPr>
          <p:cNvSpPr/>
          <p:nvPr/>
        </p:nvSpPr>
        <p:spPr>
          <a:xfrm>
            <a:off x="762000" y="1369782"/>
            <a:ext cx="10668000" cy="411843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800" dirty="0">
                <a:solidFill>
                  <a:schemeClr val="tx1">
                    <a:lumMod val="75000"/>
                    <a:lumOff val="25000"/>
                  </a:schemeClr>
                </a:solidFill>
              </a:rPr>
              <a:t>Work through Lab 2 Student Activity notebook</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800" dirty="0">
                <a:solidFill>
                  <a:schemeClr val="tx1">
                    <a:lumMod val="75000"/>
                    <a:lumOff val="25000"/>
                  </a:schemeClr>
                </a:solidFill>
              </a:rPr>
              <a:t>We will reconvene at 2:45</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800" b="1" dirty="0">
                <a:solidFill>
                  <a:schemeClr val="accent6">
                    <a:lumMod val="75000"/>
                  </a:schemeClr>
                </a:solidFill>
              </a:rPr>
              <a:t>Make sure you can complete the activity before taking the Lab 2 quiz. The quiz will ask you some questions about the activity and code outputs.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800" dirty="0">
                <a:solidFill>
                  <a:schemeClr val="tx1">
                    <a:lumMod val="75000"/>
                    <a:lumOff val="25000"/>
                  </a:schemeClr>
                </a:solidFill>
              </a:rPr>
              <a:t>Self-Assessment (ungraded) on Canvas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800" dirty="0">
                <a:solidFill>
                  <a:schemeClr val="tx1">
                    <a:lumMod val="75000"/>
                    <a:lumOff val="25000"/>
                  </a:schemeClr>
                </a:solidFill>
              </a:rPr>
              <a:t>Lab 2 Quiz due Friday, September 5, 11:59 pm</a:t>
            </a:r>
          </a:p>
        </p:txBody>
      </p:sp>
      <p:sp>
        <p:nvSpPr>
          <p:cNvPr id="2" name="Footer Placeholder 5">
            <a:extLst>
              <a:ext uri="{FF2B5EF4-FFF2-40B4-BE49-F238E27FC236}">
                <a16:creationId xmlns:a16="http://schemas.microsoft.com/office/drawing/2014/main" id="{30025C78-714E-B956-C6CA-2A8A1FA7B1E1}"/>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24223292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29</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Recap</a:t>
            </a:r>
          </a:p>
        </p:txBody>
      </p:sp>
      <p:sp>
        <p:nvSpPr>
          <p:cNvPr id="4" name="Rectangle 3">
            <a:extLst>
              <a:ext uri="{FF2B5EF4-FFF2-40B4-BE49-F238E27FC236}">
                <a16:creationId xmlns:a16="http://schemas.microsoft.com/office/drawing/2014/main" id="{CF4B6E47-635C-4434-9B63-4CA03721A42B}"/>
              </a:ext>
            </a:extLst>
          </p:cNvPr>
          <p:cNvSpPr/>
          <p:nvPr/>
        </p:nvSpPr>
        <p:spPr>
          <a:xfrm>
            <a:off x="990600" y="1371600"/>
            <a:ext cx="8345394" cy="3938771"/>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Comments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Working with Packages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Arithmetic Operators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Variable types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Arrays and Indexing</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Importing Data</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Other Tips: Indenting and Workspace Reset</a:t>
            </a:r>
          </a:p>
        </p:txBody>
      </p:sp>
      <p:sp>
        <p:nvSpPr>
          <p:cNvPr id="2" name="Footer Placeholder 5">
            <a:extLst>
              <a:ext uri="{FF2B5EF4-FFF2-40B4-BE49-F238E27FC236}">
                <a16:creationId xmlns:a16="http://schemas.microsoft.com/office/drawing/2014/main" id="{E45CBB75-181F-8FC6-66F1-0096648CD576}"/>
              </a:ext>
            </a:extLst>
          </p:cNvPr>
          <p:cNvSpPr>
            <a:spLocks noGrp="1"/>
          </p:cNvSpPr>
          <p:nvPr>
            <p:ph type="ftr" sz="quarter" idx="11"/>
          </p:nvPr>
        </p:nvSpPr>
        <p:spPr>
          <a:xfrm>
            <a:off x="4165600" y="6356353"/>
            <a:ext cx="3860800" cy="365125"/>
          </a:xfrm>
        </p:spPr>
        <p:txBody>
          <a:bodyPr/>
          <a:lstStyle/>
          <a:p>
            <a:r>
              <a:rPr lang="en-US" dirty="0"/>
              <a:t>EVE310 Fall 2025 Lab 2</a:t>
            </a:r>
          </a:p>
        </p:txBody>
      </p:sp>
    </p:spTree>
    <p:extLst>
      <p:ext uri="{BB962C8B-B14F-4D97-AF65-F5344CB8AC3E}">
        <p14:creationId xmlns:p14="http://schemas.microsoft.com/office/powerpoint/2010/main" val="1473931749"/>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48597</TotalTime>
  <Words>3790</Words>
  <Application>Microsoft Macintosh PowerPoint</Application>
  <PresentationFormat>Widescreen</PresentationFormat>
  <Paragraphs>401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Courier New</vt:lpstr>
      <vt:lpstr>Office Theme</vt:lpstr>
      <vt:lpstr>EVE310 Lab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 356 Elements of Hydraulic Engineering</dc:title>
  <dc:creator>lina</dc:creator>
  <cp:lastModifiedBy>Gupta, Priyanshu R</cp:lastModifiedBy>
  <cp:revision>955</cp:revision>
  <cp:lastPrinted>2021-09-01T23:07:14Z</cp:lastPrinted>
  <dcterms:created xsi:type="dcterms:W3CDTF">2016-07-06T18:20:35Z</dcterms:created>
  <dcterms:modified xsi:type="dcterms:W3CDTF">2025-09-04T12:02:02Z</dcterms:modified>
</cp:coreProperties>
</file>